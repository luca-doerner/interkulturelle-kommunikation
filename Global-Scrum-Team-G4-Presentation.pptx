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case follows Global Scrum Team G4, a fictional team developing a mobile fitness app. Eight colleagues in Germany, the United States, India and Japan must deliver within eight months, although they have never worked together or met in person. We examine how team composition, communication and leadership affect delivery. Our central argument is that diversity is not the problem by itself. The real risk is an operating model based on implicit agreement, unclear decision rights and live meetings that cannot include everyone. The case covers formation and the first two sprints; later results are forecasts, not observed facts.
Handover: Anton now gives a short overview of the project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combines workout tracking, progress statistics, wearable integration and social functions. These features create dependencies around sensors, privacy and international user expectations. The team has about eleven three-week sprints. The launch date is fixed, so the Product Owner may reduce scope through MoSCoW prioritisation. Quality is not flexible: every increment needs tests, peer review, English documentation and no critical defects. Geography is a structural constraint. The US working day starts five hours after the Japanese day ends, so no normal all-hands slot exists.
Handover: Janek will show why the team's composition both helps and intensifies this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leadership is divided between a German Product Owner and a US Scrum Master. Six full-stack developers add flexibility, while Dev1 and Dev3 hold specialist knowledge in sensors, architecture and privacy. The team also spans 42 years of age, different educational experiences and different DISC preferences. Most profiles lean toward Steadiness or Conscientiousness, which supports reliable work but can delay disagreement. Belbin reveals a similar pattern: the team has several Implementers and Completer Finishers, but no Plant for generating alternatives and no Monitor Evaluator for independent review. Tuckman's model places Sprint 0 in forming and the architecture conflict in early storming. Norming and performing are goals, not achieved stages. These models describe possible team patterns; they do not define any individual.
Handover: Luca now connects those patterns to the team's communication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message captures the central communication problem: "Why was the integration not completed?" Hall distinguishes low-context communication, where meaning is stated explicitly, from high-context communication, where relationships, status and surrounding cues carry more meaning. A low-context sender may intend a precise request for facts. A high-context recipient may infer public blame from the wording, audience and hierarchy. Hofstede adds testable hypotheses. Differences in power distance may affect willingness to challenge a leader, while individualism may affect comfort with public responsibility. Long-term orientation can also frame the recurring choice between a fast MVP and durable architecture. But national scores describe tendencies, not named people. The team must verify preferences directly. In this case, silence is mistakenly treated as consent, so an indirect technical concern remains unresolved until it becomes a blocker.
Handover: Anton will diagnose how that single misunderstanding connects to wider team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GRPI model shows that the failure is systemic. At the goal level, everyone accepts the launch date but disagrees about scope and technical debt. Formal roles exist, but technical accountability is diffuse. Processes lack response deadlines, decision owners and escalation rules. Relationships are fragile because the team has no shared history. This creates pseudo-consensus: direct communicators think a decision is closed, while cautious members still have concerns. A useful task conflict about architecture then becomes a process conflict when nobody owns the decision. The public correction finally turns it into a relationship conflict. Different conflict preferences, from competing to avoiding or accommodating, strengthen this sequence. Time zones add unequal influence because specialists may be absent from live discussions. However, technical complexity, deadline pressure or limited capacity could produce the same delay, so culture is only one possible explanation.
Handover: Janek will translate this diagnosis into concrete operating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solution is an async-first team charter. Jira tracks work, Confluence records decisions, Git supports review and Teams carries updates. Every critical proposal names its options, evidence, owner and deadline. Each site must answer "agree," "concern" or "question"; silence never counts as consent. A RACI matrix separates who performs work from who is accountable for product, process, architecture, privacy and quality. Inconvenient meeting times rotate, while specialist pairing creates backups and transfers knowledge. Because Belbin identified no Monitor Evaluator, a rotating challenge role gives one developer the legitimate task of presenting the strongest counterargument. Feedback targets an artefact rather than a person: state the observed issue, its delivery impact and the requested next step. The Scrum Master mediates unresolved conflict within 48 hours.
Handover: Luca will add the leadership and trust conditions that make these rules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leadership style cannot fit every situation. The Product Owner should be directive when deciding backlog order, release scope and urgent compliance questions. The Scrum Master should use cooperative leadership in planning and retrospectives, deliberately collecting input from every site. Both should use transformational leadership to connect daily tasks with a shared purpose: a stable and responsible global product. This division preserves decision speed without excluding technical evidence. It also supports psychological safety, which Edmondson defines as a shared belief that interpersonal risk-taking is safe. Safety does not lower standards; it allows members to report blockers and challenge proposals without humiliation. Leaders must respond predictably and visibly follow up. Documents support coordination, but video and rotating pair calls remain necessary for conflict repair and relationship building.
Handover: Anton will separate the one observed result from the outcomes we expect after these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must distinguish evidence from expectation. The only observed project result is the delayed Milestone 1 and the corrective decision in the Sprint 2 retrospective. The later outcome is a forecast. By Sprint 5, the team expects clearer ownership, earlier risk reporting and fewer reopened decisions. It will test this through the decision log, risk timestamps, Definition-of-Done results and an anonymous psychological-safety pulse. The longer-term forecast is a reduced but stable release in Sprint 11, possibly with fewer social features to protect wearable quality and privacy. Improved numbers would still not prove that culture caused the original problem; easier backlog items, growing familiarity or scope reduction could also explain them.
Handover: Janek closes with the lessons and our critical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take four lessons from the case. First, intention and effect are different: directness can protect delivery and still damage trust, while politeness can preserve a relationship and still hide a blocker. Meaning must be confirmed. Second, project managers should staff global teams for role balance, specialist backups, language confidence and time-zone coverage, not availability alone. Third, digital tools can document work but cannot create trust; relationship time must be designed deliberately. Fourth, diversity improves performance only when different perspectives enter the decision. This is consistent with research showing that its benefits depend on team processes. Our models are therefore lenses, not labels. Behavioural data must test them against alternative explanations such as product complexity or resource pressure. The key takeaway is simple: explicit collaboration rules turn cultural difference from a delivery risk into a source of better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3EE"/>
        </a:solidFill>
      </p:bgPr>
    </p:bg>
    <p:spTree>
      <p:nvGrpSpPr>
        <p:cNvPr id="1" name=""/>
        <p:cNvGrpSpPr/>
        <p:nvPr/>
      </p:nvGrpSpPr>
      <p:grpSpPr>
        <a:xfrm>
          <a:off x="0" y="0"/>
          <a:ext cx="0" cy="0"/>
          <a:chOff x="0" y="0"/>
          <a:chExt cx="0" cy="0"/>
        </a:xfrm>
      </p:grpSpPr>
      <p:pic>
        <p:nvPicPr>
          <p:cNvPr id="2" name="Image 0" descr="A software team collaborating around a table with laptops">    </p:cNvPr>
          <p:cNvPicPr>
            <a:picLocks noChangeAspect="1"/>
          </p:cNvPicPr>
          <p:nvPr/>
        </p:nvPicPr>
        <p:blipFill>
          <a:blip r:embed="rId1"/>
          <a:srcRect l="0" r="0" t="0" b="0"/>
          <a:stretch/>
        </p:blipFill>
        <p:spPr>
          <a:xfrm>
            <a:off x="6976872" y="0"/>
            <a:ext cx="5212080" cy="6858000"/>
          </a:xfrm>
          <a:prstGeom prst="rect">
            <a:avLst/>
          </a:prstGeom>
        </p:spPr>
      </p:pic>
      <p:sp>
        <p:nvSpPr>
          <p:cNvPr id="3" name="Shape 0"/>
          <p:cNvSpPr/>
          <p:nvPr/>
        </p:nvSpPr>
        <p:spPr>
          <a:xfrm>
            <a:off x="6976872" y="0"/>
            <a:ext cx="5212080" cy="6858000"/>
          </a:xfrm>
          <a:prstGeom prst="rect">
            <a:avLst/>
          </a:prstGeom>
          <a:solidFill>
            <a:srgbClr val="000000">
              <a:alpha val="46000"/>
            </a:srgbClr>
          </a:solidFill>
          <a:ln w="12700">
            <a:solidFill>
              <a:srgbClr val="000000">
                <a:alpha val="0"/>
              </a:srgbClr>
            </a:solidFill>
            <a:prstDash val="solid"/>
          </a:ln>
        </p:spPr>
      </p:sp>
      <p:sp>
        <p:nvSpPr>
          <p:cNvPr id="4" name="Shape 1"/>
          <p:cNvSpPr/>
          <p:nvPr/>
        </p:nvSpPr>
        <p:spPr>
          <a:xfrm>
            <a:off x="0" y="0"/>
            <a:ext cx="128016" cy="6858000"/>
          </a:xfrm>
          <a:prstGeom prst="rect">
            <a:avLst/>
          </a:prstGeom>
          <a:solidFill>
            <a:srgbClr val="426B68"/>
          </a:solidFill>
          <a:ln w="12700">
            <a:solidFill>
              <a:srgbClr val="426B68"/>
            </a:solidFill>
            <a:prstDash val="solid"/>
          </a:ln>
        </p:spPr>
      </p:sp>
      <p:sp>
        <p:nvSpPr>
          <p:cNvPr id="5" name="Text 2"/>
          <p:cNvSpPr txBox="1"/>
          <p:nvPr/>
        </p:nvSpPr>
        <p:spPr>
          <a:xfrm>
            <a:off x="749808" y="566928"/>
            <a:ext cx="5394960" cy="274320"/>
          </a:xfrm>
          <a:prstGeom prst="rect">
            <a:avLst/>
          </a:prstGeom>
          <a:noFill/>
          <a:ln/>
        </p:spPr>
        <p:txBody>
          <a:bodyPr wrap="square" lIns="0" tIns="0" rIns="0" bIns="0" rtlCol="0" anchor="ctr">
            <a:normAutofit/>
          </a:bodyPr>
          <a:lstStyle/>
          <a:p>
            <a:pPr algn="l" indent="0" marL="0">
              <a:buNone/>
            </a:pPr>
            <a:r>
              <a:rPr lang="en-US" sz="1100" b="1" dirty="0">
                <a:solidFill>
                  <a:srgbClr val="426B68"/>
                </a:solidFill>
                <a:latin typeface="Aptos" pitchFamily="34" charset="0"/>
                <a:ea typeface="Aptos" pitchFamily="34" charset="-122"/>
                <a:cs typeface="Aptos" pitchFamily="34" charset="-120"/>
              </a:rPr>
              <a:t>IKHT  ·  BINT24  ·  WORKING GROUP G4</a:t>
            </a:r>
            <a:endParaRPr lang="en-US" sz="1100" dirty="0"/>
          </a:p>
        </p:txBody>
      </p:sp>
      <p:sp>
        <p:nvSpPr>
          <p:cNvPr id="6" name="Text 3"/>
          <p:cNvSpPr txBox="1"/>
          <p:nvPr/>
        </p:nvSpPr>
        <p:spPr>
          <a:xfrm>
            <a:off x="749808" y="1225296"/>
            <a:ext cx="5577840" cy="1325880"/>
          </a:xfrm>
          <a:prstGeom prst="rect">
            <a:avLst/>
          </a:prstGeom>
          <a:noFill/>
          <a:ln/>
        </p:spPr>
        <p:txBody>
          <a:bodyPr wrap="square" lIns="0" tIns="0" rIns="0" bIns="0" rtlCol="0" anchor="ctr">
            <a:normAutofit/>
          </a:bodyPr>
          <a:lstStyle/>
          <a:p>
            <a:pPr algn="l" indent="0" marL="0">
              <a:buNone/>
            </a:pPr>
            <a:r>
              <a:rPr lang="en-US" sz="3400" dirty="0">
                <a:solidFill>
                  <a:srgbClr val="25292B"/>
                </a:solidFill>
                <a:latin typeface="Georgia" pitchFamily="34" charset="0"/>
                <a:ea typeface="Georgia" pitchFamily="34" charset="-122"/>
                <a:cs typeface="Georgia" pitchFamily="34" charset="-120"/>
              </a:rPr>
              <a:t>Global Scrum</a:t>
            </a:r>
            <a:endParaRPr lang="en-US" sz="3400" dirty="0"/>
          </a:p>
          <a:p>
            <a:pPr algn="l" indent="0" marL="0">
              <a:buNone/>
            </a:pPr>
            <a:r>
              <a:rPr lang="en-US" sz="3400" dirty="0">
                <a:solidFill>
                  <a:srgbClr val="25292B"/>
                </a:solidFill>
                <a:latin typeface="Georgia" pitchFamily="34" charset="0"/>
                <a:ea typeface="Georgia" pitchFamily="34" charset="-122"/>
                <a:cs typeface="Georgia" pitchFamily="34" charset="-120"/>
              </a:rPr>
              <a:t>Team G4</a:t>
            </a:r>
            <a:endParaRPr lang="en-US" sz="3400" dirty="0"/>
          </a:p>
        </p:txBody>
      </p:sp>
      <p:sp>
        <p:nvSpPr>
          <p:cNvPr id="7" name="Text 4"/>
          <p:cNvSpPr txBox="1"/>
          <p:nvPr/>
        </p:nvSpPr>
        <p:spPr>
          <a:xfrm>
            <a:off x="768096" y="2688336"/>
            <a:ext cx="5394960" cy="658368"/>
          </a:xfrm>
          <a:prstGeom prst="rect">
            <a:avLst/>
          </a:prstGeom>
          <a:noFill/>
          <a:ln/>
        </p:spPr>
        <p:txBody>
          <a:bodyPr wrap="square" lIns="0" tIns="0" rIns="0" bIns="0" rtlCol="0" anchor="ctr">
            <a:normAutofit/>
          </a:bodyPr>
          <a:lstStyle/>
          <a:p>
            <a:pPr algn="l" indent="0" marL="0">
              <a:buNone/>
            </a:pPr>
            <a:r>
              <a:rPr lang="en-US" sz="2000" dirty="0">
                <a:solidFill>
                  <a:srgbClr val="62696B"/>
                </a:solidFill>
                <a:latin typeface="Aptos" pitchFamily="34" charset="0"/>
                <a:ea typeface="Aptos" pitchFamily="34" charset="-122"/>
                <a:cs typeface="Aptos" pitchFamily="34" charset="-120"/>
              </a:rPr>
              <a:t>Intercultural collaboration under time pressure</a:t>
            </a:r>
            <a:endParaRPr lang="en-US" sz="2000" dirty="0"/>
          </a:p>
        </p:txBody>
      </p:sp>
      <p:sp>
        <p:nvSpPr>
          <p:cNvPr id="8" name="Shape 5"/>
          <p:cNvSpPr/>
          <p:nvPr/>
        </p:nvSpPr>
        <p:spPr>
          <a:xfrm>
            <a:off x="768096" y="3593592"/>
            <a:ext cx="658368" cy="54864"/>
          </a:xfrm>
          <a:prstGeom prst="rect">
            <a:avLst/>
          </a:prstGeom>
          <a:solidFill>
            <a:srgbClr val="9A5C49"/>
          </a:solidFill>
          <a:ln w="12700">
            <a:solidFill>
              <a:srgbClr val="9A5C49"/>
            </a:solidFill>
            <a:prstDash val="solid"/>
          </a:ln>
        </p:spPr>
      </p:sp>
      <p:sp>
        <p:nvSpPr>
          <p:cNvPr id="9" name="Shape 6"/>
          <p:cNvSpPr/>
          <p:nvPr/>
        </p:nvSpPr>
        <p:spPr>
          <a:xfrm>
            <a:off x="786384" y="4094500"/>
            <a:ext cx="82296" cy="82296"/>
          </a:xfrm>
          <a:prstGeom prst="ellipse">
            <a:avLst/>
          </a:prstGeom>
          <a:solidFill>
            <a:srgbClr val="9A5C49"/>
          </a:solidFill>
          <a:ln w="12700">
            <a:solidFill>
              <a:srgbClr val="9A5C49"/>
            </a:solidFill>
            <a:prstDash val="solid"/>
          </a:ln>
        </p:spPr>
      </p:sp>
      <p:sp>
        <p:nvSpPr>
          <p:cNvPr id="10" name="Text 7"/>
          <p:cNvSpPr txBox="1"/>
          <p:nvPr/>
        </p:nvSpPr>
        <p:spPr>
          <a:xfrm>
            <a:off x="996696" y="3877056"/>
            <a:ext cx="5276088" cy="530352"/>
          </a:xfrm>
          <a:prstGeom prst="rect">
            <a:avLst/>
          </a:prstGeom>
          <a:noFill/>
          <a:ln/>
        </p:spPr>
        <p:txBody>
          <a:bodyPr wrap="square" lIns="0" tIns="0" rIns="0" bIns="0" rtlCol="0" anchor="ctr">
            <a:normAutofit/>
          </a:bodyPr>
          <a:lstStyle/>
          <a:p>
            <a:pPr algn="l" indent="0" marL="0">
              <a:buNone/>
            </a:pPr>
            <a:r>
              <a:rPr lang="en-US" sz="1600" dirty="0">
                <a:solidFill>
                  <a:srgbClr val="25292B"/>
                </a:solidFill>
                <a:latin typeface="Aptos" pitchFamily="34" charset="0"/>
                <a:ea typeface="Aptos" pitchFamily="34" charset="-122"/>
                <a:cs typeface="Aptos" pitchFamily="34" charset="-120"/>
              </a:rPr>
              <a:t>Eight people · four countries · one fixed launch date</a:t>
            </a:r>
            <a:endParaRPr lang="en-US" sz="1600" dirty="0"/>
          </a:p>
        </p:txBody>
      </p:sp>
      <p:sp>
        <p:nvSpPr>
          <p:cNvPr id="11" name="Shape 8"/>
          <p:cNvSpPr/>
          <p:nvPr/>
        </p:nvSpPr>
        <p:spPr>
          <a:xfrm>
            <a:off x="786384" y="4624852"/>
            <a:ext cx="82296" cy="82296"/>
          </a:xfrm>
          <a:prstGeom prst="ellipse">
            <a:avLst/>
          </a:prstGeom>
          <a:solidFill>
            <a:srgbClr val="9A5C49"/>
          </a:solidFill>
          <a:ln w="12700">
            <a:solidFill>
              <a:srgbClr val="9A5C49"/>
            </a:solidFill>
            <a:prstDash val="solid"/>
          </a:ln>
        </p:spPr>
      </p:sp>
      <p:sp>
        <p:nvSpPr>
          <p:cNvPr id="12" name="Text 9"/>
          <p:cNvSpPr txBox="1"/>
          <p:nvPr/>
        </p:nvSpPr>
        <p:spPr>
          <a:xfrm>
            <a:off x="996696" y="4407408"/>
            <a:ext cx="5276088" cy="530352"/>
          </a:xfrm>
          <a:prstGeom prst="rect">
            <a:avLst/>
          </a:prstGeom>
          <a:noFill/>
          <a:ln/>
        </p:spPr>
        <p:txBody>
          <a:bodyPr wrap="square" lIns="0" tIns="0" rIns="0" bIns="0" rtlCol="0" anchor="ctr">
            <a:normAutofit/>
          </a:bodyPr>
          <a:lstStyle/>
          <a:p>
            <a:pPr algn="l" indent="0" marL="0">
              <a:buNone/>
            </a:pPr>
            <a:r>
              <a:rPr lang="en-US" sz="1600" dirty="0">
                <a:solidFill>
                  <a:srgbClr val="25292B"/>
                </a:solidFill>
                <a:latin typeface="Aptos" pitchFamily="34" charset="0"/>
                <a:ea typeface="Aptos" pitchFamily="34" charset="-122"/>
                <a:cs typeface="Aptos" pitchFamily="34" charset="-120"/>
              </a:rPr>
              <a:t>Fully remote · no shared team history</a:t>
            </a:r>
            <a:endParaRPr lang="en-US" sz="1600" dirty="0"/>
          </a:p>
        </p:txBody>
      </p:sp>
      <p:sp>
        <p:nvSpPr>
          <p:cNvPr id="13" name="Shape 10"/>
          <p:cNvSpPr/>
          <p:nvPr/>
        </p:nvSpPr>
        <p:spPr>
          <a:xfrm>
            <a:off x="786384" y="5155204"/>
            <a:ext cx="82296" cy="82296"/>
          </a:xfrm>
          <a:prstGeom prst="ellipse">
            <a:avLst/>
          </a:prstGeom>
          <a:solidFill>
            <a:srgbClr val="9A5C49"/>
          </a:solidFill>
          <a:ln w="12700">
            <a:solidFill>
              <a:srgbClr val="9A5C49"/>
            </a:solidFill>
            <a:prstDash val="solid"/>
          </a:ln>
        </p:spPr>
      </p:sp>
      <p:sp>
        <p:nvSpPr>
          <p:cNvPr id="14" name="Text 11"/>
          <p:cNvSpPr txBox="1"/>
          <p:nvPr/>
        </p:nvSpPr>
        <p:spPr>
          <a:xfrm>
            <a:off x="996696" y="4937760"/>
            <a:ext cx="5276088" cy="530352"/>
          </a:xfrm>
          <a:prstGeom prst="rect">
            <a:avLst/>
          </a:prstGeom>
          <a:noFill/>
          <a:ln/>
        </p:spPr>
        <p:txBody>
          <a:bodyPr wrap="square" lIns="0" tIns="0" rIns="0" bIns="0" rtlCol="0" anchor="ctr">
            <a:normAutofit/>
          </a:bodyPr>
          <a:lstStyle/>
          <a:p>
            <a:pPr algn="l" indent="0" marL="0">
              <a:buNone/>
            </a:pPr>
            <a:r>
              <a:rPr lang="en-US" sz="1600" dirty="0">
                <a:solidFill>
                  <a:srgbClr val="25292B"/>
                </a:solidFill>
                <a:latin typeface="Aptos" pitchFamily="34" charset="0"/>
                <a:ea typeface="Aptos" pitchFamily="34" charset="-122"/>
                <a:cs typeface="Aptos" pitchFamily="34" charset="-120"/>
              </a:rPr>
              <a:t>Main risk: implicit coordination, not diversity itself</a:t>
            </a:r>
            <a:endParaRPr lang="en-US" sz="1600" dirty="0"/>
          </a:p>
        </p:txBody>
      </p:sp>
      <p:sp>
        <p:nvSpPr>
          <p:cNvPr id="15" name="Text 12"/>
          <p:cNvSpPr txBox="1"/>
          <p:nvPr/>
        </p:nvSpPr>
        <p:spPr>
          <a:xfrm>
            <a:off x="768096" y="6163056"/>
            <a:ext cx="5852160" cy="237744"/>
          </a:xfrm>
          <a:prstGeom prst="rect">
            <a:avLst/>
          </a:prstGeom>
          <a:noFill/>
          <a:ln/>
        </p:spPr>
        <p:txBody>
          <a:bodyPr wrap="square" lIns="0" tIns="0" rIns="0" bIns="0" rtlCol="0" anchor="ctr">
            <a:normAutofit/>
          </a:bodyPr>
          <a:lstStyle/>
          <a:p>
            <a:pPr algn="l" indent="0" marL="0">
              <a:buNone/>
            </a:pPr>
            <a:r>
              <a:rPr lang="en-US" sz="1150" dirty="0">
                <a:solidFill>
                  <a:srgbClr val="62696B"/>
                </a:solidFill>
                <a:latin typeface="Aptos" pitchFamily="34" charset="0"/>
                <a:ea typeface="Aptos" pitchFamily="34" charset="-122"/>
                <a:cs typeface="Aptos" pitchFamily="34" charset="-120"/>
              </a:rPr>
              <a:t>Luca Doerner · Anton Reinicke · Janek Thor Becker</a:t>
            </a:r>
            <a:endParaRPr lang="en-US" sz="1150" dirty="0"/>
          </a:p>
        </p:txBody>
      </p:sp>
      <p:sp>
        <p:nvSpPr>
          <p:cNvPr id="16" name="Text 13"/>
          <p:cNvSpPr txBox="1"/>
          <p:nvPr/>
        </p:nvSpPr>
        <p:spPr>
          <a:xfrm>
            <a:off x="9710928" y="6199632"/>
            <a:ext cx="1828800" cy="201168"/>
          </a:xfrm>
          <a:prstGeom prst="rect">
            <a:avLst/>
          </a:prstGeom>
          <a:noFill/>
          <a:ln/>
        </p:spPr>
        <p:txBody>
          <a:bodyPr wrap="square" lIns="0" tIns="0" rIns="0" bIns="0" rtlCol="0" anchor="ctr">
            <a:normAutofit/>
          </a:bodyPr>
          <a:lstStyle/>
          <a:p>
            <a:pPr algn="r" indent="0" marL="0">
              <a:buNone/>
            </a:pPr>
            <a:r>
              <a:rPr lang="en-US" sz="1000" b="1" dirty="0">
                <a:solidFill>
                  <a:srgbClr val="FFFFFF"/>
                </a:solidFill>
                <a:latin typeface="Aptos" pitchFamily="34" charset="0"/>
                <a:ea typeface="Aptos" pitchFamily="34" charset="-122"/>
                <a:cs typeface="Aptos" pitchFamily="34" charset="-120"/>
              </a:rPr>
              <a:t>LUCA  ·  0:40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94360" y="320040"/>
            <a:ext cx="411480" cy="22860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02</a:t>
            </a:r>
            <a:endParaRPr lang="en-US" sz="1000" dirty="0"/>
          </a:p>
        </p:txBody>
      </p:sp>
      <p:sp>
        <p:nvSpPr>
          <p:cNvPr id="3" name="Text 1"/>
          <p:cNvSpPr txBox="1"/>
          <p:nvPr/>
        </p:nvSpPr>
        <p:spPr>
          <a:xfrm>
            <a:off x="594360" y="621792"/>
            <a:ext cx="9052560" cy="530352"/>
          </a:xfrm>
          <a:prstGeom prst="rect">
            <a:avLst/>
          </a:prstGeom>
          <a:noFill/>
          <a:ln/>
        </p:spPr>
        <p:txBody>
          <a:bodyPr wrap="square" lIns="0" tIns="0" rIns="0" bIns="0" rtlCol="0" anchor="ctr">
            <a:normAutofit/>
          </a:bodyPr>
          <a:lstStyle/>
          <a:p>
            <a:pPr algn="l" indent="0" marL="0">
              <a:buNone/>
            </a:pPr>
            <a:r>
              <a:rPr lang="en-US" sz="2500" dirty="0">
                <a:solidFill>
                  <a:srgbClr val="25292B"/>
                </a:solidFill>
                <a:latin typeface="Georgia" pitchFamily="34" charset="0"/>
                <a:ea typeface="Georgia" pitchFamily="34" charset="-122"/>
                <a:cs typeface="Georgia" pitchFamily="34" charset="-120"/>
              </a:rPr>
              <a:t>Use Case Overview</a:t>
            </a:r>
            <a:endParaRPr lang="en-US" sz="2500" dirty="0"/>
          </a:p>
        </p:txBody>
      </p:sp>
      <p:sp>
        <p:nvSpPr>
          <p:cNvPr id="4" name="Text 2"/>
          <p:cNvSpPr txBox="1"/>
          <p:nvPr/>
        </p:nvSpPr>
        <p:spPr>
          <a:xfrm>
            <a:off x="9601200" y="384048"/>
            <a:ext cx="1965960" cy="228600"/>
          </a:xfrm>
          <a:prstGeom prst="rect">
            <a:avLst/>
          </a:prstGeom>
          <a:noFill/>
          <a:ln/>
        </p:spPr>
        <p:txBody>
          <a:bodyPr wrap="square" lIns="0" tIns="0" rIns="0" bIns="0" rtlCol="0" anchor="ctr">
            <a:normAutofit/>
          </a:bodyPr>
          <a:lstStyle/>
          <a:p>
            <a:pPr algn="r" indent="0" marL="0">
              <a:buNone/>
            </a:pPr>
            <a:r>
              <a:rPr lang="en-US" sz="1000" b="1" dirty="0">
                <a:solidFill>
                  <a:srgbClr val="62696B"/>
                </a:solidFill>
                <a:latin typeface="Aptos" pitchFamily="34" charset="0"/>
                <a:ea typeface="Aptos" pitchFamily="34" charset="-122"/>
                <a:cs typeface="Aptos" pitchFamily="34" charset="-120"/>
              </a:rPr>
              <a:t>ANTON  ·  0:50</a:t>
            </a:r>
            <a:endParaRPr lang="en-US" sz="1000" dirty="0"/>
          </a:p>
        </p:txBody>
      </p:sp>
      <p:sp>
        <p:nvSpPr>
          <p:cNvPr id="5" name="Shape 3"/>
          <p:cNvSpPr/>
          <p:nvPr/>
        </p:nvSpPr>
        <p:spPr>
          <a:xfrm>
            <a:off x="594360" y="1243584"/>
            <a:ext cx="658368" cy="50292"/>
          </a:xfrm>
          <a:prstGeom prst="rect">
            <a:avLst/>
          </a:prstGeom>
          <a:solidFill>
            <a:srgbClr val="426B68"/>
          </a:solidFill>
          <a:ln w="12700">
            <a:solidFill>
              <a:srgbClr val="426B68"/>
            </a:solidFill>
            <a:prstDash val="solid"/>
          </a:ln>
        </p:spPr>
      </p:sp>
      <p:sp>
        <p:nvSpPr>
          <p:cNvPr id="6" name="Shape 4"/>
          <p:cNvSpPr/>
          <p:nvPr/>
        </p:nvSpPr>
        <p:spPr>
          <a:xfrm>
            <a:off x="594360" y="6510528"/>
            <a:ext cx="11000232" cy="0"/>
          </a:xfrm>
          <a:prstGeom prst="line">
            <a:avLst/>
          </a:prstGeom>
          <a:noFill/>
          <a:ln w="10160">
            <a:solidFill>
              <a:srgbClr val="D8D6CF"/>
            </a:solidFill>
            <a:prstDash val="solid"/>
          </a:ln>
        </p:spPr>
      </p:sp>
      <p:sp>
        <p:nvSpPr>
          <p:cNvPr id="7" name="Text 5"/>
          <p:cNvSpPr txBox="1"/>
          <p:nvPr/>
        </p:nvSpPr>
        <p:spPr>
          <a:xfrm>
            <a:off x="594360" y="6574536"/>
            <a:ext cx="9784080" cy="164592"/>
          </a:xfrm>
          <a:prstGeom prst="rect">
            <a:avLst/>
          </a:prstGeom>
          <a:noFill/>
          <a:ln/>
        </p:spPr>
        <p:txBody>
          <a:bodyPr wrap="square" lIns="0" tIns="0" rIns="0" bIns="0" rtlCol="0" anchor="ctr">
            <a:normAutofit/>
          </a:bodyPr>
          <a:lstStyle/>
          <a:p>
            <a:pPr algn="l" indent="0" marL="0">
              <a:buNone/>
            </a:pPr>
            <a:r>
              <a:rPr lang="en-US" sz="850" dirty="0">
                <a:solidFill>
                  <a:srgbClr val="62696B"/>
                </a:solidFill>
                <a:latin typeface="Aptos" pitchFamily="34" charset="0"/>
                <a:ea typeface="Aptos" pitchFamily="34" charset="-122"/>
                <a:cs typeface="Aptos" pitchFamily="34" charset="-120"/>
              </a:rPr>
              <a:t>Source: G4 case data and project assumptions</a:t>
            </a:r>
            <a:endParaRPr lang="en-US" sz="850" dirty="0"/>
          </a:p>
        </p:txBody>
      </p:sp>
      <p:sp>
        <p:nvSpPr>
          <p:cNvPr id="8" name="Text 6"/>
          <p:cNvSpPr txBox="1"/>
          <p:nvPr/>
        </p:nvSpPr>
        <p:spPr>
          <a:xfrm>
            <a:off x="11201400" y="6547104"/>
            <a:ext cx="365760" cy="164592"/>
          </a:xfrm>
          <a:prstGeom prst="rect">
            <a:avLst/>
          </a:prstGeom>
          <a:noFill/>
          <a:ln/>
        </p:spPr>
        <p:txBody>
          <a:bodyPr wrap="square" lIns="0" tIns="0" rIns="0" bIns="0" rtlCol="0" anchor="ctr">
            <a:normAutofit/>
          </a:bodyPr>
          <a:lstStyle/>
          <a:p>
            <a:pPr algn="r" indent="0" marL="0">
              <a:buNone/>
            </a:pPr>
            <a:r>
              <a:rPr lang="en-US" sz="900" dirty="0">
                <a:solidFill>
                  <a:srgbClr val="62696B"/>
                </a:solidFill>
                <a:latin typeface="Aptos" pitchFamily="34" charset="0"/>
                <a:ea typeface="Aptos" pitchFamily="34" charset="-122"/>
                <a:cs typeface="Aptos" pitchFamily="34" charset="-120"/>
              </a:rPr>
              <a:t>2</a:t>
            </a:r>
            <a:endParaRPr lang="en-US" sz="900" dirty="0"/>
          </a:p>
        </p:txBody>
      </p:sp>
      <p:sp>
        <p:nvSpPr>
          <p:cNvPr id="9" name="Text 7"/>
          <p:cNvSpPr txBox="1"/>
          <p:nvPr/>
        </p:nvSpPr>
        <p:spPr>
          <a:xfrm>
            <a:off x="658368" y="1600200"/>
            <a:ext cx="914400" cy="18288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PRODUCT</a:t>
            </a:r>
            <a:endParaRPr lang="en-US" sz="1000" dirty="0"/>
          </a:p>
        </p:txBody>
      </p:sp>
      <p:sp>
        <p:nvSpPr>
          <p:cNvPr id="10" name="Text 8"/>
          <p:cNvSpPr txBox="1"/>
          <p:nvPr/>
        </p:nvSpPr>
        <p:spPr>
          <a:xfrm>
            <a:off x="658368" y="1847088"/>
            <a:ext cx="6126480" cy="411480"/>
          </a:xfrm>
          <a:prstGeom prst="rect">
            <a:avLst/>
          </a:prstGeom>
          <a:noFill/>
          <a:ln/>
        </p:spPr>
        <p:txBody>
          <a:bodyPr wrap="square" lIns="0" tIns="0" rIns="0" bIns="0" rtlCol="0" anchor="ctr">
            <a:normAutofit/>
          </a:bodyPr>
          <a:lstStyle/>
          <a:p>
            <a:pPr algn="l" indent="0" marL="0">
              <a:buNone/>
            </a:pPr>
            <a:r>
              <a:rPr lang="en-US" sz="1900" b="1" dirty="0">
                <a:solidFill>
                  <a:srgbClr val="25292B"/>
                </a:solidFill>
                <a:latin typeface="Aptos" pitchFamily="34" charset="0"/>
                <a:ea typeface="Aptos" pitchFamily="34" charset="-122"/>
                <a:cs typeface="Aptos" pitchFamily="34" charset="-120"/>
              </a:rPr>
              <a:t>A mobile fitness app built in three connected blocks</a:t>
            </a:r>
            <a:endParaRPr lang="en-US" sz="1900" dirty="0"/>
          </a:p>
        </p:txBody>
      </p:sp>
      <p:sp>
        <p:nvSpPr>
          <p:cNvPr id="11" name="Shape 9"/>
          <p:cNvSpPr/>
          <p:nvPr/>
        </p:nvSpPr>
        <p:spPr>
          <a:xfrm>
            <a:off x="658368" y="2423160"/>
            <a:ext cx="2029968" cy="1234440"/>
          </a:xfrm>
          <a:prstGeom prst="roundRect">
            <a:avLst/>
          </a:prstGeom>
          <a:solidFill>
            <a:srgbClr val="DDE8E5"/>
          </a:solidFill>
          <a:ln w="12700">
            <a:solidFill>
              <a:srgbClr val="DDE8E5"/>
            </a:solidFill>
            <a:prstDash val="solid"/>
          </a:ln>
        </p:spPr>
      </p:sp>
      <p:sp>
        <p:nvSpPr>
          <p:cNvPr id="12" name="Text 10"/>
          <p:cNvSpPr txBox="1"/>
          <p:nvPr/>
        </p:nvSpPr>
        <p:spPr>
          <a:xfrm>
            <a:off x="804672" y="2569464"/>
            <a:ext cx="347472" cy="228600"/>
          </a:xfrm>
          <a:prstGeom prst="rect">
            <a:avLst/>
          </a:prstGeom>
          <a:noFill/>
          <a:ln/>
        </p:spPr>
        <p:txBody>
          <a:bodyPr wrap="square" lIns="0" tIns="0" rIns="0" bIns="0" rtlCol="0" anchor="ctr">
            <a:normAutofit/>
          </a:bodyPr>
          <a:lstStyle/>
          <a:p>
            <a:pPr algn="l" indent="0" marL="0">
              <a:buNone/>
            </a:pPr>
            <a:r>
              <a:rPr lang="en-US" sz="1000" b="1" dirty="0">
                <a:solidFill>
                  <a:srgbClr val="294947"/>
                </a:solidFill>
                <a:latin typeface="Aptos" pitchFamily="34" charset="0"/>
                <a:ea typeface="Aptos" pitchFamily="34" charset="-122"/>
                <a:cs typeface="Aptos" pitchFamily="34" charset="-120"/>
              </a:rPr>
              <a:t>01</a:t>
            </a:r>
            <a:endParaRPr lang="en-US" sz="1000" dirty="0"/>
          </a:p>
        </p:txBody>
      </p:sp>
      <p:sp>
        <p:nvSpPr>
          <p:cNvPr id="13" name="Text 11"/>
          <p:cNvSpPr txBox="1"/>
          <p:nvPr/>
        </p:nvSpPr>
        <p:spPr>
          <a:xfrm>
            <a:off x="804672" y="2816352"/>
            <a:ext cx="1664208" cy="274320"/>
          </a:xfrm>
          <a:prstGeom prst="rect">
            <a:avLst/>
          </a:prstGeom>
          <a:noFill/>
          <a:ln/>
        </p:spPr>
        <p:txBody>
          <a:bodyPr wrap="square" lIns="0" tIns="0" rIns="0" bIns="0" rtlCol="0" anchor="ctr">
            <a:normAutofit/>
          </a:bodyPr>
          <a:lstStyle/>
          <a:p>
            <a:pPr algn="l" indent="0" marL="0">
              <a:buNone/>
            </a:pPr>
            <a:r>
              <a:rPr lang="en-US" sz="1700" b="1" dirty="0">
                <a:solidFill>
                  <a:srgbClr val="25292B"/>
                </a:solidFill>
                <a:latin typeface="Aptos" pitchFamily="34" charset="0"/>
                <a:ea typeface="Aptos" pitchFamily="34" charset="-122"/>
                <a:cs typeface="Aptos" pitchFamily="34" charset="-120"/>
              </a:rPr>
              <a:t>Tracking</a:t>
            </a:r>
            <a:endParaRPr lang="en-US" sz="1700" dirty="0"/>
          </a:p>
        </p:txBody>
      </p:sp>
      <p:sp>
        <p:nvSpPr>
          <p:cNvPr id="14" name="Text 12"/>
          <p:cNvSpPr txBox="1"/>
          <p:nvPr/>
        </p:nvSpPr>
        <p:spPr>
          <a:xfrm>
            <a:off x="804672" y="3182112"/>
            <a:ext cx="1664208" cy="201168"/>
          </a:xfrm>
          <a:prstGeom prst="rect">
            <a:avLst/>
          </a:prstGeom>
          <a:noFill/>
          <a:ln/>
        </p:spPr>
        <p:txBody>
          <a:bodyPr wrap="square" lIns="0" tIns="0" rIns="0" bIns="0" rtlCol="0" anchor="ctr">
            <a:normAutofit/>
          </a:bodyPr>
          <a:lstStyle/>
          <a:p>
            <a:pPr algn="l" indent="0" marL="0">
              <a:buNone/>
            </a:pPr>
            <a:r>
              <a:rPr lang="en-US" sz="1100" dirty="0">
                <a:solidFill>
                  <a:srgbClr val="62696B"/>
                </a:solidFill>
                <a:latin typeface="Aptos" pitchFamily="34" charset="0"/>
                <a:ea typeface="Aptos" pitchFamily="34" charset="-122"/>
                <a:cs typeface="Aptos" pitchFamily="34" charset="-120"/>
              </a:rPr>
              <a:t>workouts + progress</a:t>
            </a:r>
            <a:endParaRPr lang="en-US" sz="1100" dirty="0"/>
          </a:p>
        </p:txBody>
      </p:sp>
      <p:sp>
        <p:nvSpPr>
          <p:cNvPr id="15" name="Shape 13"/>
          <p:cNvSpPr/>
          <p:nvPr/>
        </p:nvSpPr>
        <p:spPr>
          <a:xfrm>
            <a:off x="2944368" y="2423160"/>
            <a:ext cx="2029968" cy="1234440"/>
          </a:xfrm>
          <a:prstGeom prst="roundRect">
            <a:avLst/>
          </a:prstGeom>
          <a:solidFill>
            <a:srgbClr val="DFE7EA"/>
          </a:solidFill>
          <a:ln w="12700">
            <a:solidFill>
              <a:srgbClr val="DFE7EA"/>
            </a:solidFill>
            <a:prstDash val="solid"/>
          </a:ln>
        </p:spPr>
      </p:sp>
      <p:sp>
        <p:nvSpPr>
          <p:cNvPr id="16" name="Text 14"/>
          <p:cNvSpPr txBox="1"/>
          <p:nvPr/>
        </p:nvSpPr>
        <p:spPr>
          <a:xfrm>
            <a:off x="3090672" y="2569464"/>
            <a:ext cx="347472" cy="228600"/>
          </a:xfrm>
          <a:prstGeom prst="rect">
            <a:avLst/>
          </a:prstGeom>
          <a:noFill/>
          <a:ln/>
        </p:spPr>
        <p:txBody>
          <a:bodyPr wrap="square" lIns="0" tIns="0" rIns="0" bIns="0" rtlCol="0" anchor="ctr">
            <a:normAutofit/>
          </a:bodyPr>
          <a:lstStyle/>
          <a:p>
            <a:pPr algn="l" indent="0" marL="0">
              <a:buNone/>
            </a:pPr>
            <a:r>
              <a:rPr lang="en-US" sz="1000" b="1" dirty="0">
                <a:solidFill>
                  <a:srgbClr val="5D7480"/>
                </a:solidFill>
                <a:latin typeface="Aptos" pitchFamily="34" charset="0"/>
                <a:ea typeface="Aptos" pitchFamily="34" charset="-122"/>
                <a:cs typeface="Aptos" pitchFamily="34" charset="-120"/>
              </a:rPr>
              <a:t>02</a:t>
            </a:r>
            <a:endParaRPr lang="en-US" sz="1000" dirty="0"/>
          </a:p>
        </p:txBody>
      </p:sp>
      <p:sp>
        <p:nvSpPr>
          <p:cNvPr id="17" name="Text 15"/>
          <p:cNvSpPr txBox="1"/>
          <p:nvPr/>
        </p:nvSpPr>
        <p:spPr>
          <a:xfrm>
            <a:off x="3090672" y="2816352"/>
            <a:ext cx="1664208" cy="274320"/>
          </a:xfrm>
          <a:prstGeom prst="rect">
            <a:avLst/>
          </a:prstGeom>
          <a:noFill/>
          <a:ln/>
        </p:spPr>
        <p:txBody>
          <a:bodyPr wrap="square" lIns="0" tIns="0" rIns="0" bIns="0" rtlCol="0" anchor="ctr">
            <a:normAutofit/>
          </a:bodyPr>
          <a:lstStyle/>
          <a:p>
            <a:pPr algn="l" indent="0" marL="0">
              <a:buNone/>
            </a:pPr>
            <a:r>
              <a:rPr lang="en-US" sz="1700" b="1" dirty="0">
                <a:solidFill>
                  <a:srgbClr val="25292B"/>
                </a:solidFill>
                <a:latin typeface="Aptos" pitchFamily="34" charset="0"/>
                <a:ea typeface="Aptos" pitchFamily="34" charset="-122"/>
                <a:cs typeface="Aptos" pitchFamily="34" charset="-120"/>
              </a:rPr>
              <a:t>Wearables</a:t>
            </a:r>
            <a:endParaRPr lang="en-US" sz="1700" dirty="0"/>
          </a:p>
        </p:txBody>
      </p:sp>
      <p:sp>
        <p:nvSpPr>
          <p:cNvPr id="18" name="Text 16"/>
          <p:cNvSpPr txBox="1"/>
          <p:nvPr/>
        </p:nvSpPr>
        <p:spPr>
          <a:xfrm>
            <a:off x="3090672" y="3182112"/>
            <a:ext cx="1664208" cy="201168"/>
          </a:xfrm>
          <a:prstGeom prst="rect">
            <a:avLst/>
          </a:prstGeom>
          <a:noFill/>
          <a:ln/>
        </p:spPr>
        <p:txBody>
          <a:bodyPr wrap="square" lIns="0" tIns="0" rIns="0" bIns="0" rtlCol="0" anchor="ctr">
            <a:normAutofit/>
          </a:bodyPr>
          <a:lstStyle/>
          <a:p>
            <a:pPr algn="l" indent="0" marL="0">
              <a:buNone/>
            </a:pPr>
            <a:r>
              <a:rPr lang="en-US" sz="1100" dirty="0">
                <a:solidFill>
                  <a:srgbClr val="62696B"/>
                </a:solidFill>
                <a:latin typeface="Aptos" pitchFamily="34" charset="0"/>
                <a:ea typeface="Aptos" pitchFamily="34" charset="-122"/>
                <a:cs typeface="Aptos" pitchFamily="34" charset="-120"/>
              </a:rPr>
              <a:t>sensors + health data</a:t>
            </a:r>
            <a:endParaRPr lang="en-US" sz="1100" dirty="0"/>
          </a:p>
        </p:txBody>
      </p:sp>
      <p:sp>
        <p:nvSpPr>
          <p:cNvPr id="19" name="Shape 17"/>
          <p:cNvSpPr/>
          <p:nvPr/>
        </p:nvSpPr>
        <p:spPr>
          <a:xfrm>
            <a:off x="5230368" y="2423160"/>
            <a:ext cx="2029968" cy="1234440"/>
          </a:xfrm>
          <a:prstGeom prst="roundRect">
            <a:avLst/>
          </a:prstGeom>
          <a:solidFill>
            <a:srgbClr val="ECE4D5"/>
          </a:solidFill>
          <a:ln w="12700">
            <a:solidFill>
              <a:srgbClr val="ECE4D5"/>
            </a:solidFill>
            <a:prstDash val="solid"/>
          </a:ln>
        </p:spPr>
      </p:sp>
      <p:sp>
        <p:nvSpPr>
          <p:cNvPr id="20" name="Text 18"/>
          <p:cNvSpPr txBox="1"/>
          <p:nvPr/>
        </p:nvSpPr>
        <p:spPr>
          <a:xfrm>
            <a:off x="5376672" y="2569464"/>
            <a:ext cx="347472" cy="228600"/>
          </a:xfrm>
          <a:prstGeom prst="rect">
            <a:avLst/>
          </a:prstGeom>
          <a:noFill/>
          <a:ln/>
        </p:spPr>
        <p:txBody>
          <a:bodyPr wrap="square" lIns="0" tIns="0" rIns="0" bIns="0" rtlCol="0" anchor="ctr">
            <a:normAutofit/>
          </a:bodyPr>
          <a:lstStyle/>
          <a:p>
            <a:pPr algn="l" indent="0" marL="0">
              <a:buNone/>
            </a:pPr>
            <a:r>
              <a:rPr lang="en-US" sz="1000" b="1" dirty="0">
                <a:solidFill>
                  <a:srgbClr val="A3824F"/>
                </a:solidFill>
                <a:latin typeface="Aptos" pitchFamily="34" charset="0"/>
                <a:ea typeface="Aptos" pitchFamily="34" charset="-122"/>
                <a:cs typeface="Aptos" pitchFamily="34" charset="-120"/>
              </a:rPr>
              <a:t>03</a:t>
            </a:r>
            <a:endParaRPr lang="en-US" sz="1000" dirty="0"/>
          </a:p>
        </p:txBody>
      </p:sp>
      <p:sp>
        <p:nvSpPr>
          <p:cNvPr id="21" name="Text 19"/>
          <p:cNvSpPr txBox="1"/>
          <p:nvPr/>
        </p:nvSpPr>
        <p:spPr>
          <a:xfrm>
            <a:off x="5376672" y="2816352"/>
            <a:ext cx="1664208" cy="274320"/>
          </a:xfrm>
          <a:prstGeom prst="rect">
            <a:avLst/>
          </a:prstGeom>
          <a:noFill/>
          <a:ln/>
        </p:spPr>
        <p:txBody>
          <a:bodyPr wrap="square" lIns="0" tIns="0" rIns="0" bIns="0" rtlCol="0" anchor="ctr">
            <a:normAutofit/>
          </a:bodyPr>
          <a:lstStyle/>
          <a:p>
            <a:pPr algn="l" indent="0" marL="0">
              <a:buNone/>
            </a:pPr>
            <a:r>
              <a:rPr lang="en-US" sz="1700" b="1" dirty="0">
                <a:solidFill>
                  <a:srgbClr val="25292B"/>
                </a:solidFill>
                <a:latin typeface="Aptos" pitchFamily="34" charset="0"/>
                <a:ea typeface="Aptos" pitchFamily="34" charset="-122"/>
                <a:cs typeface="Aptos" pitchFamily="34" charset="-120"/>
              </a:rPr>
              <a:t>Social</a:t>
            </a:r>
            <a:endParaRPr lang="en-US" sz="1700" dirty="0"/>
          </a:p>
        </p:txBody>
      </p:sp>
      <p:sp>
        <p:nvSpPr>
          <p:cNvPr id="22" name="Text 20"/>
          <p:cNvSpPr txBox="1"/>
          <p:nvPr/>
        </p:nvSpPr>
        <p:spPr>
          <a:xfrm>
            <a:off x="5376672" y="3182112"/>
            <a:ext cx="1664208" cy="201168"/>
          </a:xfrm>
          <a:prstGeom prst="rect">
            <a:avLst/>
          </a:prstGeom>
          <a:noFill/>
          <a:ln/>
        </p:spPr>
        <p:txBody>
          <a:bodyPr wrap="square" lIns="0" tIns="0" rIns="0" bIns="0" rtlCol="0" anchor="ctr">
            <a:normAutofit/>
          </a:bodyPr>
          <a:lstStyle/>
          <a:p>
            <a:pPr algn="l" indent="0" marL="0">
              <a:buNone/>
            </a:pPr>
            <a:r>
              <a:rPr lang="en-US" sz="1100" dirty="0">
                <a:solidFill>
                  <a:srgbClr val="62696B"/>
                </a:solidFill>
                <a:latin typeface="Aptos" pitchFamily="34" charset="0"/>
                <a:ea typeface="Aptos" pitchFamily="34" charset="-122"/>
                <a:cs typeface="Aptos" pitchFamily="34" charset="-120"/>
              </a:rPr>
              <a:t>profiles + privacy</a:t>
            </a:r>
            <a:endParaRPr lang="en-US" sz="1100" dirty="0"/>
          </a:p>
        </p:txBody>
      </p:sp>
      <p:sp>
        <p:nvSpPr>
          <p:cNvPr id="23" name="Text 21"/>
          <p:cNvSpPr txBox="1"/>
          <p:nvPr/>
        </p:nvSpPr>
        <p:spPr>
          <a:xfrm>
            <a:off x="658368" y="4023360"/>
            <a:ext cx="1371600" cy="18288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DELIVERY FRAME</a:t>
            </a:r>
            <a:endParaRPr lang="en-US" sz="1000" dirty="0"/>
          </a:p>
        </p:txBody>
      </p:sp>
      <p:sp>
        <p:nvSpPr>
          <p:cNvPr id="24" name="Shape 22"/>
          <p:cNvSpPr/>
          <p:nvPr/>
        </p:nvSpPr>
        <p:spPr>
          <a:xfrm>
            <a:off x="941832" y="4681728"/>
            <a:ext cx="5532120" cy="0"/>
          </a:xfrm>
          <a:prstGeom prst="line">
            <a:avLst/>
          </a:prstGeom>
          <a:noFill/>
          <a:ln w="25400">
            <a:solidFill>
              <a:srgbClr val="D8D6CF"/>
            </a:solidFill>
            <a:prstDash val="solid"/>
          </a:ln>
        </p:spPr>
      </p:sp>
      <p:sp>
        <p:nvSpPr>
          <p:cNvPr id="25" name="Shape 23"/>
          <p:cNvSpPr/>
          <p:nvPr/>
        </p:nvSpPr>
        <p:spPr>
          <a:xfrm>
            <a:off x="841248" y="4572000"/>
            <a:ext cx="219456" cy="219456"/>
          </a:xfrm>
          <a:prstGeom prst="ellipse">
            <a:avLst/>
          </a:prstGeom>
          <a:solidFill>
            <a:srgbClr val="426B68"/>
          </a:solidFill>
          <a:ln w="12700">
            <a:solidFill>
              <a:srgbClr val="426B68"/>
            </a:solidFill>
            <a:prstDash val="solid"/>
          </a:ln>
        </p:spPr>
      </p:sp>
      <p:sp>
        <p:nvSpPr>
          <p:cNvPr id="26" name="Text 24"/>
          <p:cNvSpPr txBox="1"/>
          <p:nvPr/>
        </p:nvSpPr>
        <p:spPr>
          <a:xfrm>
            <a:off x="585216" y="4279392"/>
            <a:ext cx="777240" cy="182880"/>
          </a:xfrm>
          <a:prstGeom prst="rect">
            <a:avLst/>
          </a:prstGeom>
          <a:noFill/>
          <a:ln/>
        </p:spPr>
        <p:txBody>
          <a:bodyPr wrap="square" lIns="0" tIns="0" rIns="0" bIns="0" rtlCol="0" anchor="ctr">
            <a:normAutofit/>
          </a:bodyPr>
          <a:lstStyle/>
          <a:p>
            <a:pPr algn="ctr" indent="0" marL="0">
              <a:buNone/>
            </a:pPr>
            <a:r>
              <a:rPr lang="en-US" sz="850" b="1" dirty="0">
                <a:solidFill>
                  <a:srgbClr val="426B68"/>
                </a:solidFill>
                <a:latin typeface="Aptos" pitchFamily="34" charset="0"/>
                <a:ea typeface="Aptos" pitchFamily="34" charset="-122"/>
                <a:cs typeface="Aptos" pitchFamily="34" charset="-120"/>
              </a:rPr>
              <a:t>JUN 2026</a:t>
            </a:r>
            <a:endParaRPr lang="en-US" sz="850" dirty="0"/>
          </a:p>
        </p:txBody>
      </p:sp>
      <p:sp>
        <p:nvSpPr>
          <p:cNvPr id="27" name="Text 25"/>
          <p:cNvSpPr txBox="1"/>
          <p:nvPr/>
        </p:nvSpPr>
        <p:spPr>
          <a:xfrm>
            <a:off x="457200" y="4892040"/>
            <a:ext cx="1051560" cy="256032"/>
          </a:xfrm>
          <a:prstGeom prst="rect">
            <a:avLst/>
          </a:prstGeom>
          <a:noFill/>
          <a:ln/>
        </p:spPr>
        <p:txBody>
          <a:bodyPr wrap="square" lIns="0" tIns="0" rIns="0" bIns="0" rtlCol="0" anchor="ctr">
            <a:normAutofit/>
          </a:bodyPr>
          <a:lstStyle/>
          <a:p>
            <a:pPr algn="ctr" indent="0" marL="0">
              <a:buNone/>
            </a:pPr>
            <a:r>
              <a:rPr lang="en-US" sz="1050" dirty="0">
                <a:solidFill>
                  <a:srgbClr val="25292B"/>
                </a:solidFill>
                <a:latin typeface="Aptos" pitchFamily="34" charset="0"/>
                <a:ea typeface="Aptos" pitchFamily="34" charset="-122"/>
                <a:cs typeface="Aptos" pitchFamily="34" charset="-120"/>
              </a:rPr>
              <a:t>Start</a:t>
            </a:r>
            <a:endParaRPr lang="en-US" sz="1050" dirty="0"/>
          </a:p>
        </p:txBody>
      </p:sp>
      <p:sp>
        <p:nvSpPr>
          <p:cNvPr id="28" name="Shape 26"/>
          <p:cNvSpPr/>
          <p:nvPr/>
        </p:nvSpPr>
        <p:spPr>
          <a:xfrm>
            <a:off x="2395728" y="4572000"/>
            <a:ext cx="219456" cy="219456"/>
          </a:xfrm>
          <a:prstGeom prst="ellipse">
            <a:avLst/>
          </a:prstGeom>
          <a:solidFill>
            <a:srgbClr val="9A5C49"/>
          </a:solidFill>
          <a:ln w="12700">
            <a:solidFill>
              <a:srgbClr val="9A5C49"/>
            </a:solidFill>
            <a:prstDash val="solid"/>
          </a:ln>
        </p:spPr>
      </p:sp>
      <p:sp>
        <p:nvSpPr>
          <p:cNvPr id="29" name="Text 27"/>
          <p:cNvSpPr txBox="1"/>
          <p:nvPr/>
        </p:nvSpPr>
        <p:spPr>
          <a:xfrm>
            <a:off x="2139696" y="4279392"/>
            <a:ext cx="777240" cy="182880"/>
          </a:xfrm>
          <a:prstGeom prst="rect">
            <a:avLst/>
          </a:prstGeom>
          <a:noFill/>
          <a:ln/>
        </p:spPr>
        <p:txBody>
          <a:bodyPr wrap="square" lIns="0" tIns="0" rIns="0" bIns="0" rtlCol="0" anchor="ctr">
            <a:normAutofit/>
          </a:bodyPr>
          <a:lstStyle/>
          <a:p>
            <a:pPr algn="ctr" indent="0" marL="0">
              <a:buNone/>
            </a:pPr>
            <a:r>
              <a:rPr lang="en-US" sz="850" b="1" dirty="0">
                <a:solidFill>
                  <a:srgbClr val="9A5C49"/>
                </a:solidFill>
                <a:latin typeface="Aptos" pitchFamily="34" charset="0"/>
                <a:ea typeface="Aptos" pitchFamily="34" charset="-122"/>
                <a:cs typeface="Aptos" pitchFamily="34" charset="-120"/>
              </a:rPr>
              <a:t>SPRINT 2</a:t>
            </a:r>
            <a:endParaRPr lang="en-US" sz="850" dirty="0"/>
          </a:p>
        </p:txBody>
      </p:sp>
      <p:sp>
        <p:nvSpPr>
          <p:cNvPr id="30" name="Text 28"/>
          <p:cNvSpPr txBox="1"/>
          <p:nvPr/>
        </p:nvSpPr>
        <p:spPr>
          <a:xfrm>
            <a:off x="2011680" y="4892040"/>
            <a:ext cx="1051560" cy="256032"/>
          </a:xfrm>
          <a:prstGeom prst="rect">
            <a:avLst/>
          </a:prstGeom>
          <a:noFill/>
          <a:ln/>
        </p:spPr>
        <p:txBody>
          <a:bodyPr wrap="square" lIns="0" tIns="0" rIns="0" bIns="0" rtlCol="0" anchor="ctr">
            <a:normAutofit/>
          </a:bodyPr>
          <a:lstStyle/>
          <a:p>
            <a:pPr algn="ctr" indent="0" marL="0">
              <a:buNone/>
            </a:pPr>
            <a:r>
              <a:rPr lang="en-US" sz="1050" dirty="0">
                <a:solidFill>
                  <a:srgbClr val="25292B"/>
                </a:solidFill>
                <a:latin typeface="Aptos" pitchFamily="34" charset="0"/>
                <a:ea typeface="Aptos" pitchFamily="34" charset="-122"/>
                <a:cs typeface="Aptos" pitchFamily="34" charset="-120"/>
              </a:rPr>
              <a:t>M1 delayed</a:t>
            </a:r>
            <a:endParaRPr lang="en-US" sz="1050" dirty="0"/>
          </a:p>
        </p:txBody>
      </p:sp>
      <p:sp>
        <p:nvSpPr>
          <p:cNvPr id="31" name="Shape 29"/>
          <p:cNvSpPr/>
          <p:nvPr/>
        </p:nvSpPr>
        <p:spPr>
          <a:xfrm>
            <a:off x="4041648" y="4572000"/>
            <a:ext cx="219456" cy="219456"/>
          </a:xfrm>
          <a:prstGeom prst="ellipse">
            <a:avLst/>
          </a:prstGeom>
          <a:solidFill>
            <a:srgbClr val="426B68"/>
          </a:solidFill>
          <a:ln w="12700">
            <a:solidFill>
              <a:srgbClr val="426B68"/>
            </a:solidFill>
            <a:prstDash val="solid"/>
          </a:ln>
        </p:spPr>
      </p:sp>
      <p:sp>
        <p:nvSpPr>
          <p:cNvPr id="32" name="Text 30"/>
          <p:cNvSpPr txBox="1"/>
          <p:nvPr/>
        </p:nvSpPr>
        <p:spPr>
          <a:xfrm>
            <a:off x="3785616" y="4279392"/>
            <a:ext cx="777240" cy="182880"/>
          </a:xfrm>
          <a:prstGeom prst="rect">
            <a:avLst/>
          </a:prstGeom>
          <a:noFill/>
          <a:ln/>
        </p:spPr>
        <p:txBody>
          <a:bodyPr wrap="square" lIns="0" tIns="0" rIns="0" bIns="0" rtlCol="0" anchor="ctr">
            <a:normAutofit/>
          </a:bodyPr>
          <a:lstStyle/>
          <a:p>
            <a:pPr algn="ctr" indent="0" marL="0">
              <a:buNone/>
            </a:pPr>
            <a:r>
              <a:rPr lang="en-US" sz="850" b="1" dirty="0">
                <a:solidFill>
                  <a:srgbClr val="426B68"/>
                </a:solidFill>
                <a:latin typeface="Aptos" pitchFamily="34" charset="0"/>
                <a:ea typeface="Aptos" pitchFamily="34" charset="-122"/>
                <a:cs typeface="Aptos" pitchFamily="34" charset="-120"/>
              </a:rPr>
              <a:t>11 SPRINTS</a:t>
            </a:r>
            <a:endParaRPr lang="en-US" sz="850" dirty="0"/>
          </a:p>
        </p:txBody>
      </p:sp>
      <p:sp>
        <p:nvSpPr>
          <p:cNvPr id="33" name="Text 31"/>
          <p:cNvSpPr txBox="1"/>
          <p:nvPr/>
        </p:nvSpPr>
        <p:spPr>
          <a:xfrm>
            <a:off x="3657600" y="4892040"/>
            <a:ext cx="1051560" cy="256032"/>
          </a:xfrm>
          <a:prstGeom prst="rect">
            <a:avLst/>
          </a:prstGeom>
          <a:noFill/>
          <a:ln/>
        </p:spPr>
        <p:txBody>
          <a:bodyPr wrap="square" lIns="0" tIns="0" rIns="0" bIns="0" rtlCol="0" anchor="ctr">
            <a:normAutofit/>
          </a:bodyPr>
          <a:lstStyle/>
          <a:p>
            <a:pPr algn="ctr" indent="0" marL="0">
              <a:buNone/>
            </a:pPr>
            <a:r>
              <a:rPr lang="en-US" sz="1050" dirty="0">
                <a:solidFill>
                  <a:srgbClr val="25292B"/>
                </a:solidFill>
                <a:latin typeface="Aptos" pitchFamily="34" charset="0"/>
                <a:ea typeface="Aptos" pitchFamily="34" charset="-122"/>
                <a:cs typeface="Aptos" pitchFamily="34" charset="-120"/>
              </a:rPr>
              <a:t>3 weeks each</a:t>
            </a:r>
            <a:endParaRPr lang="en-US" sz="1050" dirty="0"/>
          </a:p>
        </p:txBody>
      </p:sp>
      <p:sp>
        <p:nvSpPr>
          <p:cNvPr id="34" name="Shape 32"/>
          <p:cNvSpPr/>
          <p:nvPr/>
        </p:nvSpPr>
        <p:spPr>
          <a:xfrm>
            <a:off x="6007608" y="4572000"/>
            <a:ext cx="219456" cy="219456"/>
          </a:xfrm>
          <a:prstGeom prst="ellipse">
            <a:avLst/>
          </a:prstGeom>
          <a:solidFill>
            <a:srgbClr val="426B68"/>
          </a:solidFill>
          <a:ln w="12700">
            <a:solidFill>
              <a:srgbClr val="426B68"/>
            </a:solidFill>
            <a:prstDash val="solid"/>
          </a:ln>
        </p:spPr>
      </p:sp>
      <p:sp>
        <p:nvSpPr>
          <p:cNvPr id="35" name="Text 33"/>
          <p:cNvSpPr txBox="1"/>
          <p:nvPr/>
        </p:nvSpPr>
        <p:spPr>
          <a:xfrm>
            <a:off x="5751576" y="4279392"/>
            <a:ext cx="777240" cy="182880"/>
          </a:xfrm>
          <a:prstGeom prst="rect">
            <a:avLst/>
          </a:prstGeom>
          <a:noFill/>
          <a:ln/>
        </p:spPr>
        <p:txBody>
          <a:bodyPr wrap="square" lIns="0" tIns="0" rIns="0" bIns="0" rtlCol="0" anchor="ctr">
            <a:normAutofit/>
          </a:bodyPr>
          <a:lstStyle/>
          <a:p>
            <a:pPr algn="ctr" indent="0" marL="0">
              <a:buNone/>
            </a:pPr>
            <a:r>
              <a:rPr lang="en-US" sz="850" b="1" dirty="0">
                <a:solidFill>
                  <a:srgbClr val="426B68"/>
                </a:solidFill>
                <a:latin typeface="Aptos" pitchFamily="34" charset="0"/>
                <a:ea typeface="Aptos" pitchFamily="34" charset="-122"/>
                <a:cs typeface="Aptos" pitchFamily="34" charset="-120"/>
              </a:rPr>
              <a:t>FEB 2027</a:t>
            </a:r>
            <a:endParaRPr lang="en-US" sz="850" dirty="0"/>
          </a:p>
        </p:txBody>
      </p:sp>
      <p:sp>
        <p:nvSpPr>
          <p:cNvPr id="36" name="Text 34"/>
          <p:cNvSpPr txBox="1"/>
          <p:nvPr/>
        </p:nvSpPr>
        <p:spPr>
          <a:xfrm>
            <a:off x="5623560" y="4892040"/>
            <a:ext cx="1051560" cy="256032"/>
          </a:xfrm>
          <a:prstGeom prst="rect">
            <a:avLst/>
          </a:prstGeom>
          <a:noFill/>
          <a:ln/>
        </p:spPr>
        <p:txBody>
          <a:bodyPr wrap="square" lIns="0" tIns="0" rIns="0" bIns="0" rtlCol="0" anchor="ctr">
            <a:normAutofit/>
          </a:bodyPr>
          <a:lstStyle/>
          <a:p>
            <a:pPr algn="ctr" indent="0" marL="0">
              <a:buNone/>
            </a:pPr>
            <a:r>
              <a:rPr lang="en-US" sz="1050" dirty="0">
                <a:solidFill>
                  <a:srgbClr val="25292B"/>
                </a:solidFill>
                <a:latin typeface="Aptos" pitchFamily="34" charset="0"/>
                <a:ea typeface="Aptos" pitchFamily="34" charset="-122"/>
                <a:cs typeface="Aptos" pitchFamily="34" charset="-120"/>
              </a:rPr>
              <a:t>Fixed launch</a:t>
            </a:r>
            <a:endParaRPr lang="en-US" sz="1050" dirty="0"/>
          </a:p>
        </p:txBody>
      </p:sp>
      <p:sp>
        <p:nvSpPr>
          <p:cNvPr id="37" name="Shape 35"/>
          <p:cNvSpPr/>
          <p:nvPr/>
        </p:nvSpPr>
        <p:spPr>
          <a:xfrm>
            <a:off x="658368" y="5596128"/>
            <a:ext cx="1115568" cy="310896"/>
          </a:xfrm>
          <a:prstGeom prst="roundRect">
            <a:avLst/>
          </a:prstGeom>
          <a:solidFill>
            <a:srgbClr val="EEDFD8"/>
          </a:solidFill>
          <a:ln w="12700">
            <a:solidFill>
              <a:srgbClr val="EEDFD8"/>
            </a:solidFill>
            <a:prstDash val="solid"/>
          </a:ln>
        </p:spPr>
      </p:sp>
      <p:sp>
        <p:nvSpPr>
          <p:cNvPr id="38" name="Text 36"/>
          <p:cNvSpPr txBox="1"/>
          <p:nvPr/>
        </p:nvSpPr>
        <p:spPr>
          <a:xfrm>
            <a:off x="768096" y="5596128"/>
            <a:ext cx="896112" cy="310896"/>
          </a:xfrm>
          <a:prstGeom prst="rect">
            <a:avLst/>
          </a:prstGeom>
          <a:noFill/>
          <a:ln/>
        </p:spPr>
        <p:txBody>
          <a:bodyPr wrap="square" lIns="0" tIns="0" rIns="0" bIns="0" rtlCol="0" anchor="ctr">
            <a:normAutofit/>
          </a:bodyPr>
          <a:lstStyle/>
          <a:p>
            <a:pPr algn="ctr" indent="0" marL="0">
              <a:buNone/>
            </a:pPr>
            <a:r>
              <a:rPr lang="en-US" sz="1000" b="1" dirty="0">
                <a:solidFill>
                  <a:srgbClr val="9A5C49"/>
                </a:solidFill>
                <a:latin typeface="Aptos" pitchFamily="34" charset="0"/>
                <a:ea typeface="Aptos" pitchFamily="34" charset="-122"/>
                <a:cs typeface="Aptos" pitchFamily="34" charset="-120"/>
              </a:rPr>
              <a:t>FIXED DATE</a:t>
            </a:r>
            <a:endParaRPr lang="en-US" sz="1000" dirty="0"/>
          </a:p>
        </p:txBody>
      </p:sp>
      <p:sp>
        <p:nvSpPr>
          <p:cNvPr id="39" name="Shape 37"/>
          <p:cNvSpPr/>
          <p:nvPr/>
        </p:nvSpPr>
        <p:spPr>
          <a:xfrm>
            <a:off x="1901952" y="5596128"/>
            <a:ext cx="1508760" cy="310896"/>
          </a:xfrm>
          <a:prstGeom prst="roundRect">
            <a:avLst/>
          </a:prstGeom>
          <a:solidFill>
            <a:srgbClr val="DDE8E5"/>
          </a:solidFill>
          <a:ln w="12700">
            <a:solidFill>
              <a:srgbClr val="DDE8E5"/>
            </a:solidFill>
            <a:prstDash val="solid"/>
          </a:ln>
        </p:spPr>
      </p:sp>
      <p:sp>
        <p:nvSpPr>
          <p:cNvPr id="40" name="Text 38"/>
          <p:cNvSpPr txBox="1"/>
          <p:nvPr/>
        </p:nvSpPr>
        <p:spPr>
          <a:xfrm>
            <a:off x="2011680" y="5596128"/>
            <a:ext cx="1289304" cy="310896"/>
          </a:xfrm>
          <a:prstGeom prst="rect">
            <a:avLst/>
          </a:prstGeom>
          <a:noFill/>
          <a:ln/>
        </p:spPr>
        <p:txBody>
          <a:bodyPr wrap="square" lIns="0" tIns="0" rIns="0" bIns="0" rtlCol="0" anchor="ctr">
            <a:normAutofit/>
          </a:bodyPr>
          <a:lstStyle/>
          <a:p>
            <a:pPr algn="ctr" indent="0" marL="0">
              <a:buNone/>
            </a:pPr>
            <a:r>
              <a:rPr lang="en-US" sz="1000" b="1" dirty="0">
                <a:solidFill>
                  <a:srgbClr val="294947"/>
                </a:solidFill>
                <a:latin typeface="Aptos" pitchFamily="34" charset="0"/>
                <a:ea typeface="Aptos" pitchFamily="34" charset="-122"/>
                <a:cs typeface="Aptos" pitchFamily="34" charset="-120"/>
              </a:rPr>
              <a:t>FLEXIBLE SCOPE</a:t>
            </a:r>
            <a:endParaRPr lang="en-US" sz="1000" dirty="0"/>
          </a:p>
        </p:txBody>
      </p:sp>
      <p:sp>
        <p:nvSpPr>
          <p:cNvPr id="41" name="Shape 39"/>
          <p:cNvSpPr/>
          <p:nvPr/>
        </p:nvSpPr>
        <p:spPr>
          <a:xfrm>
            <a:off x="3538728" y="5596128"/>
            <a:ext cx="1124712" cy="310896"/>
          </a:xfrm>
          <a:prstGeom prst="roundRect">
            <a:avLst/>
          </a:prstGeom>
          <a:solidFill>
            <a:srgbClr val="DFE7EA"/>
          </a:solidFill>
          <a:ln w="12700">
            <a:solidFill>
              <a:srgbClr val="DFE7EA"/>
            </a:solidFill>
            <a:prstDash val="solid"/>
          </a:ln>
        </p:spPr>
      </p:sp>
      <p:sp>
        <p:nvSpPr>
          <p:cNvPr id="42" name="Text 40"/>
          <p:cNvSpPr txBox="1"/>
          <p:nvPr/>
        </p:nvSpPr>
        <p:spPr>
          <a:xfrm>
            <a:off x="3648456" y="5596128"/>
            <a:ext cx="905256" cy="310896"/>
          </a:xfrm>
          <a:prstGeom prst="rect">
            <a:avLst/>
          </a:prstGeom>
          <a:noFill/>
          <a:ln/>
        </p:spPr>
        <p:txBody>
          <a:bodyPr wrap="square" lIns="0" tIns="0" rIns="0" bIns="0" rtlCol="0" anchor="ctr">
            <a:normAutofit/>
          </a:bodyPr>
          <a:lstStyle/>
          <a:p>
            <a:pPr algn="ctr" indent="0" marL="0">
              <a:buNone/>
            </a:pPr>
            <a:r>
              <a:rPr lang="en-US" sz="1000" b="1" dirty="0">
                <a:solidFill>
                  <a:srgbClr val="5D7480"/>
                </a:solidFill>
                <a:latin typeface="Aptos" pitchFamily="34" charset="0"/>
                <a:ea typeface="Aptos" pitchFamily="34" charset="-122"/>
                <a:cs typeface="Aptos" pitchFamily="34" charset="-120"/>
              </a:rPr>
              <a:t>STRICT DoD</a:t>
            </a:r>
            <a:endParaRPr lang="en-US" sz="1000" dirty="0"/>
          </a:p>
        </p:txBody>
      </p:sp>
      <p:sp>
        <p:nvSpPr>
          <p:cNvPr id="43" name="Shape 41"/>
          <p:cNvSpPr/>
          <p:nvPr/>
        </p:nvSpPr>
        <p:spPr>
          <a:xfrm>
            <a:off x="4791456" y="5596128"/>
            <a:ext cx="2139696" cy="310896"/>
          </a:xfrm>
          <a:prstGeom prst="roundRect">
            <a:avLst/>
          </a:prstGeom>
          <a:solidFill>
            <a:srgbClr val="ECE4D5"/>
          </a:solidFill>
          <a:ln w="12700">
            <a:solidFill>
              <a:srgbClr val="ECE4D5"/>
            </a:solidFill>
            <a:prstDash val="solid"/>
          </a:ln>
        </p:spPr>
      </p:sp>
      <p:sp>
        <p:nvSpPr>
          <p:cNvPr id="44" name="Text 42"/>
          <p:cNvSpPr txBox="1"/>
          <p:nvPr/>
        </p:nvSpPr>
        <p:spPr>
          <a:xfrm>
            <a:off x="4901184" y="5596128"/>
            <a:ext cx="1920240" cy="310896"/>
          </a:xfrm>
          <a:prstGeom prst="rect">
            <a:avLst/>
          </a:prstGeom>
          <a:noFill/>
          <a:ln/>
        </p:spPr>
        <p:txBody>
          <a:bodyPr wrap="square" lIns="0" tIns="0" rIns="0" bIns="0" rtlCol="0" anchor="ctr">
            <a:normAutofit/>
          </a:bodyPr>
          <a:lstStyle/>
          <a:p>
            <a:pPr algn="ctr" indent="0" marL="0">
              <a:buNone/>
            </a:pPr>
            <a:r>
              <a:rPr lang="en-US" sz="1000" b="1" dirty="0">
                <a:solidFill>
                  <a:srgbClr val="A3824F"/>
                </a:solidFill>
                <a:latin typeface="Aptos" pitchFamily="34" charset="0"/>
                <a:ea typeface="Aptos" pitchFamily="34" charset="-122"/>
                <a:cs typeface="Aptos" pitchFamily="34" charset="-120"/>
              </a:rPr>
              <a:t>NO ALL-HANDS OVERLAP</a:t>
            </a:r>
            <a:endParaRPr lang="en-US" sz="1000" dirty="0"/>
          </a:p>
        </p:txBody>
      </p:sp>
      <p:sp>
        <p:nvSpPr>
          <p:cNvPr id="45" name="Shape 43"/>
          <p:cNvSpPr/>
          <p:nvPr/>
        </p:nvSpPr>
        <p:spPr>
          <a:xfrm>
            <a:off x="7699248" y="1527048"/>
            <a:ext cx="3803904" cy="4535424"/>
          </a:xfrm>
          <a:prstGeom prst="roundRect">
            <a:avLst/>
          </a:prstGeom>
          <a:solidFill>
            <a:srgbClr val="FFFEFA"/>
          </a:solidFill>
          <a:ln w="12700">
            <a:solidFill>
              <a:srgbClr val="D8D6CF"/>
            </a:solidFill>
            <a:prstDash val="solid"/>
          </a:ln>
        </p:spPr>
      </p:sp>
      <p:pic>
        <p:nvPicPr>
          <p:cNvPr id="46" name="Image 0" descr="An athlete checking a fitness watch during exercise">    </p:cNvPr>
          <p:cNvPicPr>
            <a:picLocks noChangeAspect="1"/>
          </p:cNvPicPr>
          <p:nvPr/>
        </p:nvPicPr>
        <p:blipFill>
          <a:blip r:embed="rId1"/>
          <a:srcRect l="0" r="0" t="0" b="0"/>
          <a:stretch/>
        </p:blipFill>
        <p:spPr>
          <a:xfrm>
            <a:off x="7854696" y="1682496"/>
            <a:ext cx="3493008" cy="3346704"/>
          </a:xfrm>
          <a:prstGeom prst="rect">
            <a:avLst/>
          </a:prstGeom>
        </p:spPr>
      </p:pic>
      <p:sp>
        <p:nvSpPr>
          <p:cNvPr id="47" name="Shape 44"/>
          <p:cNvSpPr/>
          <p:nvPr/>
        </p:nvSpPr>
        <p:spPr>
          <a:xfrm>
            <a:off x="7854696" y="4224528"/>
            <a:ext cx="3493008" cy="804672"/>
          </a:xfrm>
          <a:prstGeom prst="rect">
            <a:avLst/>
          </a:prstGeom>
          <a:solidFill>
            <a:srgbClr val="000000">
              <a:alpha val="50000"/>
            </a:srgbClr>
          </a:solidFill>
          <a:ln w="12700">
            <a:solidFill>
              <a:srgbClr val="000000">
                <a:alpha val="0"/>
              </a:srgbClr>
            </a:solidFill>
            <a:prstDash val="solid"/>
          </a:ln>
        </p:spPr>
      </p:sp>
      <p:sp>
        <p:nvSpPr>
          <p:cNvPr id="48" name="Text 45"/>
          <p:cNvSpPr txBox="1"/>
          <p:nvPr/>
        </p:nvSpPr>
        <p:spPr>
          <a:xfrm>
            <a:off x="8101584" y="4434840"/>
            <a:ext cx="2999232" cy="256032"/>
          </a:xfrm>
          <a:prstGeom prst="rect">
            <a:avLst/>
          </a:prstGeom>
          <a:noFill/>
          <a:ln/>
        </p:spPr>
        <p:txBody>
          <a:bodyPr wrap="square" lIns="0" tIns="0" rIns="0" bIns="0" rtlCol="0" anchor="ctr">
            <a:normAutofit/>
          </a:bodyPr>
          <a:lstStyle/>
          <a:p>
            <a:pPr algn="l" indent="0" marL="0">
              <a:buNone/>
            </a:pPr>
            <a:r>
              <a:rPr lang="en-US" sz="1800" dirty="0">
                <a:solidFill>
                  <a:srgbClr val="FFFFFF"/>
                </a:solidFill>
                <a:latin typeface="Georgia" pitchFamily="34" charset="0"/>
                <a:ea typeface="Georgia" pitchFamily="34" charset="-122"/>
                <a:cs typeface="Georgia" pitchFamily="34" charset="-120"/>
              </a:rPr>
              <a:t>Quality is not flexible</a:t>
            </a:r>
            <a:endParaRPr lang="en-US" sz="1800" dirty="0"/>
          </a:p>
        </p:txBody>
      </p:sp>
      <p:sp>
        <p:nvSpPr>
          <p:cNvPr id="49" name="Text 46"/>
          <p:cNvSpPr txBox="1"/>
          <p:nvPr/>
        </p:nvSpPr>
        <p:spPr>
          <a:xfrm>
            <a:off x="7973568" y="5285232"/>
            <a:ext cx="3273552" cy="475488"/>
          </a:xfrm>
          <a:prstGeom prst="rect">
            <a:avLst/>
          </a:prstGeom>
          <a:noFill/>
          <a:ln/>
        </p:spPr>
        <p:txBody>
          <a:bodyPr wrap="square" lIns="0" tIns="0" rIns="0" bIns="0" rtlCol="0" anchor="ctr">
            <a:normAutofit/>
          </a:bodyPr>
          <a:lstStyle/>
          <a:p>
            <a:pPr algn="ctr" indent="0" marL="0">
              <a:buNone/>
            </a:pPr>
            <a:r>
              <a:rPr lang="en-US" sz="1250" dirty="0">
                <a:solidFill>
                  <a:srgbClr val="62696B"/>
                </a:solidFill>
                <a:latin typeface="Aptos" pitchFamily="34" charset="0"/>
                <a:ea typeface="Aptos" pitchFamily="34" charset="-122"/>
                <a:cs typeface="Aptos" pitchFamily="34" charset="-120"/>
              </a:rPr>
              <a:t>Tests · peer review · English documentation · no critical defects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94360" y="320040"/>
            <a:ext cx="411480" cy="22860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03</a:t>
            </a:r>
            <a:endParaRPr lang="en-US" sz="1000" dirty="0"/>
          </a:p>
        </p:txBody>
      </p:sp>
      <p:sp>
        <p:nvSpPr>
          <p:cNvPr id="3" name="Text 1"/>
          <p:cNvSpPr txBox="1"/>
          <p:nvPr/>
        </p:nvSpPr>
        <p:spPr>
          <a:xfrm>
            <a:off x="594360" y="621792"/>
            <a:ext cx="9052560" cy="530352"/>
          </a:xfrm>
          <a:prstGeom prst="rect">
            <a:avLst/>
          </a:prstGeom>
          <a:noFill/>
          <a:ln/>
        </p:spPr>
        <p:txBody>
          <a:bodyPr wrap="square" lIns="0" tIns="0" rIns="0" bIns="0" rtlCol="0" anchor="ctr">
            <a:normAutofit/>
          </a:bodyPr>
          <a:lstStyle/>
          <a:p>
            <a:pPr algn="l" indent="0" marL="0">
              <a:buNone/>
            </a:pPr>
            <a:r>
              <a:rPr lang="en-US" sz="2500" dirty="0">
                <a:solidFill>
                  <a:srgbClr val="25292B"/>
                </a:solidFill>
                <a:latin typeface="Georgia" pitchFamily="34" charset="0"/>
                <a:ea typeface="Georgia" pitchFamily="34" charset="-122"/>
                <a:cs typeface="Georgia" pitchFamily="34" charset="-120"/>
              </a:rPr>
              <a:t>Team Composition and Development</a:t>
            </a:r>
            <a:endParaRPr lang="en-US" sz="2500" dirty="0"/>
          </a:p>
        </p:txBody>
      </p:sp>
      <p:sp>
        <p:nvSpPr>
          <p:cNvPr id="4" name="Text 2"/>
          <p:cNvSpPr txBox="1"/>
          <p:nvPr/>
        </p:nvSpPr>
        <p:spPr>
          <a:xfrm>
            <a:off x="9601200" y="384048"/>
            <a:ext cx="1965960" cy="228600"/>
          </a:xfrm>
          <a:prstGeom prst="rect">
            <a:avLst/>
          </a:prstGeom>
          <a:noFill/>
          <a:ln/>
        </p:spPr>
        <p:txBody>
          <a:bodyPr wrap="square" lIns="0" tIns="0" rIns="0" bIns="0" rtlCol="0" anchor="ctr">
            <a:normAutofit/>
          </a:bodyPr>
          <a:lstStyle/>
          <a:p>
            <a:pPr algn="r" indent="0" marL="0">
              <a:buNone/>
            </a:pPr>
            <a:r>
              <a:rPr lang="en-US" sz="1000" b="1" dirty="0">
                <a:solidFill>
                  <a:srgbClr val="62696B"/>
                </a:solidFill>
                <a:latin typeface="Aptos" pitchFamily="34" charset="0"/>
                <a:ea typeface="Aptos" pitchFamily="34" charset="-122"/>
                <a:cs typeface="Aptos" pitchFamily="34" charset="-120"/>
              </a:rPr>
              <a:t>JANEK  ·  1:00</a:t>
            </a:r>
            <a:endParaRPr lang="en-US" sz="1000" dirty="0"/>
          </a:p>
        </p:txBody>
      </p:sp>
      <p:sp>
        <p:nvSpPr>
          <p:cNvPr id="5" name="Shape 3"/>
          <p:cNvSpPr/>
          <p:nvPr/>
        </p:nvSpPr>
        <p:spPr>
          <a:xfrm>
            <a:off x="594360" y="1243584"/>
            <a:ext cx="658368" cy="50292"/>
          </a:xfrm>
          <a:prstGeom prst="rect">
            <a:avLst/>
          </a:prstGeom>
          <a:solidFill>
            <a:srgbClr val="426B68"/>
          </a:solidFill>
          <a:ln w="12700">
            <a:solidFill>
              <a:srgbClr val="426B68"/>
            </a:solidFill>
            <a:prstDash val="solid"/>
          </a:ln>
        </p:spPr>
      </p:sp>
      <p:sp>
        <p:nvSpPr>
          <p:cNvPr id="6" name="Shape 4"/>
          <p:cNvSpPr/>
          <p:nvPr/>
        </p:nvSpPr>
        <p:spPr>
          <a:xfrm>
            <a:off x="594360" y="6510528"/>
            <a:ext cx="11000232" cy="0"/>
          </a:xfrm>
          <a:prstGeom prst="line">
            <a:avLst/>
          </a:prstGeom>
          <a:noFill/>
          <a:ln w="10160">
            <a:solidFill>
              <a:srgbClr val="D8D6CF"/>
            </a:solidFill>
            <a:prstDash val="solid"/>
          </a:ln>
        </p:spPr>
      </p:sp>
      <p:sp>
        <p:nvSpPr>
          <p:cNvPr id="7" name="Text 5"/>
          <p:cNvSpPr txBox="1"/>
          <p:nvPr/>
        </p:nvSpPr>
        <p:spPr>
          <a:xfrm>
            <a:off x="594360" y="6574536"/>
            <a:ext cx="9784080" cy="164592"/>
          </a:xfrm>
          <a:prstGeom prst="rect">
            <a:avLst/>
          </a:prstGeom>
          <a:noFill/>
          <a:ln/>
        </p:spPr>
        <p:txBody>
          <a:bodyPr wrap="square" lIns="0" tIns="0" rIns="0" bIns="0" rtlCol="0" anchor="ctr">
            <a:normAutofit/>
          </a:bodyPr>
          <a:lstStyle/>
          <a:p>
            <a:pPr algn="l" indent="0" marL="0">
              <a:buNone/>
            </a:pPr>
            <a:r>
              <a:rPr lang="en-US" sz="850" dirty="0">
                <a:solidFill>
                  <a:srgbClr val="62696B"/>
                </a:solidFill>
                <a:latin typeface="Aptos" pitchFamily="34" charset="0"/>
                <a:ea typeface="Aptos" pitchFamily="34" charset="-122"/>
                <a:cs typeface="Aptos" pitchFamily="34" charset="-120"/>
              </a:rPr>
              <a:t>Sources: Belbin (2010); Tuckman (1965); G4 case profiles</a:t>
            </a:r>
            <a:endParaRPr lang="en-US" sz="850" dirty="0"/>
          </a:p>
        </p:txBody>
      </p:sp>
      <p:sp>
        <p:nvSpPr>
          <p:cNvPr id="8" name="Text 6"/>
          <p:cNvSpPr txBox="1"/>
          <p:nvPr/>
        </p:nvSpPr>
        <p:spPr>
          <a:xfrm>
            <a:off x="11201400" y="6547104"/>
            <a:ext cx="365760" cy="164592"/>
          </a:xfrm>
          <a:prstGeom prst="rect">
            <a:avLst/>
          </a:prstGeom>
          <a:noFill/>
          <a:ln/>
        </p:spPr>
        <p:txBody>
          <a:bodyPr wrap="square" lIns="0" tIns="0" rIns="0" bIns="0" rtlCol="0" anchor="ctr">
            <a:normAutofit/>
          </a:bodyPr>
          <a:lstStyle/>
          <a:p>
            <a:pPr algn="r" indent="0" marL="0">
              <a:buNone/>
            </a:pPr>
            <a:r>
              <a:rPr lang="en-US" sz="900" dirty="0">
                <a:solidFill>
                  <a:srgbClr val="62696B"/>
                </a:solidFill>
                <a:latin typeface="Aptos" pitchFamily="34" charset="0"/>
                <a:ea typeface="Aptos" pitchFamily="34" charset="-122"/>
                <a:cs typeface="Aptos" pitchFamily="34" charset="-120"/>
              </a:rPr>
              <a:t>3</a:t>
            </a:r>
            <a:endParaRPr lang="en-US" sz="900" dirty="0"/>
          </a:p>
        </p:txBody>
      </p:sp>
      <p:sp>
        <p:nvSpPr>
          <p:cNvPr id="9" name="Shape 7"/>
          <p:cNvSpPr/>
          <p:nvPr/>
        </p:nvSpPr>
        <p:spPr>
          <a:xfrm>
            <a:off x="1033272" y="2157984"/>
            <a:ext cx="10021824" cy="0"/>
          </a:xfrm>
          <a:prstGeom prst="line">
            <a:avLst/>
          </a:prstGeom>
          <a:noFill/>
          <a:ln w="25400">
            <a:solidFill>
              <a:srgbClr val="D8D6CF"/>
            </a:solidFill>
            <a:prstDash val="solid"/>
          </a:ln>
        </p:spPr>
      </p:sp>
      <p:sp>
        <p:nvSpPr>
          <p:cNvPr id="10" name="Shape 8"/>
          <p:cNvSpPr/>
          <p:nvPr/>
        </p:nvSpPr>
        <p:spPr>
          <a:xfrm>
            <a:off x="749808" y="1965960"/>
            <a:ext cx="384048" cy="384048"/>
          </a:xfrm>
          <a:prstGeom prst="ellipse">
            <a:avLst/>
          </a:prstGeom>
          <a:solidFill>
            <a:srgbClr val="294947"/>
          </a:solidFill>
          <a:ln w="12700">
            <a:solidFill>
              <a:srgbClr val="294947"/>
            </a:solidFill>
            <a:prstDash val="solid"/>
          </a:ln>
        </p:spPr>
      </p:sp>
      <p:sp>
        <p:nvSpPr>
          <p:cNvPr id="11" name="Text 9"/>
          <p:cNvSpPr txBox="1"/>
          <p:nvPr/>
        </p:nvSpPr>
        <p:spPr>
          <a:xfrm>
            <a:off x="749808" y="1965960"/>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2" name="Shape 10"/>
          <p:cNvSpPr/>
          <p:nvPr/>
        </p:nvSpPr>
        <p:spPr>
          <a:xfrm>
            <a:off x="658368" y="2496312"/>
            <a:ext cx="2487168" cy="1115568"/>
          </a:xfrm>
          <a:prstGeom prst="roundRect">
            <a:avLst/>
          </a:prstGeom>
          <a:solidFill>
            <a:srgbClr val="DDE8E5"/>
          </a:solidFill>
          <a:ln w="12700">
            <a:solidFill>
              <a:srgbClr val="DDE8E5"/>
            </a:solidFill>
            <a:prstDash val="solid"/>
          </a:ln>
        </p:spPr>
      </p:sp>
      <p:sp>
        <p:nvSpPr>
          <p:cNvPr id="13" name="Text 11"/>
          <p:cNvSpPr txBox="1"/>
          <p:nvPr/>
        </p:nvSpPr>
        <p:spPr>
          <a:xfrm>
            <a:off x="822960" y="2660904"/>
            <a:ext cx="2157984" cy="210312"/>
          </a:xfrm>
          <a:prstGeom prst="rect">
            <a:avLst/>
          </a:prstGeom>
          <a:noFill/>
          <a:ln/>
        </p:spPr>
        <p:txBody>
          <a:bodyPr wrap="square" lIns="0" tIns="0" rIns="0" bIns="0" rtlCol="0" anchor="ctr">
            <a:normAutofit/>
          </a:bodyPr>
          <a:lstStyle/>
          <a:p>
            <a:pPr algn="l" indent="0" marL="0">
              <a:buNone/>
            </a:pPr>
            <a:r>
              <a:rPr lang="en-US" sz="1000" b="1" dirty="0">
                <a:solidFill>
                  <a:srgbClr val="294947"/>
                </a:solidFill>
                <a:latin typeface="Aptos" pitchFamily="34" charset="0"/>
                <a:ea typeface="Aptos" pitchFamily="34" charset="-122"/>
                <a:cs typeface="Aptos" pitchFamily="34" charset="-120"/>
              </a:rPr>
              <a:t>GERMANY</a:t>
            </a:r>
            <a:endParaRPr lang="en-US" sz="1000" dirty="0"/>
          </a:p>
        </p:txBody>
      </p:sp>
      <p:sp>
        <p:nvSpPr>
          <p:cNvPr id="14" name="Text 12"/>
          <p:cNvSpPr txBox="1"/>
          <p:nvPr/>
        </p:nvSpPr>
        <p:spPr>
          <a:xfrm>
            <a:off x="822960" y="2916936"/>
            <a:ext cx="2157984" cy="265176"/>
          </a:xfrm>
          <a:prstGeom prst="rect">
            <a:avLst/>
          </a:prstGeom>
          <a:noFill/>
          <a:ln/>
        </p:spPr>
        <p:txBody>
          <a:bodyPr wrap="square" lIns="0" tIns="0" rIns="0" bIns="0" rtlCol="0" anchor="ctr">
            <a:normAutofit/>
          </a:bodyPr>
          <a:lstStyle/>
          <a:p>
            <a:pPr algn="l" indent="0" marL="0">
              <a:buNone/>
            </a:pPr>
            <a:r>
              <a:rPr lang="en-US" sz="1700" b="1" dirty="0">
                <a:solidFill>
                  <a:srgbClr val="25292B"/>
                </a:solidFill>
                <a:latin typeface="Aptos" pitchFamily="34" charset="0"/>
                <a:ea typeface="Aptos" pitchFamily="34" charset="-122"/>
                <a:cs typeface="Aptos" pitchFamily="34" charset="-120"/>
              </a:rPr>
              <a:t>PO · Dev5</a:t>
            </a:r>
            <a:endParaRPr lang="en-US" sz="1700" dirty="0"/>
          </a:p>
        </p:txBody>
      </p:sp>
      <p:sp>
        <p:nvSpPr>
          <p:cNvPr id="15" name="Text 13"/>
          <p:cNvSpPr txBox="1"/>
          <p:nvPr/>
        </p:nvSpPr>
        <p:spPr>
          <a:xfrm>
            <a:off x="822960" y="3255264"/>
            <a:ext cx="2157984" cy="182880"/>
          </a:xfrm>
          <a:prstGeom prst="rect">
            <a:avLst/>
          </a:prstGeom>
          <a:noFill/>
          <a:ln/>
        </p:spPr>
        <p:txBody>
          <a:bodyPr wrap="square" lIns="0" tIns="0" rIns="0" bIns="0" rtlCol="0" anchor="ctr">
            <a:normAutofit/>
          </a:bodyPr>
          <a:lstStyle/>
          <a:p>
            <a:pPr algn="l" indent="0" marL="0">
              <a:buNone/>
            </a:pPr>
            <a:r>
              <a:rPr lang="en-US" sz="1050" dirty="0">
                <a:solidFill>
                  <a:srgbClr val="62696B"/>
                </a:solidFill>
                <a:latin typeface="Aptos" pitchFamily="34" charset="0"/>
                <a:ea typeface="Aptos" pitchFamily="34" charset="-122"/>
                <a:cs typeface="Aptos" pitchFamily="34" charset="-120"/>
              </a:rPr>
              <a:t>product + implementation</a:t>
            </a:r>
            <a:endParaRPr lang="en-US" sz="1050" dirty="0"/>
          </a:p>
        </p:txBody>
      </p:sp>
      <p:sp>
        <p:nvSpPr>
          <p:cNvPr id="16" name="Shape 14"/>
          <p:cNvSpPr/>
          <p:nvPr/>
        </p:nvSpPr>
        <p:spPr>
          <a:xfrm>
            <a:off x="3566160" y="1965960"/>
            <a:ext cx="384048" cy="384048"/>
          </a:xfrm>
          <a:prstGeom prst="ellipse">
            <a:avLst/>
          </a:prstGeom>
          <a:solidFill>
            <a:srgbClr val="5D7480"/>
          </a:solidFill>
          <a:ln w="12700">
            <a:solidFill>
              <a:srgbClr val="5D7480"/>
            </a:solidFill>
            <a:prstDash val="solid"/>
          </a:ln>
        </p:spPr>
      </p:sp>
      <p:sp>
        <p:nvSpPr>
          <p:cNvPr id="17" name="Text 15"/>
          <p:cNvSpPr txBox="1"/>
          <p:nvPr/>
        </p:nvSpPr>
        <p:spPr>
          <a:xfrm>
            <a:off x="3566160" y="1965960"/>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8" name="Shape 16"/>
          <p:cNvSpPr/>
          <p:nvPr/>
        </p:nvSpPr>
        <p:spPr>
          <a:xfrm>
            <a:off x="3474720" y="2496312"/>
            <a:ext cx="2487168" cy="1115568"/>
          </a:xfrm>
          <a:prstGeom prst="roundRect">
            <a:avLst/>
          </a:prstGeom>
          <a:solidFill>
            <a:srgbClr val="DFE7EA"/>
          </a:solidFill>
          <a:ln w="12700">
            <a:solidFill>
              <a:srgbClr val="DFE7EA"/>
            </a:solidFill>
            <a:prstDash val="solid"/>
          </a:ln>
        </p:spPr>
      </p:sp>
      <p:sp>
        <p:nvSpPr>
          <p:cNvPr id="19" name="Text 17"/>
          <p:cNvSpPr txBox="1"/>
          <p:nvPr/>
        </p:nvSpPr>
        <p:spPr>
          <a:xfrm>
            <a:off x="3639312" y="2660904"/>
            <a:ext cx="2157984" cy="210312"/>
          </a:xfrm>
          <a:prstGeom prst="rect">
            <a:avLst/>
          </a:prstGeom>
          <a:noFill/>
          <a:ln/>
        </p:spPr>
        <p:txBody>
          <a:bodyPr wrap="square" lIns="0" tIns="0" rIns="0" bIns="0" rtlCol="0" anchor="ctr">
            <a:normAutofit/>
          </a:bodyPr>
          <a:lstStyle/>
          <a:p>
            <a:pPr algn="l" indent="0" marL="0">
              <a:buNone/>
            </a:pPr>
            <a:r>
              <a:rPr lang="en-US" sz="1000" b="1" dirty="0">
                <a:solidFill>
                  <a:srgbClr val="5D7480"/>
                </a:solidFill>
                <a:latin typeface="Aptos" pitchFamily="34" charset="0"/>
                <a:ea typeface="Aptos" pitchFamily="34" charset="-122"/>
                <a:cs typeface="Aptos" pitchFamily="34" charset="-120"/>
              </a:rPr>
              <a:t>USA</a:t>
            </a:r>
            <a:endParaRPr lang="en-US" sz="1000" dirty="0"/>
          </a:p>
        </p:txBody>
      </p:sp>
      <p:sp>
        <p:nvSpPr>
          <p:cNvPr id="20" name="Text 18"/>
          <p:cNvSpPr txBox="1"/>
          <p:nvPr/>
        </p:nvSpPr>
        <p:spPr>
          <a:xfrm>
            <a:off x="3639312" y="2916936"/>
            <a:ext cx="2157984" cy="265176"/>
          </a:xfrm>
          <a:prstGeom prst="rect">
            <a:avLst/>
          </a:prstGeom>
          <a:noFill/>
          <a:ln/>
        </p:spPr>
        <p:txBody>
          <a:bodyPr wrap="square" lIns="0" tIns="0" rIns="0" bIns="0" rtlCol="0" anchor="ctr">
            <a:normAutofit/>
          </a:bodyPr>
          <a:lstStyle/>
          <a:p>
            <a:pPr algn="l" indent="0" marL="0">
              <a:buNone/>
            </a:pPr>
            <a:r>
              <a:rPr lang="en-US" sz="1700" b="1" dirty="0">
                <a:solidFill>
                  <a:srgbClr val="25292B"/>
                </a:solidFill>
                <a:latin typeface="Aptos" pitchFamily="34" charset="0"/>
                <a:ea typeface="Aptos" pitchFamily="34" charset="-122"/>
                <a:cs typeface="Aptos" pitchFamily="34" charset="-120"/>
              </a:rPr>
              <a:t>SM · Dev6</a:t>
            </a:r>
            <a:endParaRPr lang="en-US" sz="1700" dirty="0"/>
          </a:p>
        </p:txBody>
      </p:sp>
      <p:sp>
        <p:nvSpPr>
          <p:cNvPr id="21" name="Text 19"/>
          <p:cNvSpPr txBox="1"/>
          <p:nvPr/>
        </p:nvSpPr>
        <p:spPr>
          <a:xfrm>
            <a:off x="3639312" y="3255264"/>
            <a:ext cx="2157984" cy="182880"/>
          </a:xfrm>
          <a:prstGeom prst="rect">
            <a:avLst/>
          </a:prstGeom>
          <a:noFill/>
          <a:ln/>
        </p:spPr>
        <p:txBody>
          <a:bodyPr wrap="square" lIns="0" tIns="0" rIns="0" bIns="0" rtlCol="0" anchor="ctr">
            <a:normAutofit/>
          </a:bodyPr>
          <a:lstStyle/>
          <a:p>
            <a:pPr algn="l" indent="0" marL="0">
              <a:buNone/>
            </a:pPr>
            <a:r>
              <a:rPr lang="en-US" sz="1050" dirty="0">
                <a:solidFill>
                  <a:srgbClr val="62696B"/>
                </a:solidFill>
                <a:latin typeface="Aptos" pitchFamily="34" charset="0"/>
                <a:ea typeface="Aptos" pitchFamily="34" charset="-122"/>
                <a:cs typeface="Aptos" pitchFamily="34" charset="-120"/>
              </a:rPr>
              <a:t>process + exploration</a:t>
            </a:r>
            <a:endParaRPr lang="en-US" sz="1050" dirty="0"/>
          </a:p>
        </p:txBody>
      </p:sp>
      <p:sp>
        <p:nvSpPr>
          <p:cNvPr id="22" name="Shape 20"/>
          <p:cNvSpPr/>
          <p:nvPr/>
        </p:nvSpPr>
        <p:spPr>
          <a:xfrm>
            <a:off x="6382512" y="1965960"/>
            <a:ext cx="384048" cy="384048"/>
          </a:xfrm>
          <a:prstGeom prst="ellipse">
            <a:avLst/>
          </a:prstGeom>
          <a:solidFill>
            <a:srgbClr val="A3824F"/>
          </a:solidFill>
          <a:ln w="12700">
            <a:solidFill>
              <a:srgbClr val="A3824F"/>
            </a:solidFill>
            <a:prstDash val="solid"/>
          </a:ln>
        </p:spPr>
      </p:sp>
      <p:sp>
        <p:nvSpPr>
          <p:cNvPr id="23" name="Text 21"/>
          <p:cNvSpPr txBox="1"/>
          <p:nvPr/>
        </p:nvSpPr>
        <p:spPr>
          <a:xfrm>
            <a:off x="6382512" y="1965960"/>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24" name="Shape 22"/>
          <p:cNvSpPr/>
          <p:nvPr/>
        </p:nvSpPr>
        <p:spPr>
          <a:xfrm>
            <a:off x="6291072" y="2496312"/>
            <a:ext cx="2487168" cy="1115568"/>
          </a:xfrm>
          <a:prstGeom prst="roundRect">
            <a:avLst/>
          </a:prstGeom>
          <a:solidFill>
            <a:srgbClr val="ECE4D5"/>
          </a:solidFill>
          <a:ln w="12700">
            <a:solidFill>
              <a:srgbClr val="ECE4D5"/>
            </a:solidFill>
            <a:prstDash val="solid"/>
          </a:ln>
        </p:spPr>
      </p:sp>
      <p:sp>
        <p:nvSpPr>
          <p:cNvPr id="25" name="Text 23"/>
          <p:cNvSpPr txBox="1"/>
          <p:nvPr/>
        </p:nvSpPr>
        <p:spPr>
          <a:xfrm>
            <a:off x="6455664" y="2660904"/>
            <a:ext cx="2157984" cy="210312"/>
          </a:xfrm>
          <a:prstGeom prst="rect">
            <a:avLst/>
          </a:prstGeom>
          <a:noFill/>
          <a:ln/>
        </p:spPr>
        <p:txBody>
          <a:bodyPr wrap="square" lIns="0" tIns="0" rIns="0" bIns="0" rtlCol="0" anchor="ctr">
            <a:normAutofit/>
          </a:bodyPr>
          <a:lstStyle/>
          <a:p>
            <a:pPr algn="l" indent="0" marL="0">
              <a:buNone/>
            </a:pPr>
            <a:r>
              <a:rPr lang="en-US" sz="1000" b="1" dirty="0">
                <a:solidFill>
                  <a:srgbClr val="A3824F"/>
                </a:solidFill>
                <a:latin typeface="Aptos" pitchFamily="34" charset="0"/>
                <a:ea typeface="Aptos" pitchFamily="34" charset="-122"/>
                <a:cs typeface="Aptos" pitchFamily="34" charset="-120"/>
              </a:rPr>
              <a:t>INDIA</a:t>
            </a:r>
            <a:endParaRPr lang="en-US" sz="1000" dirty="0"/>
          </a:p>
        </p:txBody>
      </p:sp>
      <p:sp>
        <p:nvSpPr>
          <p:cNvPr id="26" name="Text 24"/>
          <p:cNvSpPr txBox="1"/>
          <p:nvPr/>
        </p:nvSpPr>
        <p:spPr>
          <a:xfrm>
            <a:off x="6455664" y="2916936"/>
            <a:ext cx="2157984" cy="265176"/>
          </a:xfrm>
          <a:prstGeom prst="rect">
            <a:avLst/>
          </a:prstGeom>
          <a:noFill/>
          <a:ln/>
        </p:spPr>
        <p:txBody>
          <a:bodyPr wrap="square" lIns="0" tIns="0" rIns="0" bIns="0" rtlCol="0" anchor="ctr">
            <a:normAutofit/>
          </a:bodyPr>
          <a:lstStyle/>
          <a:p>
            <a:pPr algn="l" indent="0" marL="0">
              <a:buNone/>
            </a:pPr>
            <a:r>
              <a:rPr lang="en-US" sz="1700" b="1" dirty="0">
                <a:solidFill>
                  <a:srgbClr val="25292B"/>
                </a:solidFill>
                <a:latin typeface="Aptos" pitchFamily="34" charset="0"/>
                <a:ea typeface="Aptos" pitchFamily="34" charset="-122"/>
                <a:cs typeface="Aptos" pitchFamily="34" charset="-120"/>
              </a:rPr>
              <a:t>Dev1 · Dev3</a:t>
            </a:r>
            <a:endParaRPr lang="en-US" sz="1700" dirty="0"/>
          </a:p>
        </p:txBody>
      </p:sp>
      <p:sp>
        <p:nvSpPr>
          <p:cNvPr id="27" name="Text 25"/>
          <p:cNvSpPr txBox="1"/>
          <p:nvPr/>
        </p:nvSpPr>
        <p:spPr>
          <a:xfrm>
            <a:off x="6455664" y="3255264"/>
            <a:ext cx="2157984" cy="182880"/>
          </a:xfrm>
          <a:prstGeom prst="rect">
            <a:avLst/>
          </a:prstGeom>
          <a:noFill/>
          <a:ln/>
        </p:spPr>
        <p:txBody>
          <a:bodyPr wrap="square" lIns="0" tIns="0" rIns="0" bIns="0" rtlCol="0" anchor="ctr">
            <a:normAutofit/>
          </a:bodyPr>
          <a:lstStyle/>
          <a:p>
            <a:pPr algn="l" indent="0" marL="0">
              <a:buNone/>
            </a:pPr>
            <a:r>
              <a:rPr lang="en-US" sz="1050" dirty="0">
                <a:solidFill>
                  <a:srgbClr val="62696B"/>
                </a:solidFill>
                <a:latin typeface="Aptos" pitchFamily="34" charset="0"/>
                <a:ea typeface="Aptos" pitchFamily="34" charset="-122"/>
                <a:cs typeface="Aptos" pitchFamily="34" charset="-120"/>
              </a:rPr>
              <a:t>sensor + privacy specialists</a:t>
            </a:r>
            <a:endParaRPr lang="en-US" sz="1050" dirty="0"/>
          </a:p>
        </p:txBody>
      </p:sp>
      <p:sp>
        <p:nvSpPr>
          <p:cNvPr id="28" name="Shape 26"/>
          <p:cNvSpPr/>
          <p:nvPr/>
        </p:nvSpPr>
        <p:spPr>
          <a:xfrm>
            <a:off x="9198864" y="1965960"/>
            <a:ext cx="384048" cy="384048"/>
          </a:xfrm>
          <a:prstGeom prst="ellipse">
            <a:avLst/>
          </a:prstGeom>
          <a:solidFill>
            <a:srgbClr val="9A5C49"/>
          </a:solidFill>
          <a:ln w="12700">
            <a:solidFill>
              <a:srgbClr val="9A5C49"/>
            </a:solidFill>
            <a:prstDash val="solid"/>
          </a:ln>
        </p:spPr>
      </p:sp>
      <p:sp>
        <p:nvSpPr>
          <p:cNvPr id="29" name="Text 27"/>
          <p:cNvSpPr txBox="1"/>
          <p:nvPr/>
        </p:nvSpPr>
        <p:spPr>
          <a:xfrm>
            <a:off x="9198864" y="1965960"/>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30" name="Shape 28"/>
          <p:cNvSpPr/>
          <p:nvPr/>
        </p:nvSpPr>
        <p:spPr>
          <a:xfrm>
            <a:off x="9107424" y="2496312"/>
            <a:ext cx="2487168" cy="1115568"/>
          </a:xfrm>
          <a:prstGeom prst="roundRect">
            <a:avLst/>
          </a:prstGeom>
          <a:solidFill>
            <a:srgbClr val="EEDFD8"/>
          </a:solidFill>
          <a:ln w="12700">
            <a:solidFill>
              <a:srgbClr val="EEDFD8"/>
            </a:solidFill>
            <a:prstDash val="solid"/>
          </a:ln>
        </p:spPr>
      </p:sp>
      <p:sp>
        <p:nvSpPr>
          <p:cNvPr id="31" name="Text 29"/>
          <p:cNvSpPr txBox="1"/>
          <p:nvPr/>
        </p:nvSpPr>
        <p:spPr>
          <a:xfrm>
            <a:off x="9272016" y="2660904"/>
            <a:ext cx="2157984" cy="210312"/>
          </a:xfrm>
          <a:prstGeom prst="rect">
            <a:avLst/>
          </a:prstGeom>
          <a:noFill/>
          <a:ln/>
        </p:spPr>
        <p:txBody>
          <a:bodyPr wrap="square" lIns="0" tIns="0" rIns="0" bIns="0" rtlCol="0" anchor="ctr">
            <a:normAutofit/>
          </a:bodyPr>
          <a:lstStyle/>
          <a:p>
            <a:pPr algn="l" indent="0" marL="0">
              <a:buNone/>
            </a:pPr>
            <a:r>
              <a:rPr lang="en-US" sz="1000" b="1" dirty="0">
                <a:solidFill>
                  <a:srgbClr val="9A5C49"/>
                </a:solidFill>
                <a:latin typeface="Aptos" pitchFamily="34" charset="0"/>
                <a:ea typeface="Aptos" pitchFamily="34" charset="-122"/>
                <a:cs typeface="Aptos" pitchFamily="34" charset="-120"/>
              </a:rPr>
              <a:t>JAPAN</a:t>
            </a:r>
            <a:endParaRPr lang="en-US" sz="1000" dirty="0"/>
          </a:p>
        </p:txBody>
      </p:sp>
      <p:sp>
        <p:nvSpPr>
          <p:cNvPr id="32" name="Text 30"/>
          <p:cNvSpPr txBox="1"/>
          <p:nvPr/>
        </p:nvSpPr>
        <p:spPr>
          <a:xfrm>
            <a:off x="9272016" y="2916936"/>
            <a:ext cx="2157984" cy="265176"/>
          </a:xfrm>
          <a:prstGeom prst="rect">
            <a:avLst/>
          </a:prstGeom>
          <a:noFill/>
          <a:ln/>
        </p:spPr>
        <p:txBody>
          <a:bodyPr wrap="square" lIns="0" tIns="0" rIns="0" bIns="0" rtlCol="0" anchor="ctr">
            <a:normAutofit/>
          </a:bodyPr>
          <a:lstStyle/>
          <a:p>
            <a:pPr algn="l" indent="0" marL="0">
              <a:buNone/>
            </a:pPr>
            <a:r>
              <a:rPr lang="en-US" sz="1700" b="1" dirty="0">
                <a:solidFill>
                  <a:srgbClr val="25292B"/>
                </a:solidFill>
                <a:latin typeface="Aptos" pitchFamily="34" charset="0"/>
                <a:ea typeface="Aptos" pitchFamily="34" charset="-122"/>
                <a:cs typeface="Aptos" pitchFamily="34" charset="-120"/>
              </a:rPr>
              <a:t>Dev2 · Dev4</a:t>
            </a:r>
            <a:endParaRPr lang="en-US" sz="1700" dirty="0"/>
          </a:p>
        </p:txBody>
      </p:sp>
      <p:sp>
        <p:nvSpPr>
          <p:cNvPr id="33" name="Text 31"/>
          <p:cNvSpPr txBox="1"/>
          <p:nvPr/>
        </p:nvSpPr>
        <p:spPr>
          <a:xfrm>
            <a:off x="9272016" y="3255264"/>
            <a:ext cx="2157984" cy="182880"/>
          </a:xfrm>
          <a:prstGeom prst="rect">
            <a:avLst/>
          </a:prstGeom>
          <a:noFill/>
          <a:ln/>
        </p:spPr>
        <p:txBody>
          <a:bodyPr wrap="square" lIns="0" tIns="0" rIns="0" bIns="0" rtlCol="0" anchor="ctr">
            <a:normAutofit/>
          </a:bodyPr>
          <a:lstStyle/>
          <a:p>
            <a:pPr algn="l" indent="0" marL="0">
              <a:buNone/>
            </a:pPr>
            <a:r>
              <a:rPr lang="en-US" sz="1050" dirty="0">
                <a:solidFill>
                  <a:srgbClr val="62696B"/>
                </a:solidFill>
                <a:latin typeface="Aptos" pitchFamily="34" charset="0"/>
                <a:ea typeface="Aptos" pitchFamily="34" charset="-122"/>
                <a:cs typeface="Aptos" pitchFamily="34" charset="-120"/>
              </a:rPr>
              <a:t>full-stack implementation</a:t>
            </a:r>
            <a:endParaRPr lang="en-US" sz="1050" dirty="0"/>
          </a:p>
        </p:txBody>
      </p:sp>
      <p:sp>
        <p:nvSpPr>
          <p:cNvPr id="34" name="Shape 32"/>
          <p:cNvSpPr/>
          <p:nvPr/>
        </p:nvSpPr>
        <p:spPr>
          <a:xfrm>
            <a:off x="658368" y="4041648"/>
            <a:ext cx="3703320" cy="1764792"/>
          </a:xfrm>
          <a:prstGeom prst="roundRect">
            <a:avLst/>
          </a:prstGeom>
          <a:solidFill>
            <a:srgbClr val="FFFEFA"/>
          </a:solidFill>
          <a:ln w="12700">
            <a:solidFill>
              <a:srgbClr val="D8D6CF"/>
            </a:solidFill>
            <a:prstDash val="solid"/>
          </a:ln>
        </p:spPr>
      </p:sp>
      <p:sp>
        <p:nvSpPr>
          <p:cNvPr id="35" name="Text 33"/>
          <p:cNvSpPr txBox="1"/>
          <p:nvPr/>
        </p:nvSpPr>
        <p:spPr>
          <a:xfrm>
            <a:off x="859536" y="4251960"/>
            <a:ext cx="1920240" cy="18288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BELBIN ROLE BALANCE</a:t>
            </a:r>
            <a:endParaRPr lang="en-US" sz="1000" dirty="0"/>
          </a:p>
        </p:txBody>
      </p:sp>
      <p:sp>
        <p:nvSpPr>
          <p:cNvPr id="36" name="Text 34"/>
          <p:cNvSpPr txBox="1"/>
          <p:nvPr/>
        </p:nvSpPr>
        <p:spPr>
          <a:xfrm>
            <a:off x="859536" y="4562856"/>
            <a:ext cx="1691640" cy="256032"/>
          </a:xfrm>
          <a:prstGeom prst="rect">
            <a:avLst/>
          </a:prstGeom>
          <a:noFill/>
          <a:ln/>
        </p:spPr>
        <p:txBody>
          <a:bodyPr wrap="square" lIns="0" tIns="0" rIns="0" bIns="0" rtlCol="0" anchor="ctr">
            <a:normAutofit/>
          </a:bodyPr>
          <a:lstStyle/>
          <a:p>
            <a:pPr algn="l" indent="0" marL="0">
              <a:buNone/>
            </a:pPr>
            <a:r>
              <a:rPr lang="en-US" sz="1600" b="1" dirty="0">
                <a:solidFill>
                  <a:srgbClr val="25292B"/>
                </a:solidFill>
                <a:latin typeface="Aptos" pitchFamily="34" charset="0"/>
                <a:ea typeface="Aptos" pitchFamily="34" charset="-122"/>
                <a:cs typeface="Aptos" pitchFamily="34" charset="-120"/>
              </a:rPr>
              <a:t>Strong execution</a:t>
            </a:r>
            <a:endParaRPr lang="en-US" sz="1600" dirty="0"/>
          </a:p>
        </p:txBody>
      </p:sp>
      <p:sp>
        <p:nvSpPr>
          <p:cNvPr id="37" name="Text 35"/>
          <p:cNvSpPr txBox="1"/>
          <p:nvPr/>
        </p:nvSpPr>
        <p:spPr>
          <a:xfrm>
            <a:off x="859536" y="4855464"/>
            <a:ext cx="1664208" cy="502920"/>
          </a:xfrm>
          <a:prstGeom prst="rect">
            <a:avLst/>
          </a:prstGeom>
          <a:noFill/>
          <a:ln/>
        </p:spPr>
        <p:txBody>
          <a:bodyPr wrap="square" lIns="0" tIns="0" rIns="0" bIns="0" rtlCol="0" anchor="t">
            <a:normAutofit/>
          </a:bodyPr>
          <a:lstStyle/>
          <a:p>
            <a:pPr algn="l" indent="0" marL="0">
              <a:buNone/>
            </a:pPr>
            <a:r>
              <a:rPr lang="en-US" sz="1050" dirty="0">
                <a:solidFill>
                  <a:srgbClr val="62696B"/>
                </a:solidFill>
                <a:latin typeface="Aptos" pitchFamily="34" charset="0"/>
                <a:ea typeface="Aptos" pitchFamily="34" charset="-122"/>
                <a:cs typeface="Aptos" pitchFamily="34" charset="-120"/>
              </a:rPr>
              <a:t>Many Implementers</a:t>
            </a:r>
            <a:endParaRPr lang="en-US" sz="1050" dirty="0"/>
          </a:p>
          <a:p>
            <a:pPr algn="l" indent="0" marL="0">
              <a:buNone/>
            </a:pPr>
            <a:r>
              <a:rPr lang="en-US" sz="1050" dirty="0">
                <a:solidFill>
                  <a:srgbClr val="62696B"/>
                </a:solidFill>
                <a:latin typeface="Aptos" pitchFamily="34" charset="0"/>
                <a:ea typeface="Aptos" pitchFamily="34" charset="-122"/>
                <a:cs typeface="Aptos" pitchFamily="34" charset="-120"/>
              </a:rPr>
              <a:t>and Completer Finishers</a:t>
            </a:r>
            <a:endParaRPr lang="en-US" sz="1050" dirty="0"/>
          </a:p>
        </p:txBody>
      </p:sp>
      <p:sp>
        <p:nvSpPr>
          <p:cNvPr id="38" name="Text 36"/>
          <p:cNvSpPr txBox="1"/>
          <p:nvPr/>
        </p:nvSpPr>
        <p:spPr>
          <a:xfrm>
            <a:off x="2770632" y="4562856"/>
            <a:ext cx="658368" cy="219456"/>
          </a:xfrm>
          <a:prstGeom prst="rect">
            <a:avLst/>
          </a:prstGeom>
          <a:noFill/>
          <a:ln/>
        </p:spPr>
        <p:txBody>
          <a:bodyPr wrap="square" lIns="0" tIns="0" rIns="0" bIns="0" rtlCol="0" anchor="ctr">
            <a:normAutofit/>
          </a:bodyPr>
          <a:lstStyle/>
          <a:p>
            <a:pPr algn="l" indent="0" marL="0">
              <a:buNone/>
            </a:pPr>
            <a:r>
              <a:rPr lang="en-US" sz="1100" b="1" dirty="0">
                <a:solidFill>
                  <a:srgbClr val="9A5C49"/>
                </a:solidFill>
                <a:latin typeface="Aptos" pitchFamily="34" charset="0"/>
                <a:ea typeface="Aptos" pitchFamily="34" charset="-122"/>
                <a:cs typeface="Aptos" pitchFamily="34" charset="-120"/>
              </a:rPr>
              <a:t>Missing</a:t>
            </a:r>
            <a:endParaRPr lang="en-US" sz="1100" dirty="0"/>
          </a:p>
        </p:txBody>
      </p:sp>
      <p:sp>
        <p:nvSpPr>
          <p:cNvPr id="39" name="Text 37"/>
          <p:cNvSpPr txBox="1"/>
          <p:nvPr/>
        </p:nvSpPr>
        <p:spPr>
          <a:xfrm>
            <a:off x="2770632" y="4837176"/>
            <a:ext cx="1143000" cy="603504"/>
          </a:xfrm>
          <a:prstGeom prst="rect">
            <a:avLst/>
          </a:prstGeom>
          <a:noFill/>
          <a:ln/>
        </p:spPr>
        <p:txBody>
          <a:bodyPr wrap="square" lIns="0" tIns="0" rIns="0" bIns="0" rtlCol="0" anchor="t">
            <a:normAutofit/>
          </a:bodyPr>
          <a:lstStyle/>
          <a:p>
            <a:pPr algn="l" indent="0" marL="0">
              <a:buNone/>
            </a:pPr>
            <a:r>
              <a:rPr lang="en-US" sz="1250" b="1" dirty="0">
                <a:solidFill>
                  <a:srgbClr val="9A5C49"/>
                </a:solidFill>
                <a:latin typeface="Aptos" pitchFamily="34" charset="0"/>
                <a:ea typeface="Aptos" pitchFamily="34" charset="-122"/>
                <a:cs typeface="Aptos" pitchFamily="34" charset="-120"/>
              </a:rPr>
              <a:t>Plant</a:t>
            </a:r>
            <a:endParaRPr lang="en-US" sz="1250" dirty="0"/>
          </a:p>
          <a:p>
            <a:pPr algn="l" indent="0" marL="0">
              <a:buNone/>
            </a:pPr>
            <a:r>
              <a:rPr lang="en-US" sz="1250" b="1" dirty="0">
                <a:solidFill>
                  <a:srgbClr val="9A5C49"/>
                </a:solidFill>
                <a:latin typeface="Aptos" pitchFamily="34" charset="0"/>
                <a:ea typeface="Aptos" pitchFamily="34" charset="-122"/>
                <a:cs typeface="Aptos" pitchFamily="34" charset="-120"/>
              </a:rPr>
              <a:t>Monitor Evaluator</a:t>
            </a:r>
            <a:endParaRPr lang="en-US" sz="1250" dirty="0"/>
          </a:p>
        </p:txBody>
      </p:sp>
      <p:sp>
        <p:nvSpPr>
          <p:cNvPr id="40" name="Shape 38"/>
          <p:cNvSpPr/>
          <p:nvPr/>
        </p:nvSpPr>
        <p:spPr>
          <a:xfrm>
            <a:off x="4590288" y="4041648"/>
            <a:ext cx="4553712" cy="1764792"/>
          </a:xfrm>
          <a:prstGeom prst="roundRect">
            <a:avLst/>
          </a:prstGeom>
          <a:solidFill>
            <a:srgbClr val="FFFEFA"/>
          </a:solidFill>
          <a:ln w="12700">
            <a:solidFill>
              <a:srgbClr val="D8D6CF"/>
            </a:solidFill>
            <a:prstDash val="solid"/>
          </a:ln>
        </p:spPr>
      </p:sp>
      <p:sp>
        <p:nvSpPr>
          <p:cNvPr id="41" name="Text 39"/>
          <p:cNvSpPr txBox="1"/>
          <p:nvPr/>
        </p:nvSpPr>
        <p:spPr>
          <a:xfrm>
            <a:off x="4791456" y="4251960"/>
            <a:ext cx="1920240" cy="18288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TUCKMAN DEVELOPMENT</a:t>
            </a:r>
            <a:endParaRPr lang="en-US" sz="1000" dirty="0"/>
          </a:p>
        </p:txBody>
      </p:sp>
      <p:sp>
        <p:nvSpPr>
          <p:cNvPr id="42" name="Shape 40"/>
          <p:cNvSpPr/>
          <p:nvPr/>
        </p:nvSpPr>
        <p:spPr>
          <a:xfrm>
            <a:off x="4800600" y="4681728"/>
            <a:ext cx="347472" cy="347472"/>
          </a:xfrm>
          <a:prstGeom prst="ellipse">
            <a:avLst/>
          </a:prstGeom>
          <a:solidFill>
            <a:srgbClr val="426B68"/>
          </a:solidFill>
          <a:ln w="12700">
            <a:solidFill>
              <a:srgbClr val="426B68"/>
            </a:solidFill>
            <a:prstDash val="solid"/>
          </a:ln>
        </p:spPr>
      </p:sp>
      <p:sp>
        <p:nvSpPr>
          <p:cNvPr id="43" name="Text 41"/>
          <p:cNvSpPr txBox="1"/>
          <p:nvPr/>
        </p:nvSpPr>
        <p:spPr>
          <a:xfrm>
            <a:off x="4800600" y="4681728"/>
            <a:ext cx="347472" cy="34747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44" name="Shape 42"/>
          <p:cNvSpPr/>
          <p:nvPr/>
        </p:nvSpPr>
        <p:spPr>
          <a:xfrm>
            <a:off x="5148072" y="4855464"/>
            <a:ext cx="694944" cy="0"/>
          </a:xfrm>
          <a:prstGeom prst="line">
            <a:avLst/>
          </a:prstGeom>
          <a:noFill/>
          <a:ln w="19050">
            <a:solidFill>
              <a:srgbClr val="D8D6CF"/>
            </a:solidFill>
            <a:prstDash val="solid"/>
          </a:ln>
        </p:spPr>
      </p:sp>
      <p:sp>
        <p:nvSpPr>
          <p:cNvPr id="45" name="Text 43"/>
          <p:cNvSpPr txBox="1"/>
          <p:nvPr/>
        </p:nvSpPr>
        <p:spPr>
          <a:xfrm>
            <a:off x="4599432" y="5184648"/>
            <a:ext cx="749808" cy="182880"/>
          </a:xfrm>
          <a:prstGeom prst="rect">
            <a:avLst/>
          </a:prstGeom>
          <a:noFill/>
          <a:ln/>
        </p:spPr>
        <p:txBody>
          <a:bodyPr wrap="square" lIns="0" tIns="0" rIns="0" bIns="0" rtlCol="0" anchor="ctr">
            <a:normAutofit/>
          </a:bodyPr>
          <a:lstStyle/>
          <a:p>
            <a:pPr algn="ctr" indent="0" marL="0">
              <a:buNone/>
            </a:pPr>
            <a:r>
              <a:rPr lang="en-US" sz="850" b="1" dirty="0">
                <a:solidFill>
                  <a:srgbClr val="25292B"/>
                </a:solidFill>
                <a:latin typeface="Aptos" pitchFamily="34" charset="0"/>
                <a:ea typeface="Aptos" pitchFamily="34" charset="-122"/>
                <a:cs typeface="Aptos" pitchFamily="34" charset="-120"/>
              </a:rPr>
              <a:t>FORMING</a:t>
            </a:r>
            <a:endParaRPr lang="en-US" sz="850" dirty="0"/>
          </a:p>
        </p:txBody>
      </p:sp>
      <p:sp>
        <p:nvSpPr>
          <p:cNvPr id="46" name="Shape 44"/>
          <p:cNvSpPr/>
          <p:nvPr/>
        </p:nvSpPr>
        <p:spPr>
          <a:xfrm>
            <a:off x="5833872" y="4681728"/>
            <a:ext cx="347472" cy="347472"/>
          </a:xfrm>
          <a:prstGeom prst="ellipse">
            <a:avLst/>
          </a:prstGeom>
          <a:solidFill>
            <a:srgbClr val="9A5C49"/>
          </a:solidFill>
          <a:ln w="12700">
            <a:solidFill>
              <a:srgbClr val="9A5C49"/>
            </a:solidFill>
            <a:prstDash val="solid"/>
          </a:ln>
        </p:spPr>
      </p:sp>
      <p:sp>
        <p:nvSpPr>
          <p:cNvPr id="47" name="Text 45"/>
          <p:cNvSpPr txBox="1"/>
          <p:nvPr/>
        </p:nvSpPr>
        <p:spPr>
          <a:xfrm>
            <a:off x="5833872" y="4681728"/>
            <a:ext cx="347472" cy="34747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48" name="Shape 46"/>
          <p:cNvSpPr/>
          <p:nvPr/>
        </p:nvSpPr>
        <p:spPr>
          <a:xfrm>
            <a:off x="6181344" y="4855464"/>
            <a:ext cx="694944" cy="0"/>
          </a:xfrm>
          <a:prstGeom prst="line">
            <a:avLst/>
          </a:prstGeom>
          <a:noFill/>
          <a:ln w="19050">
            <a:solidFill>
              <a:srgbClr val="D8D6CF"/>
            </a:solidFill>
            <a:prstDash val="solid"/>
          </a:ln>
        </p:spPr>
      </p:sp>
      <p:sp>
        <p:nvSpPr>
          <p:cNvPr id="49" name="Text 47"/>
          <p:cNvSpPr txBox="1"/>
          <p:nvPr/>
        </p:nvSpPr>
        <p:spPr>
          <a:xfrm>
            <a:off x="5632704" y="5184648"/>
            <a:ext cx="749808" cy="182880"/>
          </a:xfrm>
          <a:prstGeom prst="rect">
            <a:avLst/>
          </a:prstGeom>
          <a:noFill/>
          <a:ln/>
        </p:spPr>
        <p:txBody>
          <a:bodyPr wrap="square" lIns="0" tIns="0" rIns="0" bIns="0" rtlCol="0" anchor="ctr">
            <a:normAutofit/>
          </a:bodyPr>
          <a:lstStyle/>
          <a:p>
            <a:pPr algn="ctr" indent="0" marL="0">
              <a:buNone/>
            </a:pPr>
            <a:r>
              <a:rPr lang="en-US" sz="850" b="1" dirty="0">
                <a:solidFill>
                  <a:srgbClr val="25292B"/>
                </a:solidFill>
                <a:latin typeface="Aptos" pitchFamily="34" charset="0"/>
                <a:ea typeface="Aptos" pitchFamily="34" charset="-122"/>
                <a:cs typeface="Aptos" pitchFamily="34" charset="-120"/>
              </a:rPr>
              <a:t>STORMING</a:t>
            </a:r>
            <a:endParaRPr lang="en-US" sz="850" dirty="0"/>
          </a:p>
        </p:txBody>
      </p:sp>
      <p:sp>
        <p:nvSpPr>
          <p:cNvPr id="50" name="Shape 48"/>
          <p:cNvSpPr/>
          <p:nvPr/>
        </p:nvSpPr>
        <p:spPr>
          <a:xfrm>
            <a:off x="6867144" y="4681728"/>
            <a:ext cx="347472" cy="347472"/>
          </a:xfrm>
          <a:prstGeom prst="ellipse">
            <a:avLst/>
          </a:prstGeom>
          <a:solidFill>
            <a:srgbClr val="D8D6CF"/>
          </a:solidFill>
          <a:ln w="12700">
            <a:solidFill>
              <a:srgbClr val="D8D6CF"/>
            </a:solidFill>
            <a:prstDash val="solid"/>
          </a:ln>
        </p:spPr>
      </p:sp>
      <p:sp>
        <p:nvSpPr>
          <p:cNvPr id="51" name="Text 49"/>
          <p:cNvSpPr txBox="1"/>
          <p:nvPr/>
        </p:nvSpPr>
        <p:spPr>
          <a:xfrm>
            <a:off x="6867144" y="4681728"/>
            <a:ext cx="347472" cy="347472"/>
          </a:xfrm>
          <a:prstGeom prst="rect">
            <a:avLst/>
          </a:prstGeom>
          <a:noFill/>
          <a:ln/>
        </p:spPr>
        <p:txBody>
          <a:bodyPr wrap="square" lIns="0" tIns="0" rIns="0" bIns="0" rtlCol="0" anchor="ctr">
            <a:normAutofit/>
          </a:bodyPr>
          <a:lstStyle/>
          <a:p>
            <a:pPr algn="ctr" indent="0" marL="0">
              <a:buNone/>
            </a:pPr>
            <a:r>
              <a:rPr lang="en-US" sz="1000" b="1" dirty="0">
                <a:solidFill>
                  <a:srgbClr val="62696B"/>
                </a:solidFill>
                <a:latin typeface="Aptos" pitchFamily="34" charset="0"/>
                <a:ea typeface="Aptos" pitchFamily="34" charset="-122"/>
                <a:cs typeface="Aptos" pitchFamily="34" charset="-120"/>
              </a:rPr>
              <a:t>3</a:t>
            </a:r>
            <a:endParaRPr lang="en-US" sz="1000" dirty="0"/>
          </a:p>
        </p:txBody>
      </p:sp>
      <p:sp>
        <p:nvSpPr>
          <p:cNvPr id="52" name="Shape 50"/>
          <p:cNvSpPr/>
          <p:nvPr/>
        </p:nvSpPr>
        <p:spPr>
          <a:xfrm>
            <a:off x="7214616" y="4855464"/>
            <a:ext cx="694944" cy="0"/>
          </a:xfrm>
          <a:prstGeom prst="line">
            <a:avLst/>
          </a:prstGeom>
          <a:noFill/>
          <a:ln w="19050">
            <a:solidFill>
              <a:srgbClr val="D8D6CF"/>
            </a:solidFill>
            <a:prstDash val="solid"/>
          </a:ln>
        </p:spPr>
      </p:sp>
      <p:sp>
        <p:nvSpPr>
          <p:cNvPr id="53" name="Text 51"/>
          <p:cNvSpPr txBox="1"/>
          <p:nvPr/>
        </p:nvSpPr>
        <p:spPr>
          <a:xfrm>
            <a:off x="6665976" y="5184648"/>
            <a:ext cx="749808" cy="182880"/>
          </a:xfrm>
          <a:prstGeom prst="rect">
            <a:avLst/>
          </a:prstGeom>
          <a:noFill/>
          <a:ln/>
        </p:spPr>
        <p:txBody>
          <a:bodyPr wrap="square" lIns="0" tIns="0" rIns="0" bIns="0" rtlCol="0" anchor="ctr">
            <a:normAutofit/>
          </a:bodyPr>
          <a:lstStyle/>
          <a:p>
            <a:pPr algn="ctr" indent="0" marL="0">
              <a:buNone/>
            </a:pPr>
            <a:r>
              <a:rPr lang="en-US" sz="850" dirty="0">
                <a:solidFill>
                  <a:srgbClr val="62696B"/>
                </a:solidFill>
                <a:latin typeface="Aptos" pitchFamily="34" charset="0"/>
                <a:ea typeface="Aptos" pitchFamily="34" charset="-122"/>
                <a:cs typeface="Aptos" pitchFamily="34" charset="-120"/>
              </a:rPr>
              <a:t>NORMING</a:t>
            </a:r>
            <a:endParaRPr lang="en-US" sz="850" dirty="0"/>
          </a:p>
        </p:txBody>
      </p:sp>
      <p:sp>
        <p:nvSpPr>
          <p:cNvPr id="54" name="Shape 52"/>
          <p:cNvSpPr/>
          <p:nvPr/>
        </p:nvSpPr>
        <p:spPr>
          <a:xfrm>
            <a:off x="7900416" y="4681728"/>
            <a:ext cx="347472" cy="347472"/>
          </a:xfrm>
          <a:prstGeom prst="ellipse">
            <a:avLst/>
          </a:prstGeom>
          <a:solidFill>
            <a:srgbClr val="D8D6CF"/>
          </a:solidFill>
          <a:ln w="12700">
            <a:solidFill>
              <a:srgbClr val="D8D6CF"/>
            </a:solidFill>
            <a:prstDash val="solid"/>
          </a:ln>
        </p:spPr>
      </p:sp>
      <p:sp>
        <p:nvSpPr>
          <p:cNvPr id="55" name="Text 53"/>
          <p:cNvSpPr txBox="1"/>
          <p:nvPr/>
        </p:nvSpPr>
        <p:spPr>
          <a:xfrm>
            <a:off x="7900416" y="4681728"/>
            <a:ext cx="347472" cy="347472"/>
          </a:xfrm>
          <a:prstGeom prst="rect">
            <a:avLst/>
          </a:prstGeom>
          <a:noFill/>
          <a:ln/>
        </p:spPr>
        <p:txBody>
          <a:bodyPr wrap="square" lIns="0" tIns="0" rIns="0" bIns="0" rtlCol="0" anchor="ctr">
            <a:normAutofit/>
          </a:bodyPr>
          <a:lstStyle/>
          <a:p>
            <a:pPr algn="ctr" indent="0" marL="0">
              <a:buNone/>
            </a:pPr>
            <a:r>
              <a:rPr lang="en-US" sz="1000" b="1" dirty="0">
                <a:solidFill>
                  <a:srgbClr val="62696B"/>
                </a:solidFill>
                <a:latin typeface="Aptos" pitchFamily="34" charset="0"/>
                <a:ea typeface="Aptos" pitchFamily="34" charset="-122"/>
                <a:cs typeface="Aptos" pitchFamily="34" charset="-120"/>
              </a:rPr>
              <a:t>4</a:t>
            </a:r>
            <a:endParaRPr lang="en-US" sz="1000" dirty="0"/>
          </a:p>
        </p:txBody>
      </p:sp>
      <p:sp>
        <p:nvSpPr>
          <p:cNvPr id="56" name="Text 54"/>
          <p:cNvSpPr txBox="1"/>
          <p:nvPr/>
        </p:nvSpPr>
        <p:spPr>
          <a:xfrm>
            <a:off x="7699248" y="5184648"/>
            <a:ext cx="749808" cy="182880"/>
          </a:xfrm>
          <a:prstGeom prst="rect">
            <a:avLst/>
          </a:prstGeom>
          <a:noFill/>
          <a:ln/>
        </p:spPr>
        <p:txBody>
          <a:bodyPr wrap="square" lIns="0" tIns="0" rIns="0" bIns="0" rtlCol="0" anchor="ctr">
            <a:normAutofit/>
          </a:bodyPr>
          <a:lstStyle/>
          <a:p>
            <a:pPr algn="ctr" indent="0" marL="0">
              <a:buNone/>
            </a:pPr>
            <a:r>
              <a:rPr lang="en-US" sz="850" dirty="0">
                <a:solidFill>
                  <a:srgbClr val="62696B"/>
                </a:solidFill>
                <a:latin typeface="Aptos" pitchFamily="34" charset="0"/>
                <a:ea typeface="Aptos" pitchFamily="34" charset="-122"/>
                <a:cs typeface="Aptos" pitchFamily="34" charset="-120"/>
              </a:rPr>
              <a:t>PERFORMING</a:t>
            </a:r>
            <a:endParaRPr lang="en-US" sz="850" dirty="0"/>
          </a:p>
        </p:txBody>
      </p:sp>
      <p:sp>
        <p:nvSpPr>
          <p:cNvPr id="57" name="Shape 55"/>
          <p:cNvSpPr/>
          <p:nvPr/>
        </p:nvSpPr>
        <p:spPr>
          <a:xfrm>
            <a:off x="9372600" y="4041648"/>
            <a:ext cx="2157984" cy="1764792"/>
          </a:xfrm>
          <a:prstGeom prst="roundRect">
            <a:avLst/>
          </a:prstGeom>
          <a:solidFill>
            <a:srgbClr val="294947"/>
          </a:solidFill>
          <a:ln w="12700">
            <a:solidFill>
              <a:srgbClr val="294947"/>
            </a:solidFill>
            <a:prstDash val="solid"/>
          </a:ln>
        </p:spPr>
      </p:sp>
      <p:sp>
        <p:nvSpPr>
          <p:cNvPr id="58" name="Text 56"/>
          <p:cNvSpPr txBox="1"/>
          <p:nvPr/>
        </p:nvSpPr>
        <p:spPr>
          <a:xfrm>
            <a:off x="9573768" y="4251960"/>
            <a:ext cx="1737360" cy="182880"/>
          </a:xfrm>
          <a:prstGeom prst="rect">
            <a:avLst/>
          </a:prstGeom>
          <a:noFill/>
          <a:ln/>
        </p:spPr>
        <p:txBody>
          <a:bodyPr wrap="square" lIns="0" tIns="0" rIns="0" bIns="0" rtlCol="0" anchor="ctr">
            <a:normAutofit/>
          </a:bodyPr>
          <a:lstStyle/>
          <a:p>
            <a:pPr algn="l" indent="0" marL="0">
              <a:buNone/>
            </a:pPr>
            <a:r>
              <a:rPr lang="en-US" sz="1000" b="1" dirty="0">
                <a:solidFill>
                  <a:srgbClr val="DDE8E5"/>
                </a:solidFill>
                <a:latin typeface="Aptos" pitchFamily="34" charset="0"/>
                <a:ea typeface="Aptos" pitchFamily="34" charset="-122"/>
                <a:cs typeface="Aptos" pitchFamily="34" charset="-120"/>
              </a:rPr>
              <a:t>DIVERSITY PROFILE</a:t>
            </a:r>
            <a:endParaRPr lang="en-US" sz="1000" dirty="0"/>
          </a:p>
        </p:txBody>
      </p:sp>
      <p:sp>
        <p:nvSpPr>
          <p:cNvPr id="59" name="Text 57"/>
          <p:cNvSpPr txBox="1"/>
          <p:nvPr/>
        </p:nvSpPr>
        <p:spPr>
          <a:xfrm>
            <a:off x="9573768" y="4590288"/>
            <a:ext cx="1737360" cy="301752"/>
          </a:xfrm>
          <a:prstGeom prst="rect">
            <a:avLst/>
          </a:prstGeom>
          <a:noFill/>
          <a:ln/>
        </p:spPr>
        <p:txBody>
          <a:bodyPr wrap="square" lIns="0" tIns="0" rIns="0" bIns="0" rtlCol="0" anchor="ctr">
            <a:normAutofit/>
          </a:bodyPr>
          <a:lstStyle/>
          <a:p>
            <a:pPr algn="l" indent="0" marL="0">
              <a:buNone/>
            </a:pPr>
            <a:r>
              <a:rPr lang="en-US" sz="2100" dirty="0">
                <a:solidFill>
                  <a:srgbClr val="FFFFFF"/>
                </a:solidFill>
                <a:latin typeface="Georgia" pitchFamily="34" charset="0"/>
                <a:ea typeface="Georgia" pitchFamily="34" charset="-122"/>
                <a:cs typeface="Georgia" pitchFamily="34" charset="-120"/>
              </a:rPr>
              <a:t>42 years</a:t>
            </a:r>
            <a:endParaRPr lang="en-US" sz="2100" dirty="0"/>
          </a:p>
        </p:txBody>
      </p:sp>
      <p:sp>
        <p:nvSpPr>
          <p:cNvPr id="60" name="Text 58"/>
          <p:cNvSpPr txBox="1"/>
          <p:nvPr/>
        </p:nvSpPr>
        <p:spPr>
          <a:xfrm>
            <a:off x="9573768" y="4892040"/>
            <a:ext cx="1737360" cy="182880"/>
          </a:xfrm>
          <a:prstGeom prst="rect">
            <a:avLst/>
          </a:prstGeom>
          <a:noFill/>
          <a:ln/>
        </p:spPr>
        <p:txBody>
          <a:bodyPr wrap="square" lIns="0" tIns="0" rIns="0" bIns="0" rtlCol="0" anchor="ctr">
            <a:normAutofit/>
          </a:bodyPr>
          <a:lstStyle/>
          <a:p>
            <a:pPr algn="l" indent="0" marL="0">
              <a:buNone/>
            </a:pPr>
            <a:r>
              <a:rPr lang="en-US" sz="1100" dirty="0">
                <a:solidFill>
                  <a:srgbClr val="DDE8E5"/>
                </a:solidFill>
                <a:latin typeface="Aptos" pitchFamily="34" charset="0"/>
                <a:ea typeface="Aptos" pitchFamily="34" charset="-122"/>
                <a:cs typeface="Aptos" pitchFamily="34" charset="-120"/>
              </a:rPr>
              <a:t>age range</a:t>
            </a:r>
            <a:endParaRPr lang="en-US" sz="1100" dirty="0"/>
          </a:p>
        </p:txBody>
      </p:sp>
      <p:sp>
        <p:nvSpPr>
          <p:cNvPr id="61" name="Text 59"/>
          <p:cNvSpPr txBox="1"/>
          <p:nvPr/>
        </p:nvSpPr>
        <p:spPr>
          <a:xfrm>
            <a:off x="9573768" y="5266944"/>
            <a:ext cx="1554480" cy="365760"/>
          </a:xfrm>
          <a:prstGeom prst="rect">
            <a:avLst/>
          </a:prstGeom>
          <a:noFill/>
          <a:ln/>
        </p:spPr>
        <p:txBody>
          <a:bodyPr wrap="square" lIns="0" tIns="0" rIns="0" bIns="0" rtlCol="0" anchor="ctr">
            <a:normAutofit/>
          </a:bodyPr>
          <a:lstStyle/>
          <a:p>
            <a:pPr algn="l" indent="0" marL="0">
              <a:buNone/>
            </a:pPr>
            <a:r>
              <a:rPr lang="en-US" sz="1050" dirty="0">
                <a:solidFill>
                  <a:srgbClr val="FFFFFF"/>
                </a:solidFill>
                <a:latin typeface="Aptos" pitchFamily="34" charset="0"/>
                <a:ea typeface="Aptos" pitchFamily="34" charset="-122"/>
                <a:cs typeface="Aptos" pitchFamily="34" charset="-120"/>
              </a:rPr>
              <a:t>Education · DISC · experience</a:t>
            </a:r>
            <a:endParaRPr lang="en-US" sz="1050" dirty="0"/>
          </a:p>
        </p:txBody>
      </p:sp>
      <p:sp>
        <p:nvSpPr>
          <p:cNvPr id="62" name="Text 60"/>
          <p:cNvSpPr txBox="1"/>
          <p:nvPr/>
        </p:nvSpPr>
        <p:spPr>
          <a:xfrm>
            <a:off x="676656" y="6080760"/>
            <a:ext cx="5669280" cy="219456"/>
          </a:xfrm>
          <a:prstGeom prst="rect">
            <a:avLst/>
          </a:prstGeom>
          <a:noFill/>
          <a:ln/>
        </p:spPr>
        <p:txBody>
          <a:bodyPr wrap="square" lIns="0" tIns="0" rIns="0" bIns="0" rtlCol="0" anchor="ctr">
            <a:normAutofit/>
          </a:bodyPr>
          <a:lstStyle/>
          <a:p>
            <a:pPr algn="l" indent="0" marL="0">
              <a:buNone/>
            </a:pPr>
            <a:r>
              <a:rPr lang="en-US" sz="1150" i="1" dirty="0">
                <a:solidFill>
                  <a:srgbClr val="62696B"/>
                </a:solidFill>
                <a:latin typeface="Aptos" pitchFamily="34" charset="0"/>
                <a:ea typeface="Aptos" pitchFamily="34" charset="-122"/>
                <a:cs typeface="Aptos" pitchFamily="34" charset="-120"/>
              </a:rPr>
              <a:t>Models describe patterns, not people.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94360" y="320040"/>
            <a:ext cx="411480" cy="22860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04</a:t>
            </a:r>
            <a:endParaRPr lang="en-US" sz="1000" dirty="0"/>
          </a:p>
        </p:txBody>
      </p:sp>
      <p:sp>
        <p:nvSpPr>
          <p:cNvPr id="3" name="Text 1"/>
          <p:cNvSpPr txBox="1"/>
          <p:nvPr/>
        </p:nvSpPr>
        <p:spPr>
          <a:xfrm>
            <a:off x="594360" y="621792"/>
            <a:ext cx="9052560" cy="530352"/>
          </a:xfrm>
          <a:prstGeom prst="rect">
            <a:avLst/>
          </a:prstGeom>
          <a:noFill/>
          <a:ln/>
        </p:spPr>
        <p:txBody>
          <a:bodyPr wrap="square" lIns="0" tIns="0" rIns="0" bIns="0" rtlCol="0" anchor="ctr">
            <a:normAutofit/>
          </a:bodyPr>
          <a:lstStyle/>
          <a:p>
            <a:pPr algn="l" indent="0" marL="0">
              <a:buNone/>
            </a:pPr>
            <a:r>
              <a:rPr lang="en-US" sz="2500" dirty="0">
                <a:solidFill>
                  <a:srgbClr val="25292B"/>
                </a:solidFill>
                <a:latin typeface="Georgia" pitchFamily="34" charset="0"/>
                <a:ea typeface="Georgia" pitchFamily="34" charset="-122"/>
                <a:cs typeface="Georgia" pitchFamily="34" charset="-120"/>
              </a:rPr>
              <a:t>Communication Styles: Hofstede and Hall</a:t>
            </a:r>
            <a:endParaRPr lang="en-US" sz="2500" dirty="0"/>
          </a:p>
        </p:txBody>
      </p:sp>
      <p:sp>
        <p:nvSpPr>
          <p:cNvPr id="4" name="Text 2"/>
          <p:cNvSpPr txBox="1"/>
          <p:nvPr/>
        </p:nvSpPr>
        <p:spPr>
          <a:xfrm>
            <a:off x="9601200" y="384048"/>
            <a:ext cx="1965960" cy="228600"/>
          </a:xfrm>
          <a:prstGeom prst="rect">
            <a:avLst/>
          </a:prstGeom>
          <a:noFill/>
          <a:ln/>
        </p:spPr>
        <p:txBody>
          <a:bodyPr wrap="square" lIns="0" tIns="0" rIns="0" bIns="0" rtlCol="0" anchor="ctr">
            <a:normAutofit/>
          </a:bodyPr>
          <a:lstStyle/>
          <a:p>
            <a:pPr algn="r" indent="0" marL="0">
              <a:buNone/>
            </a:pPr>
            <a:r>
              <a:rPr lang="en-US" sz="1000" b="1" dirty="0">
                <a:solidFill>
                  <a:srgbClr val="62696B"/>
                </a:solidFill>
                <a:latin typeface="Aptos" pitchFamily="34" charset="0"/>
                <a:ea typeface="Aptos" pitchFamily="34" charset="-122"/>
                <a:cs typeface="Aptos" pitchFamily="34" charset="-120"/>
              </a:rPr>
              <a:t>LUCA  ·  1:10</a:t>
            </a:r>
            <a:endParaRPr lang="en-US" sz="1000" dirty="0"/>
          </a:p>
        </p:txBody>
      </p:sp>
      <p:sp>
        <p:nvSpPr>
          <p:cNvPr id="5" name="Shape 3"/>
          <p:cNvSpPr/>
          <p:nvPr/>
        </p:nvSpPr>
        <p:spPr>
          <a:xfrm>
            <a:off x="594360" y="1243584"/>
            <a:ext cx="658368" cy="50292"/>
          </a:xfrm>
          <a:prstGeom prst="rect">
            <a:avLst/>
          </a:prstGeom>
          <a:solidFill>
            <a:srgbClr val="426B68"/>
          </a:solidFill>
          <a:ln w="12700">
            <a:solidFill>
              <a:srgbClr val="426B68"/>
            </a:solidFill>
            <a:prstDash val="solid"/>
          </a:ln>
        </p:spPr>
      </p:sp>
      <p:sp>
        <p:nvSpPr>
          <p:cNvPr id="6" name="Shape 4"/>
          <p:cNvSpPr/>
          <p:nvPr/>
        </p:nvSpPr>
        <p:spPr>
          <a:xfrm>
            <a:off x="594360" y="6510528"/>
            <a:ext cx="11000232" cy="0"/>
          </a:xfrm>
          <a:prstGeom prst="line">
            <a:avLst/>
          </a:prstGeom>
          <a:noFill/>
          <a:ln w="10160">
            <a:solidFill>
              <a:srgbClr val="D8D6CF"/>
            </a:solidFill>
            <a:prstDash val="solid"/>
          </a:ln>
        </p:spPr>
      </p:sp>
      <p:sp>
        <p:nvSpPr>
          <p:cNvPr id="7" name="Text 5"/>
          <p:cNvSpPr txBox="1"/>
          <p:nvPr/>
        </p:nvSpPr>
        <p:spPr>
          <a:xfrm>
            <a:off x="594360" y="6574536"/>
            <a:ext cx="9784080" cy="164592"/>
          </a:xfrm>
          <a:prstGeom prst="rect">
            <a:avLst/>
          </a:prstGeom>
          <a:noFill/>
          <a:ln/>
        </p:spPr>
        <p:txBody>
          <a:bodyPr wrap="square" lIns="0" tIns="0" rIns="0" bIns="0" rtlCol="0" anchor="ctr">
            <a:normAutofit/>
          </a:bodyPr>
          <a:lstStyle/>
          <a:p>
            <a:pPr algn="l" indent="0" marL="0">
              <a:buNone/>
            </a:pPr>
            <a:r>
              <a:rPr lang="en-US" sz="850" dirty="0">
                <a:solidFill>
                  <a:srgbClr val="62696B"/>
                </a:solidFill>
                <a:latin typeface="Aptos" pitchFamily="34" charset="0"/>
                <a:ea typeface="Aptos" pitchFamily="34" charset="-122"/>
                <a:cs typeface="Aptos" pitchFamily="34" charset="-120"/>
              </a:rPr>
              <a:t>Sources: Hall (1976); Hofstede et al. (2010); Minkov &amp; Kaasa (2021)</a:t>
            </a:r>
            <a:endParaRPr lang="en-US" sz="850" dirty="0"/>
          </a:p>
        </p:txBody>
      </p:sp>
      <p:sp>
        <p:nvSpPr>
          <p:cNvPr id="8" name="Text 6"/>
          <p:cNvSpPr txBox="1"/>
          <p:nvPr/>
        </p:nvSpPr>
        <p:spPr>
          <a:xfrm>
            <a:off x="11201400" y="6547104"/>
            <a:ext cx="365760" cy="164592"/>
          </a:xfrm>
          <a:prstGeom prst="rect">
            <a:avLst/>
          </a:prstGeom>
          <a:noFill/>
          <a:ln/>
        </p:spPr>
        <p:txBody>
          <a:bodyPr wrap="square" lIns="0" tIns="0" rIns="0" bIns="0" rtlCol="0" anchor="ctr">
            <a:normAutofit/>
          </a:bodyPr>
          <a:lstStyle/>
          <a:p>
            <a:pPr algn="r" indent="0" marL="0">
              <a:buNone/>
            </a:pPr>
            <a:r>
              <a:rPr lang="en-US" sz="900" dirty="0">
                <a:solidFill>
                  <a:srgbClr val="62696B"/>
                </a:solidFill>
                <a:latin typeface="Aptos" pitchFamily="34" charset="0"/>
                <a:ea typeface="Aptos" pitchFamily="34" charset="-122"/>
                <a:cs typeface="Aptos" pitchFamily="34" charset="-120"/>
              </a:rPr>
              <a:t>4</a:t>
            </a:r>
            <a:endParaRPr lang="en-US" sz="900" dirty="0"/>
          </a:p>
        </p:txBody>
      </p:sp>
      <p:sp>
        <p:nvSpPr>
          <p:cNvPr id="9" name="Shape 7"/>
          <p:cNvSpPr/>
          <p:nvPr/>
        </p:nvSpPr>
        <p:spPr>
          <a:xfrm>
            <a:off x="914400" y="1581912"/>
            <a:ext cx="10369296" cy="987552"/>
          </a:xfrm>
          <a:prstGeom prst="roundRect">
            <a:avLst/>
          </a:prstGeom>
          <a:solidFill>
            <a:srgbClr val="FFFEFA"/>
          </a:solidFill>
          <a:ln w="12700">
            <a:solidFill>
              <a:srgbClr val="D8D6CF"/>
            </a:solidFill>
            <a:prstDash val="solid"/>
          </a:ln>
        </p:spPr>
      </p:sp>
      <p:sp>
        <p:nvSpPr>
          <p:cNvPr id="10" name="Text 8"/>
          <p:cNvSpPr txBox="1"/>
          <p:nvPr/>
        </p:nvSpPr>
        <p:spPr>
          <a:xfrm>
            <a:off x="1115568" y="1609344"/>
            <a:ext cx="411480" cy="603504"/>
          </a:xfrm>
          <a:prstGeom prst="rect">
            <a:avLst/>
          </a:prstGeom>
          <a:noFill/>
          <a:ln/>
        </p:spPr>
        <p:txBody>
          <a:bodyPr wrap="square" lIns="0" tIns="0" rIns="0" bIns="0" rtlCol="0" anchor="ctr">
            <a:normAutofit/>
          </a:bodyPr>
          <a:lstStyle/>
          <a:p>
            <a:pPr algn="l" indent="0" marL="0">
              <a:buNone/>
            </a:pPr>
            <a:r>
              <a:rPr lang="en-US" sz="3400" dirty="0">
                <a:solidFill>
                  <a:srgbClr val="9A5C49"/>
                </a:solidFill>
                <a:latin typeface="Georgia" pitchFamily="34" charset="0"/>
                <a:ea typeface="Georgia" pitchFamily="34" charset="-122"/>
                <a:cs typeface="Georgia" pitchFamily="34" charset="-120"/>
              </a:rPr>
              <a:t>“</a:t>
            </a:r>
            <a:endParaRPr lang="en-US" sz="3400" dirty="0"/>
          </a:p>
        </p:txBody>
      </p:sp>
      <p:sp>
        <p:nvSpPr>
          <p:cNvPr id="11" name="Text 9"/>
          <p:cNvSpPr txBox="1"/>
          <p:nvPr/>
        </p:nvSpPr>
        <p:spPr>
          <a:xfrm>
            <a:off x="1572768" y="1792224"/>
            <a:ext cx="9034272" cy="420624"/>
          </a:xfrm>
          <a:prstGeom prst="rect">
            <a:avLst/>
          </a:prstGeom>
          <a:noFill/>
          <a:ln/>
        </p:spPr>
        <p:txBody>
          <a:bodyPr wrap="square" lIns="0" tIns="0" rIns="0" bIns="0" rtlCol="0" anchor="ctr">
            <a:normAutofit/>
          </a:bodyPr>
          <a:lstStyle/>
          <a:p>
            <a:pPr algn="ctr" indent="0" marL="0">
              <a:buNone/>
            </a:pPr>
            <a:r>
              <a:rPr lang="en-US" sz="2400" dirty="0">
                <a:solidFill>
                  <a:srgbClr val="25292B"/>
                </a:solidFill>
                <a:latin typeface="Georgia" pitchFamily="34" charset="0"/>
                <a:ea typeface="Georgia" pitchFamily="34" charset="-122"/>
                <a:cs typeface="Georgia" pitchFamily="34" charset="-120"/>
              </a:rPr>
              <a:t>Why was the integration not completed?</a:t>
            </a:r>
            <a:endParaRPr lang="en-US" sz="2400" dirty="0"/>
          </a:p>
        </p:txBody>
      </p:sp>
      <p:sp>
        <p:nvSpPr>
          <p:cNvPr id="12" name="Shape 10"/>
          <p:cNvSpPr/>
          <p:nvPr/>
        </p:nvSpPr>
        <p:spPr>
          <a:xfrm>
            <a:off x="658368" y="2916936"/>
            <a:ext cx="5248656" cy="1508760"/>
          </a:xfrm>
          <a:prstGeom prst="roundRect">
            <a:avLst/>
          </a:prstGeom>
          <a:solidFill>
            <a:srgbClr val="DDE8E5"/>
          </a:solidFill>
          <a:ln w="12700">
            <a:solidFill>
              <a:srgbClr val="DDE8E5"/>
            </a:solidFill>
            <a:prstDash val="solid"/>
          </a:ln>
        </p:spPr>
      </p:sp>
      <p:sp>
        <p:nvSpPr>
          <p:cNvPr id="13" name="Text 11"/>
          <p:cNvSpPr txBox="1"/>
          <p:nvPr/>
        </p:nvSpPr>
        <p:spPr>
          <a:xfrm>
            <a:off x="896112" y="3163824"/>
            <a:ext cx="2194560" cy="182880"/>
          </a:xfrm>
          <a:prstGeom prst="rect">
            <a:avLst/>
          </a:prstGeom>
          <a:noFill/>
          <a:ln/>
        </p:spPr>
        <p:txBody>
          <a:bodyPr wrap="square" lIns="0" tIns="0" rIns="0" bIns="0" rtlCol="0" anchor="ctr">
            <a:normAutofit/>
          </a:bodyPr>
          <a:lstStyle/>
          <a:p>
            <a:pPr algn="l" indent="0" marL="0">
              <a:buNone/>
            </a:pPr>
            <a:r>
              <a:rPr lang="en-US" sz="1000" b="1" dirty="0">
                <a:solidFill>
                  <a:srgbClr val="294947"/>
                </a:solidFill>
                <a:latin typeface="Aptos" pitchFamily="34" charset="0"/>
                <a:ea typeface="Aptos" pitchFamily="34" charset="-122"/>
                <a:cs typeface="Aptos" pitchFamily="34" charset="-120"/>
              </a:rPr>
              <a:t>LOW-CONTEXT READING</a:t>
            </a:r>
            <a:endParaRPr lang="en-US" sz="1000" dirty="0"/>
          </a:p>
        </p:txBody>
      </p:sp>
      <p:sp>
        <p:nvSpPr>
          <p:cNvPr id="14" name="Text 12"/>
          <p:cNvSpPr txBox="1"/>
          <p:nvPr/>
        </p:nvSpPr>
        <p:spPr>
          <a:xfrm>
            <a:off x="896112" y="3483864"/>
            <a:ext cx="4553712" cy="329184"/>
          </a:xfrm>
          <a:prstGeom prst="rect">
            <a:avLst/>
          </a:prstGeom>
          <a:noFill/>
          <a:ln/>
        </p:spPr>
        <p:txBody>
          <a:bodyPr wrap="square" lIns="0" tIns="0" rIns="0" bIns="0" rtlCol="0" anchor="ctr">
            <a:normAutofit/>
          </a:bodyPr>
          <a:lstStyle/>
          <a:p>
            <a:pPr algn="l" indent="0" marL="0">
              <a:buNone/>
            </a:pPr>
            <a:r>
              <a:rPr lang="en-US" sz="1900" dirty="0">
                <a:solidFill>
                  <a:srgbClr val="294947"/>
                </a:solidFill>
                <a:latin typeface="Georgia" pitchFamily="34" charset="0"/>
                <a:ea typeface="Georgia" pitchFamily="34" charset="-122"/>
                <a:cs typeface="Georgia" pitchFamily="34" charset="-120"/>
              </a:rPr>
              <a:t>A precise request for facts</a:t>
            </a:r>
            <a:endParaRPr lang="en-US" sz="1900" dirty="0"/>
          </a:p>
        </p:txBody>
      </p:sp>
      <p:sp>
        <p:nvSpPr>
          <p:cNvPr id="15" name="Text 13"/>
          <p:cNvSpPr txBox="1"/>
          <p:nvPr/>
        </p:nvSpPr>
        <p:spPr>
          <a:xfrm>
            <a:off x="896112" y="3922776"/>
            <a:ext cx="4553712" cy="228600"/>
          </a:xfrm>
          <a:prstGeom prst="rect">
            <a:avLst/>
          </a:prstGeom>
          <a:noFill/>
          <a:ln/>
        </p:spPr>
        <p:txBody>
          <a:bodyPr wrap="square" lIns="0" tIns="0" rIns="0" bIns="0" rtlCol="0" anchor="ctr">
            <a:normAutofit/>
          </a:bodyPr>
          <a:lstStyle/>
          <a:p>
            <a:pPr algn="l" indent="0" marL="0">
              <a:buNone/>
            </a:pPr>
            <a:r>
              <a:rPr lang="en-US" sz="1250" dirty="0">
                <a:solidFill>
                  <a:srgbClr val="62696B"/>
                </a:solidFill>
                <a:latin typeface="Aptos" pitchFamily="34" charset="0"/>
                <a:ea typeface="Aptos" pitchFamily="34" charset="-122"/>
                <a:cs typeface="Aptos" pitchFamily="34" charset="-120"/>
              </a:rPr>
              <a:t>Meaning sits mainly in the words.</a:t>
            </a:r>
            <a:endParaRPr lang="en-US" sz="1250" dirty="0"/>
          </a:p>
        </p:txBody>
      </p:sp>
      <p:sp>
        <p:nvSpPr>
          <p:cNvPr id="16" name="Shape 14"/>
          <p:cNvSpPr/>
          <p:nvPr/>
        </p:nvSpPr>
        <p:spPr>
          <a:xfrm>
            <a:off x="6272784" y="2916936"/>
            <a:ext cx="5248656" cy="1508760"/>
          </a:xfrm>
          <a:prstGeom prst="roundRect">
            <a:avLst/>
          </a:prstGeom>
          <a:solidFill>
            <a:srgbClr val="EEDFD8"/>
          </a:solidFill>
          <a:ln w="12700">
            <a:solidFill>
              <a:srgbClr val="EEDFD8"/>
            </a:solidFill>
            <a:prstDash val="solid"/>
          </a:ln>
        </p:spPr>
      </p:sp>
      <p:sp>
        <p:nvSpPr>
          <p:cNvPr id="17" name="Text 15"/>
          <p:cNvSpPr txBox="1"/>
          <p:nvPr/>
        </p:nvSpPr>
        <p:spPr>
          <a:xfrm>
            <a:off x="6510528" y="3163824"/>
            <a:ext cx="2286000" cy="182880"/>
          </a:xfrm>
          <a:prstGeom prst="rect">
            <a:avLst/>
          </a:prstGeom>
          <a:noFill/>
          <a:ln/>
        </p:spPr>
        <p:txBody>
          <a:bodyPr wrap="square" lIns="0" tIns="0" rIns="0" bIns="0" rtlCol="0" anchor="ctr">
            <a:normAutofit/>
          </a:bodyPr>
          <a:lstStyle/>
          <a:p>
            <a:pPr algn="l" indent="0" marL="0">
              <a:buNone/>
            </a:pPr>
            <a:r>
              <a:rPr lang="en-US" sz="1000" b="1" dirty="0">
                <a:solidFill>
                  <a:srgbClr val="9A5C49"/>
                </a:solidFill>
                <a:latin typeface="Aptos" pitchFamily="34" charset="0"/>
                <a:ea typeface="Aptos" pitchFamily="34" charset="-122"/>
                <a:cs typeface="Aptos" pitchFamily="34" charset="-120"/>
              </a:rPr>
              <a:t>HIGH-CONTEXT READING</a:t>
            </a:r>
            <a:endParaRPr lang="en-US" sz="1000" dirty="0"/>
          </a:p>
        </p:txBody>
      </p:sp>
      <p:sp>
        <p:nvSpPr>
          <p:cNvPr id="18" name="Text 16"/>
          <p:cNvSpPr txBox="1"/>
          <p:nvPr/>
        </p:nvSpPr>
        <p:spPr>
          <a:xfrm>
            <a:off x="6510528" y="3483864"/>
            <a:ext cx="4553712" cy="329184"/>
          </a:xfrm>
          <a:prstGeom prst="rect">
            <a:avLst/>
          </a:prstGeom>
          <a:noFill/>
          <a:ln/>
        </p:spPr>
        <p:txBody>
          <a:bodyPr wrap="square" lIns="0" tIns="0" rIns="0" bIns="0" rtlCol="0" anchor="ctr">
            <a:normAutofit/>
          </a:bodyPr>
          <a:lstStyle/>
          <a:p>
            <a:pPr algn="l" indent="0" marL="0">
              <a:buNone/>
            </a:pPr>
            <a:r>
              <a:rPr lang="en-US" sz="1900" dirty="0">
                <a:solidFill>
                  <a:srgbClr val="9A5C49"/>
                </a:solidFill>
                <a:latin typeface="Georgia" pitchFamily="34" charset="0"/>
                <a:ea typeface="Georgia" pitchFamily="34" charset="-122"/>
                <a:cs typeface="Georgia" pitchFamily="34" charset="-120"/>
              </a:rPr>
              <a:t>Public blame and loss of face</a:t>
            </a:r>
            <a:endParaRPr lang="en-US" sz="1900" dirty="0"/>
          </a:p>
        </p:txBody>
      </p:sp>
      <p:sp>
        <p:nvSpPr>
          <p:cNvPr id="19" name="Text 17"/>
          <p:cNvSpPr txBox="1"/>
          <p:nvPr/>
        </p:nvSpPr>
        <p:spPr>
          <a:xfrm>
            <a:off x="6510528" y="3922776"/>
            <a:ext cx="4553712" cy="228600"/>
          </a:xfrm>
          <a:prstGeom prst="rect">
            <a:avLst/>
          </a:prstGeom>
          <a:noFill/>
          <a:ln/>
        </p:spPr>
        <p:txBody>
          <a:bodyPr wrap="square" lIns="0" tIns="0" rIns="0" bIns="0" rtlCol="0" anchor="ctr">
            <a:normAutofit/>
          </a:bodyPr>
          <a:lstStyle/>
          <a:p>
            <a:pPr algn="l" indent="0" marL="0">
              <a:buNone/>
            </a:pPr>
            <a:r>
              <a:rPr lang="en-US" sz="1250" dirty="0">
                <a:solidFill>
                  <a:srgbClr val="62696B"/>
                </a:solidFill>
                <a:latin typeface="Aptos" pitchFamily="34" charset="0"/>
                <a:ea typeface="Aptos" pitchFamily="34" charset="-122"/>
                <a:cs typeface="Aptos" pitchFamily="34" charset="-120"/>
              </a:rPr>
              <a:t>Audience, hierarchy and tone carry meaning.</a:t>
            </a:r>
            <a:endParaRPr lang="en-US" sz="1250" dirty="0"/>
          </a:p>
        </p:txBody>
      </p:sp>
      <p:sp>
        <p:nvSpPr>
          <p:cNvPr id="20" name="Text 18"/>
          <p:cNvSpPr txBox="1"/>
          <p:nvPr/>
        </p:nvSpPr>
        <p:spPr>
          <a:xfrm>
            <a:off x="676656" y="4818888"/>
            <a:ext cx="2743200" cy="18288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HOFSTEDE AS TESTABLE HYPOTHESES</a:t>
            </a:r>
            <a:endParaRPr lang="en-US" sz="1000" dirty="0"/>
          </a:p>
        </p:txBody>
      </p:sp>
      <p:sp>
        <p:nvSpPr>
          <p:cNvPr id="21" name="Shape 19"/>
          <p:cNvSpPr/>
          <p:nvPr/>
        </p:nvSpPr>
        <p:spPr>
          <a:xfrm>
            <a:off x="676656" y="5175504"/>
            <a:ext cx="2615184" cy="310896"/>
          </a:xfrm>
          <a:prstGeom prst="roundRect">
            <a:avLst/>
          </a:prstGeom>
          <a:solidFill>
            <a:srgbClr val="DFE7EA"/>
          </a:solidFill>
          <a:ln w="12700">
            <a:solidFill>
              <a:srgbClr val="DFE7EA"/>
            </a:solidFill>
            <a:prstDash val="solid"/>
          </a:ln>
        </p:spPr>
      </p:sp>
      <p:sp>
        <p:nvSpPr>
          <p:cNvPr id="22" name="Text 20"/>
          <p:cNvSpPr txBox="1"/>
          <p:nvPr/>
        </p:nvSpPr>
        <p:spPr>
          <a:xfrm>
            <a:off x="786384" y="5175504"/>
            <a:ext cx="2395728" cy="310896"/>
          </a:xfrm>
          <a:prstGeom prst="rect">
            <a:avLst/>
          </a:prstGeom>
          <a:noFill/>
          <a:ln/>
        </p:spPr>
        <p:txBody>
          <a:bodyPr wrap="square" lIns="0" tIns="0" rIns="0" bIns="0" rtlCol="0" anchor="ctr">
            <a:normAutofit/>
          </a:bodyPr>
          <a:lstStyle/>
          <a:p>
            <a:pPr algn="ctr" indent="0" marL="0">
              <a:buNone/>
            </a:pPr>
            <a:r>
              <a:rPr lang="en-US" sz="1000" b="1" dirty="0">
                <a:solidFill>
                  <a:srgbClr val="5D7480"/>
                </a:solidFill>
                <a:latin typeface="Aptos" pitchFamily="34" charset="0"/>
                <a:ea typeface="Aptos" pitchFamily="34" charset="-122"/>
                <a:cs typeface="Aptos" pitchFamily="34" charset="-120"/>
              </a:rPr>
              <a:t>POWER DISTANCE · speaking up</a:t>
            </a:r>
            <a:endParaRPr lang="en-US" sz="1000" dirty="0"/>
          </a:p>
        </p:txBody>
      </p:sp>
      <p:sp>
        <p:nvSpPr>
          <p:cNvPr id="23" name="Shape 21"/>
          <p:cNvSpPr/>
          <p:nvPr/>
        </p:nvSpPr>
        <p:spPr>
          <a:xfrm>
            <a:off x="3447288" y="5175504"/>
            <a:ext cx="2971800" cy="310896"/>
          </a:xfrm>
          <a:prstGeom prst="roundRect">
            <a:avLst/>
          </a:prstGeom>
          <a:solidFill>
            <a:srgbClr val="ECE4D5"/>
          </a:solidFill>
          <a:ln w="12700">
            <a:solidFill>
              <a:srgbClr val="ECE4D5"/>
            </a:solidFill>
            <a:prstDash val="solid"/>
          </a:ln>
        </p:spPr>
      </p:sp>
      <p:sp>
        <p:nvSpPr>
          <p:cNvPr id="24" name="Text 22"/>
          <p:cNvSpPr txBox="1"/>
          <p:nvPr/>
        </p:nvSpPr>
        <p:spPr>
          <a:xfrm>
            <a:off x="3557016" y="5175504"/>
            <a:ext cx="2752344" cy="310896"/>
          </a:xfrm>
          <a:prstGeom prst="rect">
            <a:avLst/>
          </a:prstGeom>
          <a:noFill/>
          <a:ln/>
        </p:spPr>
        <p:txBody>
          <a:bodyPr wrap="square" lIns="0" tIns="0" rIns="0" bIns="0" rtlCol="0" anchor="ctr">
            <a:normAutofit/>
          </a:bodyPr>
          <a:lstStyle/>
          <a:p>
            <a:pPr algn="ctr" indent="0" marL="0">
              <a:buNone/>
            </a:pPr>
            <a:r>
              <a:rPr lang="en-US" sz="1000" b="1" dirty="0">
                <a:solidFill>
                  <a:srgbClr val="A3824F"/>
                </a:solidFill>
                <a:latin typeface="Aptos" pitchFamily="34" charset="0"/>
                <a:ea typeface="Aptos" pitchFamily="34" charset="-122"/>
                <a:cs typeface="Aptos" pitchFamily="34" charset="-120"/>
              </a:rPr>
              <a:t>INDIVIDUALISM · public responsibility</a:t>
            </a:r>
            <a:endParaRPr lang="en-US" sz="1000" dirty="0"/>
          </a:p>
        </p:txBody>
      </p:sp>
      <p:sp>
        <p:nvSpPr>
          <p:cNvPr id="25" name="Shape 23"/>
          <p:cNvSpPr/>
          <p:nvPr/>
        </p:nvSpPr>
        <p:spPr>
          <a:xfrm>
            <a:off x="6565392" y="5175504"/>
            <a:ext cx="3584448" cy="310896"/>
          </a:xfrm>
          <a:prstGeom prst="roundRect">
            <a:avLst/>
          </a:prstGeom>
          <a:solidFill>
            <a:srgbClr val="DDE8E5"/>
          </a:solidFill>
          <a:ln w="12700">
            <a:solidFill>
              <a:srgbClr val="DDE8E5"/>
            </a:solidFill>
            <a:prstDash val="solid"/>
          </a:ln>
        </p:spPr>
      </p:sp>
      <p:sp>
        <p:nvSpPr>
          <p:cNvPr id="26" name="Text 24"/>
          <p:cNvSpPr txBox="1"/>
          <p:nvPr/>
        </p:nvSpPr>
        <p:spPr>
          <a:xfrm>
            <a:off x="6675120" y="5175504"/>
            <a:ext cx="3364992" cy="310896"/>
          </a:xfrm>
          <a:prstGeom prst="rect">
            <a:avLst/>
          </a:prstGeom>
          <a:noFill/>
          <a:ln/>
        </p:spPr>
        <p:txBody>
          <a:bodyPr wrap="square" lIns="0" tIns="0" rIns="0" bIns="0" rtlCol="0" anchor="ctr">
            <a:normAutofit/>
          </a:bodyPr>
          <a:lstStyle/>
          <a:p>
            <a:pPr algn="ctr" indent="0" marL="0">
              <a:buNone/>
            </a:pPr>
            <a:r>
              <a:rPr lang="en-US" sz="1000" b="1" dirty="0">
                <a:solidFill>
                  <a:srgbClr val="294947"/>
                </a:solidFill>
                <a:latin typeface="Aptos" pitchFamily="34" charset="0"/>
                <a:ea typeface="Aptos" pitchFamily="34" charset="-122"/>
                <a:cs typeface="Aptos" pitchFamily="34" charset="-120"/>
              </a:rPr>
              <a:t>LONG-TERM ORIENTATION · speed vs durability</a:t>
            </a:r>
            <a:endParaRPr lang="en-US" sz="1000" dirty="0"/>
          </a:p>
        </p:txBody>
      </p:sp>
      <p:sp>
        <p:nvSpPr>
          <p:cNvPr id="27" name="Shape 25"/>
          <p:cNvSpPr/>
          <p:nvPr/>
        </p:nvSpPr>
        <p:spPr>
          <a:xfrm>
            <a:off x="10314432" y="5065776"/>
            <a:ext cx="1207008" cy="530352"/>
          </a:xfrm>
          <a:prstGeom prst="roundRect">
            <a:avLst/>
          </a:prstGeom>
          <a:solidFill>
            <a:srgbClr val="9A5C49"/>
          </a:solidFill>
          <a:ln w="12700">
            <a:solidFill>
              <a:srgbClr val="9A5C49"/>
            </a:solidFill>
            <a:prstDash val="solid"/>
          </a:ln>
        </p:spPr>
      </p:sp>
      <p:sp>
        <p:nvSpPr>
          <p:cNvPr id="28" name="Text 26"/>
          <p:cNvSpPr txBox="1"/>
          <p:nvPr/>
        </p:nvSpPr>
        <p:spPr>
          <a:xfrm>
            <a:off x="10415016" y="5111496"/>
            <a:ext cx="1005840" cy="42062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SILENCE ≠</a:t>
            </a:r>
            <a:endParaRPr lang="en-US" sz="1000" dirty="0"/>
          </a:p>
          <a:p>
            <a:pPr algn="ctr" indent="0" marL="0">
              <a:buNone/>
            </a:pPr>
            <a:r>
              <a:rPr lang="en-US" sz="1000" b="1" dirty="0">
                <a:solidFill>
                  <a:srgbClr val="FFFFFF"/>
                </a:solidFill>
                <a:latin typeface="Aptos" pitchFamily="34" charset="0"/>
                <a:ea typeface="Aptos" pitchFamily="34" charset="-122"/>
                <a:cs typeface="Aptos" pitchFamily="34" charset="-120"/>
              </a:rPr>
              <a:t>CONSENT</a:t>
            </a:r>
            <a:endParaRPr lang="en-US" sz="1000" dirty="0"/>
          </a:p>
        </p:txBody>
      </p:sp>
      <p:sp>
        <p:nvSpPr>
          <p:cNvPr id="29" name="Text 27"/>
          <p:cNvSpPr txBox="1"/>
          <p:nvPr/>
        </p:nvSpPr>
        <p:spPr>
          <a:xfrm>
            <a:off x="676656" y="5897880"/>
            <a:ext cx="10241280" cy="283464"/>
          </a:xfrm>
          <a:prstGeom prst="rect">
            <a:avLst/>
          </a:prstGeom>
          <a:noFill/>
          <a:ln/>
        </p:spPr>
        <p:txBody>
          <a:bodyPr wrap="square" lIns="0" tIns="0" rIns="0" bIns="0" rtlCol="0" anchor="ctr">
            <a:normAutofit/>
          </a:bodyPr>
          <a:lstStyle/>
          <a:p>
            <a:pPr algn="l" indent="0" marL="0">
              <a:buNone/>
            </a:pPr>
            <a:r>
              <a:rPr lang="en-US" sz="1200" i="1" dirty="0">
                <a:solidFill>
                  <a:srgbClr val="62696B"/>
                </a:solidFill>
                <a:latin typeface="Aptos" pitchFamily="34" charset="0"/>
                <a:ea typeface="Aptos" pitchFamily="34" charset="-122"/>
                <a:cs typeface="Aptos" pitchFamily="34" charset="-120"/>
              </a:rPr>
              <a:t>Country scores describe group tendencies. Direct observation must test whether they fit this team.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94360" y="320040"/>
            <a:ext cx="411480" cy="22860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05</a:t>
            </a:r>
            <a:endParaRPr lang="en-US" sz="1000" dirty="0"/>
          </a:p>
        </p:txBody>
      </p:sp>
      <p:sp>
        <p:nvSpPr>
          <p:cNvPr id="3" name="Text 1"/>
          <p:cNvSpPr txBox="1"/>
          <p:nvPr/>
        </p:nvSpPr>
        <p:spPr>
          <a:xfrm>
            <a:off x="594360" y="621792"/>
            <a:ext cx="9052560" cy="530352"/>
          </a:xfrm>
          <a:prstGeom prst="rect">
            <a:avLst/>
          </a:prstGeom>
          <a:noFill/>
          <a:ln/>
        </p:spPr>
        <p:txBody>
          <a:bodyPr wrap="square" lIns="0" tIns="0" rIns="0" bIns="0" rtlCol="0" anchor="ctr">
            <a:normAutofit/>
          </a:bodyPr>
          <a:lstStyle/>
          <a:p>
            <a:pPr algn="l" indent="0" marL="0">
              <a:buNone/>
            </a:pPr>
            <a:r>
              <a:rPr lang="en-US" sz="2500" dirty="0">
                <a:solidFill>
                  <a:srgbClr val="25292B"/>
                </a:solidFill>
                <a:latin typeface="Georgia" pitchFamily="34" charset="0"/>
                <a:ea typeface="Georgia" pitchFamily="34" charset="-122"/>
                <a:cs typeface="Georgia" pitchFamily="34" charset="-120"/>
              </a:rPr>
              <a:t>Challenges: From Task to Relationship Conflict</a:t>
            </a:r>
            <a:endParaRPr lang="en-US" sz="2500" dirty="0"/>
          </a:p>
        </p:txBody>
      </p:sp>
      <p:sp>
        <p:nvSpPr>
          <p:cNvPr id="4" name="Text 2"/>
          <p:cNvSpPr txBox="1"/>
          <p:nvPr/>
        </p:nvSpPr>
        <p:spPr>
          <a:xfrm>
            <a:off x="9601200" y="384048"/>
            <a:ext cx="1965960" cy="228600"/>
          </a:xfrm>
          <a:prstGeom prst="rect">
            <a:avLst/>
          </a:prstGeom>
          <a:noFill/>
          <a:ln/>
        </p:spPr>
        <p:txBody>
          <a:bodyPr wrap="square" lIns="0" tIns="0" rIns="0" bIns="0" rtlCol="0" anchor="ctr">
            <a:normAutofit/>
          </a:bodyPr>
          <a:lstStyle/>
          <a:p>
            <a:pPr algn="r" indent="0" marL="0">
              <a:buNone/>
            </a:pPr>
            <a:r>
              <a:rPr lang="en-US" sz="1000" b="1" dirty="0">
                <a:solidFill>
                  <a:srgbClr val="62696B"/>
                </a:solidFill>
                <a:latin typeface="Aptos" pitchFamily="34" charset="0"/>
                <a:ea typeface="Aptos" pitchFamily="34" charset="-122"/>
                <a:cs typeface="Aptos" pitchFamily="34" charset="-120"/>
              </a:rPr>
              <a:t>ANTON  ·  1:10</a:t>
            </a:r>
            <a:endParaRPr lang="en-US" sz="1000" dirty="0"/>
          </a:p>
        </p:txBody>
      </p:sp>
      <p:sp>
        <p:nvSpPr>
          <p:cNvPr id="5" name="Shape 3"/>
          <p:cNvSpPr/>
          <p:nvPr/>
        </p:nvSpPr>
        <p:spPr>
          <a:xfrm>
            <a:off x="594360" y="1243584"/>
            <a:ext cx="658368" cy="50292"/>
          </a:xfrm>
          <a:prstGeom prst="rect">
            <a:avLst/>
          </a:prstGeom>
          <a:solidFill>
            <a:srgbClr val="426B68"/>
          </a:solidFill>
          <a:ln w="12700">
            <a:solidFill>
              <a:srgbClr val="426B68"/>
            </a:solidFill>
            <a:prstDash val="solid"/>
          </a:ln>
        </p:spPr>
      </p:sp>
      <p:sp>
        <p:nvSpPr>
          <p:cNvPr id="6" name="Shape 4"/>
          <p:cNvSpPr/>
          <p:nvPr/>
        </p:nvSpPr>
        <p:spPr>
          <a:xfrm>
            <a:off x="594360" y="6510528"/>
            <a:ext cx="11000232" cy="0"/>
          </a:xfrm>
          <a:prstGeom prst="line">
            <a:avLst/>
          </a:prstGeom>
          <a:noFill/>
          <a:ln w="10160">
            <a:solidFill>
              <a:srgbClr val="D8D6CF"/>
            </a:solidFill>
            <a:prstDash val="solid"/>
          </a:ln>
        </p:spPr>
      </p:sp>
      <p:sp>
        <p:nvSpPr>
          <p:cNvPr id="7" name="Text 5"/>
          <p:cNvSpPr txBox="1"/>
          <p:nvPr/>
        </p:nvSpPr>
        <p:spPr>
          <a:xfrm>
            <a:off x="594360" y="6574536"/>
            <a:ext cx="9784080" cy="164592"/>
          </a:xfrm>
          <a:prstGeom prst="rect">
            <a:avLst/>
          </a:prstGeom>
          <a:noFill/>
          <a:ln/>
        </p:spPr>
        <p:txBody>
          <a:bodyPr wrap="square" lIns="0" tIns="0" rIns="0" bIns="0" rtlCol="0" anchor="ctr">
            <a:normAutofit/>
          </a:bodyPr>
          <a:lstStyle/>
          <a:p>
            <a:pPr algn="l" indent="0" marL="0">
              <a:buNone/>
            </a:pPr>
            <a:r>
              <a:rPr lang="en-US" sz="850" dirty="0">
                <a:solidFill>
                  <a:srgbClr val="62696B"/>
                </a:solidFill>
                <a:latin typeface="Aptos" pitchFamily="34" charset="0"/>
                <a:ea typeface="Aptos" pitchFamily="34" charset="-122"/>
                <a:cs typeface="Aptos" pitchFamily="34" charset="-120"/>
              </a:rPr>
              <a:t>Sources: GRPI framework; Jehn et al. (1999); Abdullah (2026c)</a:t>
            </a:r>
            <a:endParaRPr lang="en-US" sz="850" dirty="0"/>
          </a:p>
        </p:txBody>
      </p:sp>
      <p:sp>
        <p:nvSpPr>
          <p:cNvPr id="8" name="Text 6"/>
          <p:cNvSpPr txBox="1"/>
          <p:nvPr/>
        </p:nvSpPr>
        <p:spPr>
          <a:xfrm>
            <a:off x="11201400" y="6547104"/>
            <a:ext cx="365760" cy="164592"/>
          </a:xfrm>
          <a:prstGeom prst="rect">
            <a:avLst/>
          </a:prstGeom>
          <a:noFill/>
          <a:ln/>
        </p:spPr>
        <p:txBody>
          <a:bodyPr wrap="square" lIns="0" tIns="0" rIns="0" bIns="0" rtlCol="0" anchor="ctr">
            <a:normAutofit/>
          </a:bodyPr>
          <a:lstStyle/>
          <a:p>
            <a:pPr algn="r" indent="0" marL="0">
              <a:buNone/>
            </a:pPr>
            <a:r>
              <a:rPr lang="en-US" sz="900" dirty="0">
                <a:solidFill>
                  <a:srgbClr val="62696B"/>
                </a:solidFill>
                <a:latin typeface="Aptos" pitchFamily="34" charset="0"/>
                <a:ea typeface="Aptos" pitchFamily="34" charset="-122"/>
                <a:cs typeface="Aptos" pitchFamily="34" charset="-120"/>
              </a:rPr>
              <a:t>5</a:t>
            </a:r>
            <a:endParaRPr lang="en-US" sz="900" dirty="0"/>
          </a:p>
        </p:txBody>
      </p:sp>
      <p:sp>
        <p:nvSpPr>
          <p:cNvPr id="9" name="Shape 7"/>
          <p:cNvSpPr/>
          <p:nvPr/>
        </p:nvSpPr>
        <p:spPr>
          <a:xfrm>
            <a:off x="658368" y="1554480"/>
            <a:ext cx="2743200" cy="1225296"/>
          </a:xfrm>
          <a:prstGeom prst="roundRect">
            <a:avLst/>
          </a:prstGeom>
          <a:solidFill>
            <a:srgbClr val="DDE8E5"/>
          </a:solidFill>
          <a:ln w="12700">
            <a:solidFill>
              <a:srgbClr val="DDE8E5"/>
            </a:solidFill>
            <a:prstDash val="solid"/>
          </a:ln>
        </p:spPr>
      </p:sp>
      <p:sp>
        <p:nvSpPr>
          <p:cNvPr id="10" name="Shape 8"/>
          <p:cNvSpPr/>
          <p:nvPr/>
        </p:nvSpPr>
        <p:spPr>
          <a:xfrm>
            <a:off x="859536" y="1773936"/>
            <a:ext cx="457200" cy="457200"/>
          </a:xfrm>
          <a:prstGeom prst="ellipse">
            <a:avLst/>
          </a:prstGeom>
          <a:solidFill>
            <a:srgbClr val="294947"/>
          </a:solidFill>
          <a:ln w="12700">
            <a:solidFill>
              <a:srgbClr val="294947"/>
            </a:solidFill>
            <a:prstDash val="solid"/>
          </a:ln>
        </p:spPr>
      </p:sp>
      <p:sp>
        <p:nvSpPr>
          <p:cNvPr id="11" name="Text 9"/>
          <p:cNvSpPr txBox="1"/>
          <p:nvPr/>
        </p:nvSpPr>
        <p:spPr>
          <a:xfrm>
            <a:off x="859536" y="1773936"/>
            <a:ext cx="45720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G</a:t>
            </a:r>
            <a:endParaRPr lang="en-US" sz="1400" dirty="0"/>
          </a:p>
        </p:txBody>
      </p:sp>
      <p:sp>
        <p:nvSpPr>
          <p:cNvPr id="12" name="Text 10"/>
          <p:cNvSpPr txBox="1"/>
          <p:nvPr/>
        </p:nvSpPr>
        <p:spPr>
          <a:xfrm>
            <a:off x="1481328" y="1755648"/>
            <a:ext cx="1691640" cy="192024"/>
          </a:xfrm>
          <a:prstGeom prst="rect">
            <a:avLst/>
          </a:prstGeom>
          <a:noFill/>
          <a:ln/>
        </p:spPr>
        <p:txBody>
          <a:bodyPr wrap="square" lIns="0" tIns="0" rIns="0" bIns="0" rtlCol="0" anchor="ctr">
            <a:normAutofit/>
          </a:bodyPr>
          <a:lstStyle/>
          <a:p>
            <a:pPr algn="l" indent="0" marL="0">
              <a:buNone/>
            </a:pPr>
            <a:r>
              <a:rPr lang="en-US" sz="1000" b="1" dirty="0">
                <a:solidFill>
                  <a:srgbClr val="294947"/>
                </a:solidFill>
                <a:latin typeface="Aptos" pitchFamily="34" charset="0"/>
                <a:ea typeface="Aptos" pitchFamily="34" charset="-122"/>
                <a:cs typeface="Aptos" pitchFamily="34" charset="-120"/>
              </a:rPr>
              <a:t>GOALS</a:t>
            </a:r>
            <a:endParaRPr lang="en-US" sz="1000" dirty="0"/>
          </a:p>
        </p:txBody>
      </p:sp>
      <p:sp>
        <p:nvSpPr>
          <p:cNvPr id="13" name="Text 11"/>
          <p:cNvSpPr txBox="1"/>
          <p:nvPr/>
        </p:nvSpPr>
        <p:spPr>
          <a:xfrm>
            <a:off x="1481328" y="2057400"/>
            <a:ext cx="1691640" cy="502920"/>
          </a:xfrm>
          <a:prstGeom prst="rect">
            <a:avLst/>
          </a:prstGeom>
          <a:noFill/>
          <a:ln/>
        </p:spPr>
        <p:txBody>
          <a:bodyPr wrap="square" lIns="0" tIns="0" rIns="0" bIns="0" rtlCol="0" anchor="t">
            <a:normAutofit/>
          </a:bodyPr>
          <a:lstStyle/>
          <a:p>
            <a:pPr algn="l" indent="0" marL="0">
              <a:buNone/>
            </a:pPr>
            <a:r>
              <a:rPr lang="en-US" sz="1350" b="1" dirty="0">
                <a:solidFill>
                  <a:srgbClr val="25292B"/>
                </a:solidFill>
                <a:latin typeface="Aptos" pitchFamily="34" charset="0"/>
                <a:ea typeface="Aptos" pitchFamily="34" charset="-122"/>
                <a:cs typeface="Aptos" pitchFamily="34" charset="-120"/>
              </a:rPr>
              <a:t>Fixed date</a:t>
            </a:r>
            <a:endParaRPr lang="en-US" sz="1350" dirty="0"/>
          </a:p>
          <a:p>
            <a:pPr algn="l" indent="0" marL="0">
              <a:buNone/>
            </a:pPr>
            <a:r>
              <a:rPr lang="en-US" sz="1350" b="1" dirty="0">
                <a:solidFill>
                  <a:srgbClr val="25292B"/>
                </a:solidFill>
                <a:latin typeface="Aptos" pitchFamily="34" charset="0"/>
                <a:ea typeface="Aptos" pitchFamily="34" charset="-122"/>
                <a:cs typeface="Aptos" pitchFamily="34" charset="-120"/>
              </a:rPr>
              <a:t>Disputed scope trade-offs</a:t>
            </a:r>
            <a:endParaRPr lang="en-US" sz="1350" dirty="0"/>
          </a:p>
        </p:txBody>
      </p:sp>
      <p:sp>
        <p:nvSpPr>
          <p:cNvPr id="14" name="Shape 12"/>
          <p:cNvSpPr/>
          <p:nvPr/>
        </p:nvSpPr>
        <p:spPr>
          <a:xfrm>
            <a:off x="3657600" y="1554480"/>
            <a:ext cx="2743200" cy="1225296"/>
          </a:xfrm>
          <a:prstGeom prst="roundRect">
            <a:avLst/>
          </a:prstGeom>
          <a:solidFill>
            <a:srgbClr val="DFE7EA"/>
          </a:solidFill>
          <a:ln w="12700">
            <a:solidFill>
              <a:srgbClr val="DFE7EA"/>
            </a:solidFill>
            <a:prstDash val="solid"/>
          </a:ln>
        </p:spPr>
      </p:sp>
      <p:sp>
        <p:nvSpPr>
          <p:cNvPr id="15" name="Shape 13"/>
          <p:cNvSpPr/>
          <p:nvPr/>
        </p:nvSpPr>
        <p:spPr>
          <a:xfrm>
            <a:off x="3858768" y="1773936"/>
            <a:ext cx="457200" cy="457200"/>
          </a:xfrm>
          <a:prstGeom prst="ellipse">
            <a:avLst/>
          </a:prstGeom>
          <a:solidFill>
            <a:srgbClr val="5D7480"/>
          </a:solidFill>
          <a:ln w="12700">
            <a:solidFill>
              <a:srgbClr val="5D7480"/>
            </a:solidFill>
            <a:prstDash val="solid"/>
          </a:ln>
        </p:spPr>
      </p:sp>
      <p:sp>
        <p:nvSpPr>
          <p:cNvPr id="16" name="Text 14"/>
          <p:cNvSpPr txBox="1"/>
          <p:nvPr/>
        </p:nvSpPr>
        <p:spPr>
          <a:xfrm>
            <a:off x="3858768" y="1773936"/>
            <a:ext cx="45720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R</a:t>
            </a:r>
            <a:endParaRPr lang="en-US" sz="1400" dirty="0"/>
          </a:p>
        </p:txBody>
      </p:sp>
      <p:sp>
        <p:nvSpPr>
          <p:cNvPr id="17" name="Text 15"/>
          <p:cNvSpPr txBox="1"/>
          <p:nvPr/>
        </p:nvSpPr>
        <p:spPr>
          <a:xfrm>
            <a:off x="4480560" y="1755648"/>
            <a:ext cx="1691640" cy="192024"/>
          </a:xfrm>
          <a:prstGeom prst="rect">
            <a:avLst/>
          </a:prstGeom>
          <a:noFill/>
          <a:ln/>
        </p:spPr>
        <p:txBody>
          <a:bodyPr wrap="square" lIns="0" tIns="0" rIns="0" bIns="0" rtlCol="0" anchor="ctr">
            <a:normAutofit/>
          </a:bodyPr>
          <a:lstStyle/>
          <a:p>
            <a:pPr algn="l" indent="0" marL="0">
              <a:buNone/>
            </a:pPr>
            <a:r>
              <a:rPr lang="en-US" sz="1000" b="1" dirty="0">
                <a:solidFill>
                  <a:srgbClr val="5D7480"/>
                </a:solidFill>
                <a:latin typeface="Aptos" pitchFamily="34" charset="0"/>
                <a:ea typeface="Aptos" pitchFamily="34" charset="-122"/>
                <a:cs typeface="Aptos" pitchFamily="34" charset="-120"/>
              </a:rPr>
              <a:t>ROLES</a:t>
            </a:r>
            <a:endParaRPr lang="en-US" sz="1000" dirty="0"/>
          </a:p>
        </p:txBody>
      </p:sp>
      <p:sp>
        <p:nvSpPr>
          <p:cNvPr id="18" name="Text 16"/>
          <p:cNvSpPr txBox="1"/>
          <p:nvPr/>
        </p:nvSpPr>
        <p:spPr>
          <a:xfrm>
            <a:off x="4480560" y="2057400"/>
            <a:ext cx="1691640" cy="502920"/>
          </a:xfrm>
          <a:prstGeom prst="rect">
            <a:avLst/>
          </a:prstGeom>
          <a:noFill/>
          <a:ln/>
        </p:spPr>
        <p:txBody>
          <a:bodyPr wrap="square" lIns="0" tIns="0" rIns="0" bIns="0" rtlCol="0" anchor="t">
            <a:normAutofit/>
          </a:bodyPr>
          <a:lstStyle/>
          <a:p>
            <a:pPr algn="l" indent="0" marL="0">
              <a:buNone/>
            </a:pPr>
            <a:r>
              <a:rPr lang="en-US" sz="1350" b="1" dirty="0">
                <a:solidFill>
                  <a:srgbClr val="25292B"/>
                </a:solidFill>
                <a:latin typeface="Aptos" pitchFamily="34" charset="0"/>
                <a:ea typeface="Aptos" pitchFamily="34" charset="-122"/>
                <a:cs typeface="Aptos" pitchFamily="34" charset="-120"/>
              </a:rPr>
              <a:t>Formal roles</a:t>
            </a:r>
            <a:endParaRPr lang="en-US" sz="1350" dirty="0"/>
          </a:p>
          <a:p>
            <a:pPr algn="l" indent="0" marL="0">
              <a:buNone/>
            </a:pPr>
            <a:r>
              <a:rPr lang="en-US" sz="1350" b="1" dirty="0">
                <a:solidFill>
                  <a:srgbClr val="25292B"/>
                </a:solidFill>
                <a:latin typeface="Aptos" pitchFamily="34" charset="0"/>
                <a:ea typeface="Aptos" pitchFamily="34" charset="-122"/>
                <a:cs typeface="Aptos" pitchFamily="34" charset="-120"/>
              </a:rPr>
              <a:t>Technical ownership diffuse</a:t>
            </a:r>
            <a:endParaRPr lang="en-US" sz="1350" dirty="0"/>
          </a:p>
        </p:txBody>
      </p:sp>
      <p:sp>
        <p:nvSpPr>
          <p:cNvPr id="19" name="Shape 17"/>
          <p:cNvSpPr/>
          <p:nvPr/>
        </p:nvSpPr>
        <p:spPr>
          <a:xfrm>
            <a:off x="658368" y="3017520"/>
            <a:ext cx="2743200" cy="1225296"/>
          </a:xfrm>
          <a:prstGeom prst="roundRect">
            <a:avLst/>
          </a:prstGeom>
          <a:solidFill>
            <a:srgbClr val="ECE4D5"/>
          </a:solidFill>
          <a:ln w="12700">
            <a:solidFill>
              <a:srgbClr val="ECE4D5"/>
            </a:solidFill>
            <a:prstDash val="solid"/>
          </a:ln>
        </p:spPr>
      </p:sp>
      <p:sp>
        <p:nvSpPr>
          <p:cNvPr id="20" name="Shape 18"/>
          <p:cNvSpPr/>
          <p:nvPr/>
        </p:nvSpPr>
        <p:spPr>
          <a:xfrm>
            <a:off x="859536" y="3236976"/>
            <a:ext cx="457200" cy="457200"/>
          </a:xfrm>
          <a:prstGeom prst="ellipse">
            <a:avLst/>
          </a:prstGeom>
          <a:solidFill>
            <a:srgbClr val="A3824F"/>
          </a:solidFill>
          <a:ln w="12700">
            <a:solidFill>
              <a:srgbClr val="A3824F"/>
            </a:solidFill>
            <a:prstDash val="solid"/>
          </a:ln>
        </p:spPr>
      </p:sp>
      <p:sp>
        <p:nvSpPr>
          <p:cNvPr id="21" name="Text 19"/>
          <p:cNvSpPr txBox="1"/>
          <p:nvPr/>
        </p:nvSpPr>
        <p:spPr>
          <a:xfrm>
            <a:off x="859536" y="3236976"/>
            <a:ext cx="45720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P</a:t>
            </a:r>
            <a:endParaRPr lang="en-US" sz="1400" dirty="0"/>
          </a:p>
        </p:txBody>
      </p:sp>
      <p:sp>
        <p:nvSpPr>
          <p:cNvPr id="22" name="Text 20"/>
          <p:cNvSpPr txBox="1"/>
          <p:nvPr/>
        </p:nvSpPr>
        <p:spPr>
          <a:xfrm>
            <a:off x="1481328" y="3218688"/>
            <a:ext cx="1691640" cy="192024"/>
          </a:xfrm>
          <a:prstGeom prst="rect">
            <a:avLst/>
          </a:prstGeom>
          <a:noFill/>
          <a:ln/>
        </p:spPr>
        <p:txBody>
          <a:bodyPr wrap="square" lIns="0" tIns="0" rIns="0" bIns="0" rtlCol="0" anchor="ctr">
            <a:normAutofit/>
          </a:bodyPr>
          <a:lstStyle/>
          <a:p>
            <a:pPr algn="l" indent="0" marL="0">
              <a:buNone/>
            </a:pPr>
            <a:r>
              <a:rPr lang="en-US" sz="1000" b="1" dirty="0">
                <a:solidFill>
                  <a:srgbClr val="A3824F"/>
                </a:solidFill>
                <a:latin typeface="Aptos" pitchFamily="34" charset="0"/>
                <a:ea typeface="Aptos" pitchFamily="34" charset="-122"/>
                <a:cs typeface="Aptos" pitchFamily="34" charset="-120"/>
              </a:rPr>
              <a:t>PROCESSES</a:t>
            </a:r>
            <a:endParaRPr lang="en-US" sz="1000" dirty="0"/>
          </a:p>
        </p:txBody>
      </p:sp>
      <p:sp>
        <p:nvSpPr>
          <p:cNvPr id="23" name="Text 21"/>
          <p:cNvSpPr txBox="1"/>
          <p:nvPr/>
        </p:nvSpPr>
        <p:spPr>
          <a:xfrm>
            <a:off x="1481328" y="3520440"/>
            <a:ext cx="1691640" cy="502920"/>
          </a:xfrm>
          <a:prstGeom prst="rect">
            <a:avLst/>
          </a:prstGeom>
          <a:noFill/>
          <a:ln/>
        </p:spPr>
        <p:txBody>
          <a:bodyPr wrap="square" lIns="0" tIns="0" rIns="0" bIns="0" rtlCol="0" anchor="t">
            <a:normAutofit/>
          </a:bodyPr>
          <a:lstStyle/>
          <a:p>
            <a:pPr algn="l" indent="0" marL="0">
              <a:buNone/>
            </a:pPr>
            <a:r>
              <a:rPr lang="en-US" sz="1350" b="1" dirty="0">
                <a:solidFill>
                  <a:srgbClr val="25292B"/>
                </a:solidFill>
                <a:latin typeface="Aptos" pitchFamily="34" charset="0"/>
                <a:ea typeface="Aptos" pitchFamily="34" charset="-122"/>
                <a:cs typeface="Aptos" pitchFamily="34" charset="-120"/>
              </a:rPr>
              <a:t>No response, decision</a:t>
            </a:r>
            <a:endParaRPr lang="en-US" sz="1350" dirty="0"/>
          </a:p>
          <a:p>
            <a:pPr algn="l" indent="0" marL="0">
              <a:buNone/>
            </a:pPr>
            <a:r>
              <a:rPr lang="en-US" sz="1350" b="1" dirty="0">
                <a:solidFill>
                  <a:srgbClr val="25292B"/>
                </a:solidFill>
                <a:latin typeface="Aptos" pitchFamily="34" charset="0"/>
                <a:ea typeface="Aptos" pitchFamily="34" charset="-122"/>
                <a:cs typeface="Aptos" pitchFamily="34" charset="-120"/>
              </a:rPr>
              <a:t>or escalation rules</a:t>
            </a:r>
            <a:endParaRPr lang="en-US" sz="1350" dirty="0"/>
          </a:p>
        </p:txBody>
      </p:sp>
      <p:sp>
        <p:nvSpPr>
          <p:cNvPr id="24" name="Shape 22"/>
          <p:cNvSpPr/>
          <p:nvPr/>
        </p:nvSpPr>
        <p:spPr>
          <a:xfrm>
            <a:off x="3657600" y="3017520"/>
            <a:ext cx="2743200" cy="1225296"/>
          </a:xfrm>
          <a:prstGeom prst="roundRect">
            <a:avLst/>
          </a:prstGeom>
          <a:solidFill>
            <a:srgbClr val="EEDFD8"/>
          </a:solidFill>
          <a:ln w="12700">
            <a:solidFill>
              <a:srgbClr val="EEDFD8"/>
            </a:solidFill>
            <a:prstDash val="solid"/>
          </a:ln>
        </p:spPr>
      </p:sp>
      <p:sp>
        <p:nvSpPr>
          <p:cNvPr id="25" name="Shape 23"/>
          <p:cNvSpPr/>
          <p:nvPr/>
        </p:nvSpPr>
        <p:spPr>
          <a:xfrm>
            <a:off x="3858768" y="3236976"/>
            <a:ext cx="457200" cy="457200"/>
          </a:xfrm>
          <a:prstGeom prst="ellipse">
            <a:avLst/>
          </a:prstGeom>
          <a:solidFill>
            <a:srgbClr val="9A5C49"/>
          </a:solidFill>
          <a:ln w="12700">
            <a:solidFill>
              <a:srgbClr val="9A5C49"/>
            </a:solidFill>
            <a:prstDash val="solid"/>
          </a:ln>
        </p:spPr>
      </p:sp>
      <p:sp>
        <p:nvSpPr>
          <p:cNvPr id="26" name="Text 24"/>
          <p:cNvSpPr txBox="1"/>
          <p:nvPr/>
        </p:nvSpPr>
        <p:spPr>
          <a:xfrm>
            <a:off x="3858768" y="3236976"/>
            <a:ext cx="45720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I</a:t>
            </a:r>
            <a:endParaRPr lang="en-US" sz="1400" dirty="0"/>
          </a:p>
        </p:txBody>
      </p:sp>
      <p:sp>
        <p:nvSpPr>
          <p:cNvPr id="27" name="Text 25"/>
          <p:cNvSpPr txBox="1"/>
          <p:nvPr/>
        </p:nvSpPr>
        <p:spPr>
          <a:xfrm>
            <a:off x="4480560" y="3218688"/>
            <a:ext cx="1691640" cy="192024"/>
          </a:xfrm>
          <a:prstGeom prst="rect">
            <a:avLst/>
          </a:prstGeom>
          <a:noFill/>
          <a:ln/>
        </p:spPr>
        <p:txBody>
          <a:bodyPr wrap="square" lIns="0" tIns="0" rIns="0" bIns="0" rtlCol="0" anchor="ctr">
            <a:normAutofit/>
          </a:bodyPr>
          <a:lstStyle/>
          <a:p>
            <a:pPr algn="l" indent="0" marL="0">
              <a:buNone/>
            </a:pPr>
            <a:r>
              <a:rPr lang="en-US" sz="1000" b="1" dirty="0">
                <a:solidFill>
                  <a:srgbClr val="9A5C49"/>
                </a:solidFill>
                <a:latin typeface="Aptos" pitchFamily="34" charset="0"/>
                <a:ea typeface="Aptos" pitchFamily="34" charset="-122"/>
                <a:cs typeface="Aptos" pitchFamily="34" charset="-120"/>
              </a:rPr>
              <a:t>RELATIONSHIPS</a:t>
            </a:r>
            <a:endParaRPr lang="en-US" sz="1000" dirty="0"/>
          </a:p>
        </p:txBody>
      </p:sp>
      <p:sp>
        <p:nvSpPr>
          <p:cNvPr id="28" name="Text 26"/>
          <p:cNvSpPr txBox="1"/>
          <p:nvPr/>
        </p:nvSpPr>
        <p:spPr>
          <a:xfrm>
            <a:off x="4480560" y="3520440"/>
            <a:ext cx="1691640" cy="502920"/>
          </a:xfrm>
          <a:prstGeom prst="rect">
            <a:avLst/>
          </a:prstGeom>
          <a:noFill/>
          <a:ln/>
        </p:spPr>
        <p:txBody>
          <a:bodyPr wrap="square" lIns="0" tIns="0" rIns="0" bIns="0" rtlCol="0" anchor="t">
            <a:normAutofit/>
          </a:bodyPr>
          <a:lstStyle/>
          <a:p>
            <a:pPr algn="l" indent="0" marL="0">
              <a:buNone/>
            </a:pPr>
            <a:r>
              <a:rPr lang="en-US" sz="1350" b="1" dirty="0">
                <a:solidFill>
                  <a:srgbClr val="25292B"/>
                </a:solidFill>
                <a:latin typeface="Aptos" pitchFamily="34" charset="0"/>
                <a:ea typeface="Aptos" pitchFamily="34" charset="-122"/>
                <a:cs typeface="Aptos" pitchFamily="34" charset="-120"/>
              </a:rPr>
              <a:t>Low trust</a:t>
            </a:r>
            <a:endParaRPr lang="en-US" sz="1350" dirty="0"/>
          </a:p>
          <a:p>
            <a:pPr algn="l" indent="0" marL="0">
              <a:buNone/>
            </a:pPr>
            <a:r>
              <a:rPr lang="en-US" sz="1350" b="1" dirty="0">
                <a:solidFill>
                  <a:srgbClr val="25292B"/>
                </a:solidFill>
                <a:latin typeface="Aptos" pitchFamily="34" charset="0"/>
                <a:ea typeface="Aptos" pitchFamily="34" charset="-122"/>
                <a:cs typeface="Aptos" pitchFamily="34" charset="-120"/>
              </a:rPr>
              <a:t>Public face threat</a:t>
            </a:r>
            <a:endParaRPr lang="en-US" sz="1350" dirty="0"/>
          </a:p>
        </p:txBody>
      </p:sp>
      <p:sp>
        <p:nvSpPr>
          <p:cNvPr id="29" name="Shape 27"/>
          <p:cNvSpPr/>
          <p:nvPr/>
        </p:nvSpPr>
        <p:spPr>
          <a:xfrm>
            <a:off x="6821424" y="1554480"/>
            <a:ext cx="4700016" cy="2743200"/>
          </a:xfrm>
          <a:prstGeom prst="roundRect">
            <a:avLst/>
          </a:prstGeom>
          <a:solidFill>
            <a:srgbClr val="FFFEFA"/>
          </a:solidFill>
          <a:ln w="12700">
            <a:solidFill>
              <a:srgbClr val="D8D6CF"/>
            </a:solidFill>
            <a:prstDash val="solid"/>
          </a:ln>
        </p:spPr>
      </p:sp>
      <p:sp>
        <p:nvSpPr>
          <p:cNvPr id="30" name="Text 28"/>
          <p:cNvSpPr txBox="1"/>
          <p:nvPr/>
        </p:nvSpPr>
        <p:spPr>
          <a:xfrm>
            <a:off x="7086600" y="1810512"/>
            <a:ext cx="1828800" cy="18288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ESCALATION PATH</a:t>
            </a:r>
            <a:endParaRPr lang="en-US" sz="1000" dirty="0"/>
          </a:p>
        </p:txBody>
      </p:sp>
      <p:sp>
        <p:nvSpPr>
          <p:cNvPr id="31" name="Shape 29"/>
          <p:cNvSpPr/>
          <p:nvPr/>
        </p:nvSpPr>
        <p:spPr>
          <a:xfrm>
            <a:off x="7114032" y="2212848"/>
            <a:ext cx="384048" cy="384048"/>
          </a:xfrm>
          <a:prstGeom prst="ellipse">
            <a:avLst/>
          </a:prstGeom>
          <a:solidFill>
            <a:srgbClr val="426B68"/>
          </a:solidFill>
          <a:ln w="12700">
            <a:solidFill>
              <a:srgbClr val="426B68"/>
            </a:solidFill>
            <a:prstDash val="solid"/>
          </a:ln>
        </p:spPr>
      </p:sp>
      <p:sp>
        <p:nvSpPr>
          <p:cNvPr id="32" name="Text 30"/>
          <p:cNvSpPr txBox="1"/>
          <p:nvPr/>
        </p:nvSpPr>
        <p:spPr>
          <a:xfrm>
            <a:off x="7114032" y="2212848"/>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33" name="Shape 31"/>
          <p:cNvSpPr/>
          <p:nvPr/>
        </p:nvSpPr>
        <p:spPr>
          <a:xfrm>
            <a:off x="7306056" y="2596896"/>
            <a:ext cx="0" cy="274320"/>
          </a:xfrm>
          <a:prstGeom prst="line">
            <a:avLst/>
          </a:prstGeom>
          <a:noFill/>
          <a:ln w="19050">
            <a:solidFill>
              <a:srgbClr val="D8D6CF"/>
            </a:solidFill>
            <a:prstDash val="solid"/>
          </a:ln>
        </p:spPr>
      </p:sp>
      <p:sp>
        <p:nvSpPr>
          <p:cNvPr id="34" name="Text 32"/>
          <p:cNvSpPr txBox="1"/>
          <p:nvPr/>
        </p:nvSpPr>
        <p:spPr>
          <a:xfrm>
            <a:off x="7735824" y="2203704"/>
            <a:ext cx="1325880" cy="201168"/>
          </a:xfrm>
          <a:prstGeom prst="rect">
            <a:avLst/>
          </a:prstGeom>
          <a:noFill/>
          <a:ln/>
        </p:spPr>
        <p:txBody>
          <a:bodyPr wrap="square" lIns="0" tIns="0" rIns="0" bIns="0" rtlCol="0" anchor="ctr">
            <a:normAutofit/>
          </a:bodyPr>
          <a:lstStyle/>
          <a:p>
            <a:pPr algn="l" indent="0" marL="0">
              <a:buNone/>
            </a:pPr>
            <a:r>
              <a:rPr lang="en-US" sz="1100" b="1" dirty="0">
                <a:solidFill>
                  <a:srgbClr val="426B68"/>
                </a:solidFill>
                <a:latin typeface="Aptos" pitchFamily="34" charset="0"/>
                <a:ea typeface="Aptos" pitchFamily="34" charset="-122"/>
                <a:cs typeface="Aptos" pitchFamily="34" charset="-120"/>
              </a:rPr>
              <a:t>TASK</a:t>
            </a:r>
            <a:endParaRPr lang="en-US" sz="1100" dirty="0"/>
          </a:p>
        </p:txBody>
      </p:sp>
      <p:sp>
        <p:nvSpPr>
          <p:cNvPr id="35" name="Text 33"/>
          <p:cNvSpPr txBox="1"/>
          <p:nvPr/>
        </p:nvSpPr>
        <p:spPr>
          <a:xfrm>
            <a:off x="8915400" y="2203704"/>
            <a:ext cx="2057400" cy="219456"/>
          </a:xfrm>
          <a:prstGeom prst="rect">
            <a:avLst/>
          </a:prstGeom>
          <a:noFill/>
          <a:ln/>
        </p:spPr>
        <p:txBody>
          <a:bodyPr wrap="square" lIns="0" tIns="0" rIns="0" bIns="0" rtlCol="0" anchor="ctr">
            <a:normAutofit/>
          </a:bodyPr>
          <a:lstStyle/>
          <a:p>
            <a:pPr algn="l" indent="0" marL="0">
              <a:buNone/>
            </a:pPr>
            <a:r>
              <a:rPr lang="en-US" sz="1250" dirty="0">
                <a:solidFill>
                  <a:srgbClr val="25292B"/>
                </a:solidFill>
                <a:latin typeface="Aptos" pitchFamily="34" charset="0"/>
                <a:ea typeface="Aptos" pitchFamily="34" charset="-122"/>
                <a:cs typeface="Aptos" pitchFamily="34" charset="-120"/>
              </a:rPr>
              <a:t>architecture choice</a:t>
            </a:r>
            <a:endParaRPr lang="en-US" sz="1250" dirty="0"/>
          </a:p>
        </p:txBody>
      </p:sp>
      <p:sp>
        <p:nvSpPr>
          <p:cNvPr id="36" name="Shape 34"/>
          <p:cNvSpPr/>
          <p:nvPr/>
        </p:nvSpPr>
        <p:spPr>
          <a:xfrm>
            <a:off x="7114032" y="2871216"/>
            <a:ext cx="384048" cy="384048"/>
          </a:xfrm>
          <a:prstGeom prst="ellipse">
            <a:avLst/>
          </a:prstGeom>
          <a:solidFill>
            <a:srgbClr val="A3824F"/>
          </a:solidFill>
          <a:ln w="12700">
            <a:solidFill>
              <a:srgbClr val="A3824F"/>
            </a:solidFill>
            <a:prstDash val="solid"/>
          </a:ln>
        </p:spPr>
      </p:sp>
      <p:sp>
        <p:nvSpPr>
          <p:cNvPr id="37" name="Text 35"/>
          <p:cNvSpPr txBox="1"/>
          <p:nvPr/>
        </p:nvSpPr>
        <p:spPr>
          <a:xfrm>
            <a:off x="7114032" y="2871216"/>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38" name="Shape 36"/>
          <p:cNvSpPr/>
          <p:nvPr/>
        </p:nvSpPr>
        <p:spPr>
          <a:xfrm>
            <a:off x="7306056" y="3255264"/>
            <a:ext cx="0" cy="274320"/>
          </a:xfrm>
          <a:prstGeom prst="line">
            <a:avLst/>
          </a:prstGeom>
          <a:noFill/>
          <a:ln w="19050">
            <a:solidFill>
              <a:srgbClr val="D8D6CF"/>
            </a:solidFill>
            <a:prstDash val="solid"/>
          </a:ln>
        </p:spPr>
      </p:sp>
      <p:sp>
        <p:nvSpPr>
          <p:cNvPr id="39" name="Text 37"/>
          <p:cNvSpPr txBox="1"/>
          <p:nvPr/>
        </p:nvSpPr>
        <p:spPr>
          <a:xfrm>
            <a:off x="7735824" y="2862072"/>
            <a:ext cx="1325880" cy="201168"/>
          </a:xfrm>
          <a:prstGeom prst="rect">
            <a:avLst/>
          </a:prstGeom>
          <a:noFill/>
          <a:ln/>
        </p:spPr>
        <p:txBody>
          <a:bodyPr wrap="square" lIns="0" tIns="0" rIns="0" bIns="0" rtlCol="0" anchor="ctr">
            <a:normAutofit/>
          </a:bodyPr>
          <a:lstStyle/>
          <a:p>
            <a:pPr algn="l" indent="0" marL="0">
              <a:buNone/>
            </a:pPr>
            <a:r>
              <a:rPr lang="en-US" sz="1100" b="1" dirty="0">
                <a:solidFill>
                  <a:srgbClr val="A3824F"/>
                </a:solidFill>
                <a:latin typeface="Aptos" pitchFamily="34" charset="0"/>
                <a:ea typeface="Aptos" pitchFamily="34" charset="-122"/>
                <a:cs typeface="Aptos" pitchFamily="34" charset="-120"/>
              </a:rPr>
              <a:t>PROCESS</a:t>
            </a:r>
            <a:endParaRPr lang="en-US" sz="1100" dirty="0"/>
          </a:p>
        </p:txBody>
      </p:sp>
      <p:sp>
        <p:nvSpPr>
          <p:cNvPr id="40" name="Text 38"/>
          <p:cNvSpPr txBox="1"/>
          <p:nvPr/>
        </p:nvSpPr>
        <p:spPr>
          <a:xfrm>
            <a:off x="8915400" y="2862072"/>
            <a:ext cx="2057400" cy="219456"/>
          </a:xfrm>
          <a:prstGeom prst="rect">
            <a:avLst/>
          </a:prstGeom>
          <a:noFill/>
          <a:ln/>
        </p:spPr>
        <p:txBody>
          <a:bodyPr wrap="square" lIns="0" tIns="0" rIns="0" bIns="0" rtlCol="0" anchor="ctr">
            <a:normAutofit/>
          </a:bodyPr>
          <a:lstStyle/>
          <a:p>
            <a:pPr algn="l" indent="0" marL="0">
              <a:buNone/>
            </a:pPr>
            <a:r>
              <a:rPr lang="en-US" sz="1250" dirty="0">
                <a:solidFill>
                  <a:srgbClr val="25292B"/>
                </a:solidFill>
                <a:latin typeface="Aptos" pitchFamily="34" charset="0"/>
                <a:ea typeface="Aptos" pitchFamily="34" charset="-122"/>
                <a:cs typeface="Aptos" pitchFamily="34" charset="-120"/>
              </a:rPr>
              <a:t>no owner or rule</a:t>
            </a:r>
            <a:endParaRPr lang="en-US" sz="1250" dirty="0"/>
          </a:p>
        </p:txBody>
      </p:sp>
      <p:sp>
        <p:nvSpPr>
          <p:cNvPr id="41" name="Shape 39"/>
          <p:cNvSpPr/>
          <p:nvPr/>
        </p:nvSpPr>
        <p:spPr>
          <a:xfrm>
            <a:off x="7114032" y="3529584"/>
            <a:ext cx="384048" cy="384048"/>
          </a:xfrm>
          <a:prstGeom prst="ellipse">
            <a:avLst/>
          </a:prstGeom>
          <a:solidFill>
            <a:srgbClr val="9A5C49"/>
          </a:solidFill>
          <a:ln w="12700">
            <a:solidFill>
              <a:srgbClr val="9A5C49"/>
            </a:solidFill>
            <a:prstDash val="solid"/>
          </a:ln>
        </p:spPr>
      </p:sp>
      <p:sp>
        <p:nvSpPr>
          <p:cNvPr id="42" name="Text 40"/>
          <p:cNvSpPr txBox="1"/>
          <p:nvPr/>
        </p:nvSpPr>
        <p:spPr>
          <a:xfrm>
            <a:off x="7114032" y="3529584"/>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43" name="Text 41"/>
          <p:cNvSpPr txBox="1"/>
          <p:nvPr/>
        </p:nvSpPr>
        <p:spPr>
          <a:xfrm>
            <a:off x="7735824" y="3520440"/>
            <a:ext cx="1325880" cy="201168"/>
          </a:xfrm>
          <a:prstGeom prst="rect">
            <a:avLst/>
          </a:prstGeom>
          <a:noFill/>
          <a:ln/>
        </p:spPr>
        <p:txBody>
          <a:bodyPr wrap="square" lIns="0" tIns="0" rIns="0" bIns="0" rtlCol="0" anchor="ctr">
            <a:normAutofit/>
          </a:bodyPr>
          <a:lstStyle/>
          <a:p>
            <a:pPr algn="l" indent="0" marL="0">
              <a:buNone/>
            </a:pPr>
            <a:r>
              <a:rPr lang="en-US" sz="1100" b="1" dirty="0">
                <a:solidFill>
                  <a:srgbClr val="9A5C49"/>
                </a:solidFill>
                <a:latin typeface="Aptos" pitchFamily="34" charset="0"/>
                <a:ea typeface="Aptos" pitchFamily="34" charset="-122"/>
                <a:cs typeface="Aptos" pitchFamily="34" charset="-120"/>
              </a:rPr>
              <a:t>RELATIONSHIP</a:t>
            </a:r>
            <a:endParaRPr lang="en-US" sz="1100" dirty="0"/>
          </a:p>
        </p:txBody>
      </p:sp>
      <p:sp>
        <p:nvSpPr>
          <p:cNvPr id="44" name="Text 42"/>
          <p:cNvSpPr txBox="1"/>
          <p:nvPr/>
        </p:nvSpPr>
        <p:spPr>
          <a:xfrm>
            <a:off x="8915400" y="3520440"/>
            <a:ext cx="2057400" cy="219456"/>
          </a:xfrm>
          <a:prstGeom prst="rect">
            <a:avLst/>
          </a:prstGeom>
          <a:noFill/>
          <a:ln/>
        </p:spPr>
        <p:txBody>
          <a:bodyPr wrap="square" lIns="0" tIns="0" rIns="0" bIns="0" rtlCol="0" anchor="ctr">
            <a:normAutofit/>
          </a:bodyPr>
          <a:lstStyle/>
          <a:p>
            <a:pPr algn="l" indent="0" marL="0">
              <a:buNone/>
            </a:pPr>
            <a:r>
              <a:rPr lang="en-US" sz="1250" dirty="0">
                <a:solidFill>
                  <a:srgbClr val="25292B"/>
                </a:solidFill>
                <a:latin typeface="Aptos" pitchFamily="34" charset="0"/>
                <a:ea typeface="Aptos" pitchFamily="34" charset="-122"/>
                <a:cs typeface="Aptos" pitchFamily="34" charset="-120"/>
              </a:rPr>
              <a:t>public correction</a:t>
            </a:r>
            <a:endParaRPr lang="en-US" sz="1250" dirty="0"/>
          </a:p>
        </p:txBody>
      </p:sp>
      <p:sp>
        <p:nvSpPr>
          <p:cNvPr id="45" name="Shape 43"/>
          <p:cNvSpPr/>
          <p:nvPr/>
        </p:nvSpPr>
        <p:spPr>
          <a:xfrm>
            <a:off x="658368" y="4700016"/>
            <a:ext cx="10863072" cy="1261872"/>
          </a:xfrm>
          <a:prstGeom prst="roundRect">
            <a:avLst/>
          </a:prstGeom>
          <a:solidFill>
            <a:srgbClr val="294947"/>
          </a:solidFill>
          <a:ln w="12700">
            <a:solidFill>
              <a:srgbClr val="294947"/>
            </a:solidFill>
            <a:prstDash val="solid"/>
          </a:ln>
        </p:spPr>
      </p:sp>
      <p:sp>
        <p:nvSpPr>
          <p:cNvPr id="46" name="Text 44"/>
          <p:cNvSpPr txBox="1"/>
          <p:nvPr/>
        </p:nvSpPr>
        <p:spPr>
          <a:xfrm>
            <a:off x="905256" y="4965192"/>
            <a:ext cx="2103120" cy="201168"/>
          </a:xfrm>
          <a:prstGeom prst="rect">
            <a:avLst/>
          </a:prstGeom>
          <a:noFill/>
          <a:ln/>
        </p:spPr>
        <p:txBody>
          <a:bodyPr wrap="square" lIns="0" tIns="0" rIns="0" bIns="0" rtlCol="0" anchor="ctr">
            <a:normAutofit/>
          </a:bodyPr>
          <a:lstStyle/>
          <a:p>
            <a:pPr algn="l" indent="0" marL="0">
              <a:buNone/>
            </a:pPr>
            <a:r>
              <a:rPr lang="en-US" sz="1100" b="1" dirty="0">
                <a:solidFill>
                  <a:srgbClr val="DDE8E5"/>
                </a:solidFill>
                <a:latin typeface="Aptos" pitchFamily="34" charset="0"/>
                <a:ea typeface="Aptos" pitchFamily="34" charset="-122"/>
                <a:cs typeface="Aptos" pitchFamily="34" charset="-120"/>
              </a:rPr>
              <a:t>PSEUDO-CONSENSUS</a:t>
            </a:r>
            <a:endParaRPr lang="en-US" sz="1100" dirty="0"/>
          </a:p>
        </p:txBody>
      </p:sp>
      <p:sp>
        <p:nvSpPr>
          <p:cNvPr id="47" name="Text 45"/>
          <p:cNvSpPr txBox="1"/>
          <p:nvPr/>
        </p:nvSpPr>
        <p:spPr>
          <a:xfrm>
            <a:off x="905256" y="5294376"/>
            <a:ext cx="4645152" cy="338328"/>
          </a:xfrm>
          <a:prstGeom prst="rect">
            <a:avLst/>
          </a:prstGeom>
          <a:noFill/>
          <a:ln/>
        </p:spPr>
        <p:txBody>
          <a:bodyPr wrap="square" lIns="0" tIns="0" rIns="0" bIns="0" rtlCol="0" anchor="ctr">
            <a:normAutofit/>
          </a:bodyPr>
          <a:lstStyle/>
          <a:p>
            <a:pPr algn="l" indent="0" marL="0">
              <a:buNone/>
            </a:pPr>
            <a:r>
              <a:rPr lang="en-US" sz="1800" dirty="0">
                <a:solidFill>
                  <a:srgbClr val="FFFFFF"/>
                </a:solidFill>
                <a:latin typeface="Georgia" pitchFamily="34" charset="0"/>
                <a:ea typeface="Georgia" pitchFamily="34" charset="-122"/>
                <a:cs typeface="Georgia" pitchFamily="34" charset="-120"/>
              </a:rPr>
              <a:t>Different perspectives exist, but never enter the decision.</a:t>
            </a:r>
            <a:endParaRPr lang="en-US" sz="1800" dirty="0"/>
          </a:p>
        </p:txBody>
      </p:sp>
      <p:sp>
        <p:nvSpPr>
          <p:cNvPr id="48" name="Shape 46"/>
          <p:cNvSpPr/>
          <p:nvPr/>
        </p:nvSpPr>
        <p:spPr>
          <a:xfrm>
            <a:off x="5925312" y="4928616"/>
            <a:ext cx="0" cy="731520"/>
          </a:xfrm>
          <a:prstGeom prst="line">
            <a:avLst/>
          </a:prstGeom>
          <a:noFill/>
          <a:ln w="12700">
            <a:solidFill>
              <a:srgbClr val="6B8B88"/>
            </a:solidFill>
            <a:prstDash val="solid"/>
          </a:ln>
        </p:spPr>
      </p:sp>
      <p:sp>
        <p:nvSpPr>
          <p:cNvPr id="49" name="Text 47"/>
          <p:cNvSpPr txBox="1"/>
          <p:nvPr/>
        </p:nvSpPr>
        <p:spPr>
          <a:xfrm>
            <a:off x="6236208" y="4965192"/>
            <a:ext cx="1600200" cy="201168"/>
          </a:xfrm>
          <a:prstGeom prst="rect">
            <a:avLst/>
          </a:prstGeom>
          <a:noFill/>
          <a:ln/>
        </p:spPr>
        <p:txBody>
          <a:bodyPr wrap="square" lIns="0" tIns="0" rIns="0" bIns="0" rtlCol="0" anchor="ctr">
            <a:normAutofit/>
          </a:bodyPr>
          <a:lstStyle/>
          <a:p>
            <a:pPr algn="l" indent="0" marL="0">
              <a:buNone/>
            </a:pPr>
            <a:r>
              <a:rPr lang="en-US" sz="1100" b="1" dirty="0">
                <a:solidFill>
                  <a:srgbClr val="DDE8E5"/>
                </a:solidFill>
                <a:latin typeface="Aptos" pitchFamily="34" charset="0"/>
                <a:ea typeface="Aptos" pitchFamily="34" charset="-122"/>
                <a:cs typeface="Aptos" pitchFamily="34" charset="-120"/>
              </a:rPr>
              <a:t>TIME-ZONE EFFECT</a:t>
            </a:r>
            <a:endParaRPr lang="en-US" sz="1100" dirty="0"/>
          </a:p>
        </p:txBody>
      </p:sp>
      <p:sp>
        <p:nvSpPr>
          <p:cNvPr id="50" name="Text 48"/>
          <p:cNvSpPr txBox="1"/>
          <p:nvPr/>
        </p:nvSpPr>
        <p:spPr>
          <a:xfrm>
            <a:off x="6236208" y="5294376"/>
            <a:ext cx="4718304" cy="338328"/>
          </a:xfrm>
          <a:prstGeom prst="rect">
            <a:avLst/>
          </a:prstGeom>
          <a:noFill/>
          <a:ln/>
        </p:spPr>
        <p:txBody>
          <a:bodyPr wrap="square" lIns="0" tIns="0" rIns="0" bIns="0" rtlCol="0" anchor="ctr">
            <a:normAutofit/>
          </a:bodyPr>
          <a:lstStyle/>
          <a:p>
            <a:pPr algn="l" indent="0" marL="0">
              <a:buNone/>
            </a:pPr>
            <a:r>
              <a:rPr lang="en-US" sz="1500" dirty="0">
                <a:solidFill>
                  <a:srgbClr val="FFFFFF"/>
                </a:solidFill>
                <a:latin typeface="Aptos" pitchFamily="34" charset="0"/>
                <a:ea typeface="Aptos" pitchFamily="34" charset="-122"/>
                <a:cs typeface="Aptos" pitchFamily="34" charset="-120"/>
              </a:rPr>
              <a:t>Specialists may be absent when live decisions are made.</a:t>
            </a:r>
            <a:endParaRPr lang="en-US" sz="1500" dirty="0"/>
          </a:p>
        </p:txBody>
      </p:sp>
      <p:sp>
        <p:nvSpPr>
          <p:cNvPr id="51" name="Text 49"/>
          <p:cNvSpPr txBox="1"/>
          <p:nvPr/>
        </p:nvSpPr>
        <p:spPr>
          <a:xfrm>
            <a:off x="676656" y="6117336"/>
            <a:ext cx="10241280" cy="201168"/>
          </a:xfrm>
          <a:prstGeom prst="rect">
            <a:avLst/>
          </a:prstGeom>
          <a:noFill/>
          <a:ln/>
        </p:spPr>
        <p:txBody>
          <a:bodyPr wrap="square" lIns="0" tIns="0" rIns="0" bIns="0" rtlCol="0" anchor="ctr">
            <a:normAutofit/>
          </a:bodyPr>
          <a:lstStyle/>
          <a:p>
            <a:pPr algn="l" indent="0" marL="0">
              <a:buNone/>
            </a:pPr>
            <a:r>
              <a:rPr lang="en-US" sz="1050" i="1" dirty="0">
                <a:solidFill>
                  <a:srgbClr val="62696B"/>
                </a:solidFill>
                <a:latin typeface="Aptos" pitchFamily="34" charset="0"/>
                <a:ea typeface="Aptos" pitchFamily="34" charset="-122"/>
                <a:cs typeface="Aptos" pitchFamily="34" charset="-120"/>
              </a:rPr>
              <a:t>Alternative explanations remain possible: technical complexity · deadline pressure · limited capacity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94360" y="320040"/>
            <a:ext cx="411480" cy="22860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06</a:t>
            </a:r>
            <a:endParaRPr lang="en-US" sz="1000" dirty="0"/>
          </a:p>
        </p:txBody>
      </p:sp>
      <p:sp>
        <p:nvSpPr>
          <p:cNvPr id="3" name="Text 1"/>
          <p:cNvSpPr txBox="1"/>
          <p:nvPr/>
        </p:nvSpPr>
        <p:spPr>
          <a:xfrm>
            <a:off x="594360" y="621792"/>
            <a:ext cx="9052560" cy="530352"/>
          </a:xfrm>
          <a:prstGeom prst="rect">
            <a:avLst/>
          </a:prstGeom>
          <a:noFill/>
          <a:ln/>
        </p:spPr>
        <p:txBody>
          <a:bodyPr wrap="square" lIns="0" tIns="0" rIns="0" bIns="0" rtlCol="0" anchor="ctr">
            <a:normAutofit/>
          </a:bodyPr>
          <a:lstStyle/>
          <a:p>
            <a:pPr algn="l" indent="0" marL="0">
              <a:buNone/>
            </a:pPr>
            <a:r>
              <a:rPr lang="en-US" sz="2500" dirty="0">
                <a:solidFill>
                  <a:srgbClr val="25292B"/>
                </a:solidFill>
                <a:latin typeface="Georgia" pitchFamily="34" charset="0"/>
                <a:ea typeface="Georgia" pitchFamily="34" charset="-122"/>
                <a:cs typeface="Georgia" pitchFamily="34" charset="-120"/>
              </a:rPr>
              <a:t>Solutions: A Shared Operating Model</a:t>
            </a:r>
            <a:endParaRPr lang="en-US" sz="2500" dirty="0"/>
          </a:p>
        </p:txBody>
      </p:sp>
      <p:sp>
        <p:nvSpPr>
          <p:cNvPr id="4" name="Text 2"/>
          <p:cNvSpPr txBox="1"/>
          <p:nvPr/>
        </p:nvSpPr>
        <p:spPr>
          <a:xfrm>
            <a:off x="9601200" y="384048"/>
            <a:ext cx="1965960" cy="228600"/>
          </a:xfrm>
          <a:prstGeom prst="rect">
            <a:avLst/>
          </a:prstGeom>
          <a:noFill/>
          <a:ln/>
        </p:spPr>
        <p:txBody>
          <a:bodyPr wrap="square" lIns="0" tIns="0" rIns="0" bIns="0" rtlCol="0" anchor="ctr">
            <a:normAutofit/>
          </a:bodyPr>
          <a:lstStyle/>
          <a:p>
            <a:pPr algn="r" indent="0" marL="0">
              <a:buNone/>
            </a:pPr>
            <a:r>
              <a:rPr lang="en-US" sz="1000" b="1" dirty="0">
                <a:solidFill>
                  <a:srgbClr val="62696B"/>
                </a:solidFill>
                <a:latin typeface="Aptos" pitchFamily="34" charset="0"/>
                <a:ea typeface="Aptos" pitchFamily="34" charset="-122"/>
                <a:cs typeface="Aptos" pitchFamily="34" charset="-120"/>
              </a:rPr>
              <a:t>JANEK  ·  1:05</a:t>
            </a:r>
            <a:endParaRPr lang="en-US" sz="1000" dirty="0"/>
          </a:p>
        </p:txBody>
      </p:sp>
      <p:sp>
        <p:nvSpPr>
          <p:cNvPr id="5" name="Shape 3"/>
          <p:cNvSpPr/>
          <p:nvPr/>
        </p:nvSpPr>
        <p:spPr>
          <a:xfrm>
            <a:off x="594360" y="1243584"/>
            <a:ext cx="658368" cy="50292"/>
          </a:xfrm>
          <a:prstGeom prst="rect">
            <a:avLst/>
          </a:prstGeom>
          <a:solidFill>
            <a:srgbClr val="426B68"/>
          </a:solidFill>
          <a:ln w="12700">
            <a:solidFill>
              <a:srgbClr val="426B68"/>
            </a:solidFill>
            <a:prstDash val="solid"/>
          </a:ln>
        </p:spPr>
      </p:sp>
      <p:sp>
        <p:nvSpPr>
          <p:cNvPr id="6" name="Shape 4"/>
          <p:cNvSpPr/>
          <p:nvPr/>
        </p:nvSpPr>
        <p:spPr>
          <a:xfrm>
            <a:off x="594360" y="6510528"/>
            <a:ext cx="11000232" cy="0"/>
          </a:xfrm>
          <a:prstGeom prst="line">
            <a:avLst/>
          </a:prstGeom>
          <a:noFill/>
          <a:ln w="10160">
            <a:solidFill>
              <a:srgbClr val="D8D6CF"/>
            </a:solidFill>
            <a:prstDash val="solid"/>
          </a:ln>
        </p:spPr>
      </p:sp>
      <p:sp>
        <p:nvSpPr>
          <p:cNvPr id="7" name="Text 5"/>
          <p:cNvSpPr txBox="1"/>
          <p:nvPr/>
        </p:nvSpPr>
        <p:spPr>
          <a:xfrm>
            <a:off x="594360" y="6574536"/>
            <a:ext cx="9784080" cy="164592"/>
          </a:xfrm>
          <a:prstGeom prst="rect">
            <a:avLst/>
          </a:prstGeom>
          <a:noFill/>
          <a:ln/>
        </p:spPr>
        <p:txBody>
          <a:bodyPr wrap="square" lIns="0" tIns="0" rIns="0" bIns="0" rtlCol="0" anchor="ctr">
            <a:normAutofit/>
          </a:bodyPr>
          <a:lstStyle/>
          <a:p>
            <a:pPr algn="l" indent="0" marL="0">
              <a:buNone/>
            </a:pPr>
            <a:r>
              <a:rPr lang="en-US" sz="850" dirty="0">
                <a:solidFill>
                  <a:srgbClr val="62696B"/>
                </a:solidFill>
                <a:latin typeface="Aptos" pitchFamily="34" charset="0"/>
                <a:ea typeface="Aptos" pitchFamily="34" charset="-122"/>
                <a:cs typeface="Aptos" pitchFamily="34" charset="-120"/>
              </a:rPr>
              <a:t>Source: G4 recommendations derived from Hall, GRPI, Belbin and conflict-management concepts</a:t>
            </a:r>
            <a:endParaRPr lang="en-US" sz="850" dirty="0"/>
          </a:p>
        </p:txBody>
      </p:sp>
      <p:sp>
        <p:nvSpPr>
          <p:cNvPr id="8" name="Text 6"/>
          <p:cNvSpPr txBox="1"/>
          <p:nvPr/>
        </p:nvSpPr>
        <p:spPr>
          <a:xfrm>
            <a:off x="11201400" y="6547104"/>
            <a:ext cx="365760" cy="164592"/>
          </a:xfrm>
          <a:prstGeom prst="rect">
            <a:avLst/>
          </a:prstGeom>
          <a:noFill/>
          <a:ln/>
        </p:spPr>
        <p:txBody>
          <a:bodyPr wrap="square" lIns="0" tIns="0" rIns="0" bIns="0" rtlCol="0" anchor="ctr">
            <a:normAutofit/>
          </a:bodyPr>
          <a:lstStyle/>
          <a:p>
            <a:pPr algn="r" indent="0" marL="0">
              <a:buNone/>
            </a:pPr>
            <a:r>
              <a:rPr lang="en-US" sz="900" dirty="0">
                <a:solidFill>
                  <a:srgbClr val="62696B"/>
                </a:solidFill>
                <a:latin typeface="Aptos" pitchFamily="34" charset="0"/>
                <a:ea typeface="Aptos" pitchFamily="34" charset="-122"/>
                <a:cs typeface="Aptos" pitchFamily="34" charset="-120"/>
              </a:rPr>
              <a:t>6</a:t>
            </a:r>
            <a:endParaRPr lang="en-US" sz="900" dirty="0"/>
          </a:p>
        </p:txBody>
      </p:sp>
      <p:sp>
        <p:nvSpPr>
          <p:cNvPr id="9" name="Text 7"/>
          <p:cNvSpPr txBox="1"/>
          <p:nvPr/>
        </p:nvSpPr>
        <p:spPr>
          <a:xfrm>
            <a:off x="658368" y="1536192"/>
            <a:ext cx="2240280" cy="18288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ASYNC DECISION PROTOCOL</a:t>
            </a:r>
            <a:endParaRPr lang="en-US" sz="1000" dirty="0"/>
          </a:p>
        </p:txBody>
      </p:sp>
      <p:sp>
        <p:nvSpPr>
          <p:cNvPr id="10" name="Shape 8"/>
          <p:cNvSpPr/>
          <p:nvPr/>
        </p:nvSpPr>
        <p:spPr>
          <a:xfrm>
            <a:off x="658368" y="1865376"/>
            <a:ext cx="2395728" cy="1316736"/>
          </a:xfrm>
          <a:prstGeom prst="roundRect">
            <a:avLst/>
          </a:prstGeom>
          <a:solidFill>
            <a:srgbClr val="DDE8E5"/>
          </a:solidFill>
          <a:ln w="12700">
            <a:solidFill>
              <a:srgbClr val="DDE8E5"/>
            </a:solidFill>
            <a:prstDash val="solid"/>
          </a:ln>
        </p:spPr>
      </p:sp>
      <p:sp>
        <p:nvSpPr>
          <p:cNvPr id="11" name="Text 9"/>
          <p:cNvSpPr txBox="1"/>
          <p:nvPr/>
        </p:nvSpPr>
        <p:spPr>
          <a:xfrm>
            <a:off x="822960" y="2039112"/>
            <a:ext cx="384048" cy="201168"/>
          </a:xfrm>
          <a:prstGeom prst="rect">
            <a:avLst/>
          </a:prstGeom>
          <a:noFill/>
          <a:ln/>
        </p:spPr>
        <p:txBody>
          <a:bodyPr wrap="square" lIns="0" tIns="0" rIns="0" bIns="0" rtlCol="0" anchor="ctr">
            <a:normAutofit/>
          </a:bodyPr>
          <a:lstStyle/>
          <a:p>
            <a:pPr algn="l" indent="0" marL="0">
              <a:buNone/>
            </a:pPr>
            <a:r>
              <a:rPr lang="en-US" sz="950" b="1" dirty="0">
                <a:solidFill>
                  <a:srgbClr val="294947"/>
                </a:solidFill>
                <a:latin typeface="Aptos" pitchFamily="34" charset="0"/>
                <a:ea typeface="Aptos" pitchFamily="34" charset="-122"/>
                <a:cs typeface="Aptos" pitchFamily="34" charset="-120"/>
              </a:rPr>
              <a:t>01</a:t>
            </a:r>
            <a:endParaRPr lang="en-US" sz="950" dirty="0"/>
          </a:p>
        </p:txBody>
      </p:sp>
      <p:sp>
        <p:nvSpPr>
          <p:cNvPr id="12" name="Text 10"/>
          <p:cNvSpPr txBox="1"/>
          <p:nvPr/>
        </p:nvSpPr>
        <p:spPr>
          <a:xfrm>
            <a:off x="822960" y="2313432"/>
            <a:ext cx="1938528" cy="219456"/>
          </a:xfrm>
          <a:prstGeom prst="rect">
            <a:avLst/>
          </a:prstGeom>
          <a:noFill/>
          <a:ln/>
        </p:spPr>
        <p:txBody>
          <a:bodyPr wrap="square" lIns="0" tIns="0" rIns="0" bIns="0" rtlCol="0" anchor="ctr">
            <a:normAutofit/>
          </a:bodyPr>
          <a:lstStyle/>
          <a:p>
            <a:pPr algn="l" indent="0" marL="0">
              <a:buNone/>
            </a:pPr>
            <a:r>
              <a:rPr lang="en-US" sz="1300" b="1" dirty="0">
                <a:solidFill>
                  <a:srgbClr val="25292B"/>
                </a:solidFill>
                <a:latin typeface="Aptos" pitchFamily="34" charset="0"/>
                <a:ea typeface="Aptos" pitchFamily="34" charset="-122"/>
                <a:cs typeface="Aptos" pitchFamily="34" charset="-120"/>
              </a:rPr>
              <a:t>PROPOSAL</a:t>
            </a:r>
            <a:endParaRPr lang="en-US" sz="1300" dirty="0"/>
          </a:p>
        </p:txBody>
      </p:sp>
      <p:sp>
        <p:nvSpPr>
          <p:cNvPr id="13" name="Text 11"/>
          <p:cNvSpPr txBox="1"/>
          <p:nvPr/>
        </p:nvSpPr>
        <p:spPr>
          <a:xfrm>
            <a:off x="822960" y="2624328"/>
            <a:ext cx="1938528" cy="384048"/>
          </a:xfrm>
          <a:prstGeom prst="rect">
            <a:avLst/>
          </a:prstGeom>
          <a:noFill/>
          <a:ln/>
        </p:spPr>
        <p:txBody>
          <a:bodyPr wrap="square" lIns="0" tIns="0" rIns="0" bIns="0" rtlCol="0" anchor="t">
            <a:normAutofit/>
          </a:bodyPr>
          <a:lstStyle/>
          <a:p>
            <a:pPr algn="l" indent="0" marL="0">
              <a:buNone/>
            </a:pPr>
            <a:r>
              <a:rPr lang="en-US" sz="1100" dirty="0">
                <a:solidFill>
                  <a:srgbClr val="62696B"/>
                </a:solidFill>
                <a:latin typeface="Aptos" pitchFamily="34" charset="0"/>
                <a:ea typeface="Aptos" pitchFamily="34" charset="-122"/>
                <a:cs typeface="Aptos" pitchFamily="34" charset="-120"/>
              </a:rPr>
              <a:t>options · evidence</a:t>
            </a:r>
            <a:endParaRPr lang="en-US" sz="1100" dirty="0"/>
          </a:p>
          <a:p>
            <a:pPr algn="l" indent="0" marL="0">
              <a:buNone/>
            </a:pPr>
            <a:r>
              <a:rPr lang="en-US" sz="1100" dirty="0">
                <a:solidFill>
                  <a:srgbClr val="62696B"/>
                </a:solidFill>
                <a:latin typeface="Aptos" pitchFamily="34" charset="0"/>
                <a:ea typeface="Aptos" pitchFamily="34" charset="-122"/>
                <a:cs typeface="Aptos" pitchFamily="34" charset="-120"/>
              </a:rPr>
              <a:t>owner · deadline</a:t>
            </a:r>
            <a:endParaRPr lang="en-US" sz="1100" dirty="0"/>
          </a:p>
        </p:txBody>
      </p:sp>
      <p:sp>
        <p:nvSpPr>
          <p:cNvPr id="14" name="Text 12"/>
          <p:cNvSpPr txBox="1"/>
          <p:nvPr/>
        </p:nvSpPr>
        <p:spPr>
          <a:xfrm>
            <a:off x="3099816" y="2258568"/>
            <a:ext cx="246888" cy="274320"/>
          </a:xfrm>
          <a:prstGeom prst="rect">
            <a:avLst/>
          </a:prstGeom>
          <a:noFill/>
          <a:ln/>
        </p:spPr>
        <p:txBody>
          <a:bodyPr wrap="square" lIns="0" tIns="0" rIns="0" bIns="0" rtlCol="0" anchor="ctr">
            <a:normAutofit/>
          </a:bodyPr>
          <a:lstStyle/>
          <a:p>
            <a:pPr algn="ctr" indent="0" marL="0">
              <a:buNone/>
            </a:pPr>
            <a:r>
              <a:rPr lang="en-US" sz="2100" dirty="0">
                <a:solidFill>
                  <a:srgbClr val="62696B"/>
                </a:solidFill>
                <a:latin typeface="Georgia" pitchFamily="34" charset="0"/>
                <a:ea typeface="Georgia" pitchFamily="34" charset="-122"/>
                <a:cs typeface="Georgia" pitchFamily="34" charset="-120"/>
              </a:rPr>
              <a:t>›</a:t>
            </a:r>
            <a:endParaRPr lang="en-US" sz="2100" dirty="0"/>
          </a:p>
        </p:txBody>
      </p:sp>
      <p:sp>
        <p:nvSpPr>
          <p:cNvPr id="15" name="Shape 13"/>
          <p:cNvSpPr/>
          <p:nvPr/>
        </p:nvSpPr>
        <p:spPr>
          <a:xfrm>
            <a:off x="3419856" y="1865376"/>
            <a:ext cx="2395728" cy="1316736"/>
          </a:xfrm>
          <a:prstGeom prst="roundRect">
            <a:avLst/>
          </a:prstGeom>
          <a:solidFill>
            <a:srgbClr val="DFE7EA"/>
          </a:solidFill>
          <a:ln w="12700">
            <a:solidFill>
              <a:srgbClr val="DFE7EA"/>
            </a:solidFill>
            <a:prstDash val="solid"/>
          </a:ln>
        </p:spPr>
      </p:sp>
      <p:sp>
        <p:nvSpPr>
          <p:cNvPr id="16" name="Text 14"/>
          <p:cNvSpPr txBox="1"/>
          <p:nvPr/>
        </p:nvSpPr>
        <p:spPr>
          <a:xfrm>
            <a:off x="3584448" y="2039112"/>
            <a:ext cx="384048" cy="201168"/>
          </a:xfrm>
          <a:prstGeom prst="rect">
            <a:avLst/>
          </a:prstGeom>
          <a:noFill/>
          <a:ln/>
        </p:spPr>
        <p:txBody>
          <a:bodyPr wrap="square" lIns="0" tIns="0" rIns="0" bIns="0" rtlCol="0" anchor="ctr">
            <a:normAutofit/>
          </a:bodyPr>
          <a:lstStyle/>
          <a:p>
            <a:pPr algn="l" indent="0" marL="0">
              <a:buNone/>
            </a:pPr>
            <a:r>
              <a:rPr lang="en-US" sz="950" b="1" dirty="0">
                <a:solidFill>
                  <a:srgbClr val="5D7480"/>
                </a:solidFill>
                <a:latin typeface="Aptos" pitchFamily="34" charset="0"/>
                <a:ea typeface="Aptos" pitchFamily="34" charset="-122"/>
                <a:cs typeface="Aptos" pitchFamily="34" charset="-120"/>
              </a:rPr>
              <a:t>02</a:t>
            </a:r>
            <a:endParaRPr lang="en-US" sz="950" dirty="0"/>
          </a:p>
        </p:txBody>
      </p:sp>
      <p:sp>
        <p:nvSpPr>
          <p:cNvPr id="17" name="Text 15"/>
          <p:cNvSpPr txBox="1"/>
          <p:nvPr/>
        </p:nvSpPr>
        <p:spPr>
          <a:xfrm>
            <a:off x="3584448" y="2313432"/>
            <a:ext cx="1938528" cy="219456"/>
          </a:xfrm>
          <a:prstGeom prst="rect">
            <a:avLst/>
          </a:prstGeom>
          <a:noFill/>
          <a:ln/>
        </p:spPr>
        <p:txBody>
          <a:bodyPr wrap="square" lIns="0" tIns="0" rIns="0" bIns="0" rtlCol="0" anchor="ctr">
            <a:normAutofit/>
          </a:bodyPr>
          <a:lstStyle/>
          <a:p>
            <a:pPr algn="l" indent="0" marL="0">
              <a:buNone/>
            </a:pPr>
            <a:r>
              <a:rPr lang="en-US" sz="1300" b="1" dirty="0">
                <a:solidFill>
                  <a:srgbClr val="25292B"/>
                </a:solidFill>
                <a:latin typeface="Aptos" pitchFamily="34" charset="0"/>
                <a:ea typeface="Aptos" pitchFamily="34" charset="-122"/>
                <a:cs typeface="Aptos" pitchFamily="34" charset="-120"/>
              </a:rPr>
              <a:t>SITE RESPONSE</a:t>
            </a:r>
            <a:endParaRPr lang="en-US" sz="1300" dirty="0"/>
          </a:p>
        </p:txBody>
      </p:sp>
      <p:sp>
        <p:nvSpPr>
          <p:cNvPr id="18" name="Text 16"/>
          <p:cNvSpPr txBox="1"/>
          <p:nvPr/>
        </p:nvSpPr>
        <p:spPr>
          <a:xfrm>
            <a:off x="3584448" y="2624328"/>
            <a:ext cx="1938528" cy="384048"/>
          </a:xfrm>
          <a:prstGeom prst="rect">
            <a:avLst/>
          </a:prstGeom>
          <a:noFill/>
          <a:ln/>
        </p:spPr>
        <p:txBody>
          <a:bodyPr wrap="square" lIns="0" tIns="0" rIns="0" bIns="0" rtlCol="0" anchor="t">
            <a:normAutofit/>
          </a:bodyPr>
          <a:lstStyle/>
          <a:p>
            <a:pPr algn="l" indent="0" marL="0">
              <a:buNone/>
            </a:pPr>
            <a:r>
              <a:rPr lang="en-US" sz="1100" dirty="0">
                <a:solidFill>
                  <a:srgbClr val="62696B"/>
                </a:solidFill>
                <a:latin typeface="Aptos" pitchFamily="34" charset="0"/>
                <a:ea typeface="Aptos" pitchFamily="34" charset="-122"/>
                <a:cs typeface="Aptos" pitchFamily="34" charset="-120"/>
              </a:rPr>
              <a:t>agree · concern</a:t>
            </a:r>
            <a:endParaRPr lang="en-US" sz="1100" dirty="0"/>
          </a:p>
          <a:p>
            <a:pPr algn="l" indent="0" marL="0">
              <a:buNone/>
            </a:pPr>
            <a:r>
              <a:rPr lang="en-US" sz="1100" dirty="0">
                <a:solidFill>
                  <a:srgbClr val="62696B"/>
                </a:solidFill>
                <a:latin typeface="Aptos" pitchFamily="34" charset="0"/>
                <a:ea typeface="Aptos" pitchFamily="34" charset="-122"/>
                <a:cs typeface="Aptos" pitchFamily="34" charset="-120"/>
              </a:rPr>
              <a:t>or question</a:t>
            </a:r>
            <a:endParaRPr lang="en-US" sz="1100" dirty="0"/>
          </a:p>
        </p:txBody>
      </p:sp>
      <p:sp>
        <p:nvSpPr>
          <p:cNvPr id="19" name="Text 17"/>
          <p:cNvSpPr txBox="1"/>
          <p:nvPr/>
        </p:nvSpPr>
        <p:spPr>
          <a:xfrm>
            <a:off x="5861304" y="2258568"/>
            <a:ext cx="246888" cy="274320"/>
          </a:xfrm>
          <a:prstGeom prst="rect">
            <a:avLst/>
          </a:prstGeom>
          <a:noFill/>
          <a:ln/>
        </p:spPr>
        <p:txBody>
          <a:bodyPr wrap="square" lIns="0" tIns="0" rIns="0" bIns="0" rtlCol="0" anchor="ctr">
            <a:normAutofit/>
          </a:bodyPr>
          <a:lstStyle/>
          <a:p>
            <a:pPr algn="ctr" indent="0" marL="0">
              <a:buNone/>
            </a:pPr>
            <a:r>
              <a:rPr lang="en-US" sz="2100" dirty="0">
                <a:solidFill>
                  <a:srgbClr val="62696B"/>
                </a:solidFill>
                <a:latin typeface="Georgia" pitchFamily="34" charset="0"/>
                <a:ea typeface="Georgia" pitchFamily="34" charset="-122"/>
                <a:cs typeface="Georgia" pitchFamily="34" charset="-120"/>
              </a:rPr>
              <a:t>›</a:t>
            </a:r>
            <a:endParaRPr lang="en-US" sz="2100" dirty="0"/>
          </a:p>
        </p:txBody>
      </p:sp>
      <p:sp>
        <p:nvSpPr>
          <p:cNvPr id="20" name="Shape 18"/>
          <p:cNvSpPr/>
          <p:nvPr/>
        </p:nvSpPr>
        <p:spPr>
          <a:xfrm>
            <a:off x="6181344" y="1865376"/>
            <a:ext cx="2395728" cy="1316736"/>
          </a:xfrm>
          <a:prstGeom prst="roundRect">
            <a:avLst/>
          </a:prstGeom>
          <a:solidFill>
            <a:srgbClr val="ECE4D5"/>
          </a:solidFill>
          <a:ln w="12700">
            <a:solidFill>
              <a:srgbClr val="ECE4D5"/>
            </a:solidFill>
            <a:prstDash val="solid"/>
          </a:ln>
        </p:spPr>
      </p:sp>
      <p:sp>
        <p:nvSpPr>
          <p:cNvPr id="21" name="Text 19"/>
          <p:cNvSpPr txBox="1"/>
          <p:nvPr/>
        </p:nvSpPr>
        <p:spPr>
          <a:xfrm>
            <a:off x="6345936" y="2039112"/>
            <a:ext cx="384048" cy="201168"/>
          </a:xfrm>
          <a:prstGeom prst="rect">
            <a:avLst/>
          </a:prstGeom>
          <a:noFill/>
          <a:ln/>
        </p:spPr>
        <p:txBody>
          <a:bodyPr wrap="square" lIns="0" tIns="0" rIns="0" bIns="0" rtlCol="0" anchor="ctr">
            <a:normAutofit/>
          </a:bodyPr>
          <a:lstStyle/>
          <a:p>
            <a:pPr algn="l" indent="0" marL="0">
              <a:buNone/>
            </a:pPr>
            <a:r>
              <a:rPr lang="en-US" sz="950" b="1" dirty="0">
                <a:solidFill>
                  <a:srgbClr val="A3824F"/>
                </a:solidFill>
                <a:latin typeface="Aptos" pitchFamily="34" charset="0"/>
                <a:ea typeface="Aptos" pitchFamily="34" charset="-122"/>
                <a:cs typeface="Aptos" pitchFamily="34" charset="-120"/>
              </a:rPr>
              <a:t>03</a:t>
            </a:r>
            <a:endParaRPr lang="en-US" sz="950" dirty="0"/>
          </a:p>
        </p:txBody>
      </p:sp>
      <p:sp>
        <p:nvSpPr>
          <p:cNvPr id="22" name="Text 20"/>
          <p:cNvSpPr txBox="1"/>
          <p:nvPr/>
        </p:nvSpPr>
        <p:spPr>
          <a:xfrm>
            <a:off x="6345936" y="2313432"/>
            <a:ext cx="1938528" cy="219456"/>
          </a:xfrm>
          <a:prstGeom prst="rect">
            <a:avLst/>
          </a:prstGeom>
          <a:noFill/>
          <a:ln/>
        </p:spPr>
        <p:txBody>
          <a:bodyPr wrap="square" lIns="0" tIns="0" rIns="0" bIns="0" rtlCol="0" anchor="ctr">
            <a:normAutofit/>
          </a:bodyPr>
          <a:lstStyle/>
          <a:p>
            <a:pPr algn="l" indent="0" marL="0">
              <a:buNone/>
            </a:pPr>
            <a:r>
              <a:rPr lang="en-US" sz="1300" b="1" dirty="0">
                <a:solidFill>
                  <a:srgbClr val="25292B"/>
                </a:solidFill>
                <a:latin typeface="Aptos" pitchFamily="34" charset="0"/>
                <a:ea typeface="Aptos" pitchFamily="34" charset="-122"/>
                <a:cs typeface="Aptos" pitchFamily="34" charset="-120"/>
              </a:rPr>
              <a:t>DECISION</a:t>
            </a:r>
            <a:endParaRPr lang="en-US" sz="1300" dirty="0"/>
          </a:p>
        </p:txBody>
      </p:sp>
      <p:sp>
        <p:nvSpPr>
          <p:cNvPr id="23" name="Text 21"/>
          <p:cNvSpPr txBox="1"/>
          <p:nvPr/>
        </p:nvSpPr>
        <p:spPr>
          <a:xfrm>
            <a:off x="6345936" y="2624328"/>
            <a:ext cx="1938528" cy="384048"/>
          </a:xfrm>
          <a:prstGeom prst="rect">
            <a:avLst/>
          </a:prstGeom>
          <a:noFill/>
          <a:ln/>
        </p:spPr>
        <p:txBody>
          <a:bodyPr wrap="square" lIns="0" tIns="0" rIns="0" bIns="0" rtlCol="0" anchor="t">
            <a:normAutofit/>
          </a:bodyPr>
          <a:lstStyle/>
          <a:p>
            <a:pPr algn="l" indent="0" marL="0">
              <a:buNone/>
            </a:pPr>
            <a:r>
              <a:rPr lang="en-US" sz="1100" dirty="0">
                <a:solidFill>
                  <a:srgbClr val="62696B"/>
                </a:solidFill>
                <a:latin typeface="Aptos" pitchFamily="34" charset="0"/>
                <a:ea typeface="Aptos" pitchFamily="34" charset="-122"/>
                <a:cs typeface="Aptos" pitchFamily="34" charset="-120"/>
              </a:rPr>
              <a:t>named owner</a:t>
            </a:r>
            <a:endParaRPr lang="en-US" sz="1100" dirty="0"/>
          </a:p>
          <a:p>
            <a:pPr algn="l" indent="0" marL="0">
              <a:buNone/>
            </a:pPr>
            <a:r>
              <a:rPr lang="en-US" sz="1100" dirty="0">
                <a:solidFill>
                  <a:srgbClr val="62696B"/>
                </a:solidFill>
                <a:latin typeface="Aptos" pitchFamily="34" charset="0"/>
                <a:ea typeface="Aptos" pitchFamily="34" charset="-122"/>
                <a:cs typeface="Aptos" pitchFamily="34" charset="-120"/>
              </a:rPr>
              <a:t>uses written input</a:t>
            </a:r>
            <a:endParaRPr lang="en-US" sz="1100" dirty="0"/>
          </a:p>
        </p:txBody>
      </p:sp>
      <p:sp>
        <p:nvSpPr>
          <p:cNvPr id="24" name="Text 22"/>
          <p:cNvSpPr txBox="1"/>
          <p:nvPr/>
        </p:nvSpPr>
        <p:spPr>
          <a:xfrm>
            <a:off x="8622792" y="2258568"/>
            <a:ext cx="246888" cy="274320"/>
          </a:xfrm>
          <a:prstGeom prst="rect">
            <a:avLst/>
          </a:prstGeom>
          <a:noFill/>
          <a:ln/>
        </p:spPr>
        <p:txBody>
          <a:bodyPr wrap="square" lIns="0" tIns="0" rIns="0" bIns="0" rtlCol="0" anchor="ctr">
            <a:normAutofit/>
          </a:bodyPr>
          <a:lstStyle/>
          <a:p>
            <a:pPr algn="ctr" indent="0" marL="0">
              <a:buNone/>
            </a:pPr>
            <a:r>
              <a:rPr lang="en-US" sz="2100" dirty="0">
                <a:solidFill>
                  <a:srgbClr val="62696B"/>
                </a:solidFill>
                <a:latin typeface="Georgia" pitchFamily="34" charset="0"/>
                <a:ea typeface="Georgia" pitchFamily="34" charset="-122"/>
                <a:cs typeface="Georgia" pitchFamily="34" charset="-120"/>
              </a:rPr>
              <a:t>›</a:t>
            </a:r>
            <a:endParaRPr lang="en-US" sz="2100" dirty="0"/>
          </a:p>
        </p:txBody>
      </p:sp>
      <p:sp>
        <p:nvSpPr>
          <p:cNvPr id="25" name="Shape 23"/>
          <p:cNvSpPr/>
          <p:nvPr/>
        </p:nvSpPr>
        <p:spPr>
          <a:xfrm>
            <a:off x="8942832" y="1865376"/>
            <a:ext cx="2395728" cy="1316736"/>
          </a:xfrm>
          <a:prstGeom prst="roundRect">
            <a:avLst/>
          </a:prstGeom>
          <a:solidFill>
            <a:srgbClr val="EEDFD8"/>
          </a:solidFill>
          <a:ln w="12700">
            <a:solidFill>
              <a:srgbClr val="EEDFD8"/>
            </a:solidFill>
            <a:prstDash val="solid"/>
          </a:ln>
        </p:spPr>
      </p:sp>
      <p:sp>
        <p:nvSpPr>
          <p:cNvPr id="26" name="Text 24"/>
          <p:cNvSpPr txBox="1"/>
          <p:nvPr/>
        </p:nvSpPr>
        <p:spPr>
          <a:xfrm>
            <a:off x="9107424" y="2039112"/>
            <a:ext cx="384048" cy="201168"/>
          </a:xfrm>
          <a:prstGeom prst="rect">
            <a:avLst/>
          </a:prstGeom>
          <a:noFill/>
          <a:ln/>
        </p:spPr>
        <p:txBody>
          <a:bodyPr wrap="square" lIns="0" tIns="0" rIns="0" bIns="0" rtlCol="0" anchor="ctr">
            <a:normAutofit/>
          </a:bodyPr>
          <a:lstStyle/>
          <a:p>
            <a:pPr algn="l" indent="0" marL="0">
              <a:buNone/>
            </a:pPr>
            <a:r>
              <a:rPr lang="en-US" sz="950" b="1" dirty="0">
                <a:solidFill>
                  <a:srgbClr val="9A5C49"/>
                </a:solidFill>
                <a:latin typeface="Aptos" pitchFamily="34" charset="0"/>
                <a:ea typeface="Aptos" pitchFamily="34" charset="-122"/>
                <a:cs typeface="Aptos" pitchFamily="34" charset="-120"/>
              </a:rPr>
              <a:t>04</a:t>
            </a:r>
            <a:endParaRPr lang="en-US" sz="950" dirty="0"/>
          </a:p>
        </p:txBody>
      </p:sp>
      <p:sp>
        <p:nvSpPr>
          <p:cNvPr id="27" name="Text 25"/>
          <p:cNvSpPr txBox="1"/>
          <p:nvPr/>
        </p:nvSpPr>
        <p:spPr>
          <a:xfrm>
            <a:off x="9107424" y="2313432"/>
            <a:ext cx="1938528" cy="219456"/>
          </a:xfrm>
          <a:prstGeom prst="rect">
            <a:avLst/>
          </a:prstGeom>
          <a:noFill/>
          <a:ln/>
        </p:spPr>
        <p:txBody>
          <a:bodyPr wrap="square" lIns="0" tIns="0" rIns="0" bIns="0" rtlCol="0" anchor="ctr">
            <a:normAutofit/>
          </a:bodyPr>
          <a:lstStyle/>
          <a:p>
            <a:pPr algn="l" indent="0" marL="0">
              <a:buNone/>
            </a:pPr>
            <a:r>
              <a:rPr lang="en-US" sz="1300" b="1" dirty="0">
                <a:solidFill>
                  <a:srgbClr val="25292B"/>
                </a:solidFill>
                <a:latin typeface="Aptos" pitchFamily="34" charset="0"/>
                <a:ea typeface="Aptos" pitchFamily="34" charset="-122"/>
                <a:cs typeface="Aptos" pitchFamily="34" charset="-120"/>
              </a:rPr>
              <a:t>LOG + REVIEW</a:t>
            </a:r>
            <a:endParaRPr lang="en-US" sz="1300" dirty="0"/>
          </a:p>
        </p:txBody>
      </p:sp>
      <p:sp>
        <p:nvSpPr>
          <p:cNvPr id="28" name="Text 26"/>
          <p:cNvSpPr txBox="1"/>
          <p:nvPr/>
        </p:nvSpPr>
        <p:spPr>
          <a:xfrm>
            <a:off x="9107424" y="2624328"/>
            <a:ext cx="1938528" cy="384048"/>
          </a:xfrm>
          <a:prstGeom prst="rect">
            <a:avLst/>
          </a:prstGeom>
          <a:noFill/>
          <a:ln/>
        </p:spPr>
        <p:txBody>
          <a:bodyPr wrap="square" lIns="0" tIns="0" rIns="0" bIns="0" rtlCol="0" anchor="t">
            <a:normAutofit/>
          </a:bodyPr>
          <a:lstStyle/>
          <a:p>
            <a:pPr algn="l" indent="0" marL="0">
              <a:buNone/>
            </a:pPr>
            <a:r>
              <a:rPr lang="en-US" sz="1100" dirty="0">
                <a:solidFill>
                  <a:srgbClr val="62696B"/>
                </a:solidFill>
                <a:latin typeface="Aptos" pitchFamily="34" charset="0"/>
                <a:ea typeface="Aptos" pitchFamily="34" charset="-122"/>
                <a:cs typeface="Aptos" pitchFamily="34" charset="-120"/>
              </a:rPr>
              <a:t>reasoning</a:t>
            </a:r>
            <a:endParaRPr lang="en-US" sz="1100" dirty="0"/>
          </a:p>
          <a:p>
            <a:pPr algn="l" indent="0" marL="0">
              <a:buNone/>
            </a:pPr>
            <a:r>
              <a:rPr lang="en-US" sz="1100" dirty="0">
                <a:solidFill>
                  <a:srgbClr val="62696B"/>
                </a:solidFill>
                <a:latin typeface="Aptos" pitchFamily="34" charset="0"/>
                <a:ea typeface="Aptos" pitchFamily="34" charset="-122"/>
                <a:cs typeface="Aptos" pitchFamily="34" charset="-120"/>
              </a:rPr>
              <a:t>and review date</a:t>
            </a:r>
            <a:endParaRPr lang="en-US" sz="1100" dirty="0"/>
          </a:p>
        </p:txBody>
      </p:sp>
      <p:sp>
        <p:nvSpPr>
          <p:cNvPr id="29" name="Shape 27"/>
          <p:cNvSpPr/>
          <p:nvPr/>
        </p:nvSpPr>
        <p:spPr>
          <a:xfrm>
            <a:off x="658368" y="3547872"/>
            <a:ext cx="10863072" cy="649224"/>
          </a:xfrm>
          <a:prstGeom prst="roundRect">
            <a:avLst/>
          </a:prstGeom>
          <a:solidFill>
            <a:srgbClr val="294947"/>
          </a:solidFill>
          <a:ln w="12700">
            <a:solidFill>
              <a:srgbClr val="294947"/>
            </a:solidFill>
            <a:prstDash val="solid"/>
          </a:ln>
        </p:spPr>
      </p:sp>
      <p:sp>
        <p:nvSpPr>
          <p:cNvPr id="30" name="Text 28"/>
          <p:cNvSpPr txBox="1"/>
          <p:nvPr/>
        </p:nvSpPr>
        <p:spPr>
          <a:xfrm>
            <a:off x="877824" y="3749040"/>
            <a:ext cx="914400" cy="182880"/>
          </a:xfrm>
          <a:prstGeom prst="rect">
            <a:avLst/>
          </a:prstGeom>
          <a:noFill/>
          <a:ln/>
        </p:spPr>
        <p:txBody>
          <a:bodyPr wrap="square" lIns="0" tIns="0" rIns="0" bIns="0" rtlCol="0" anchor="ctr">
            <a:normAutofit/>
          </a:bodyPr>
          <a:lstStyle/>
          <a:p>
            <a:pPr algn="l" indent="0" marL="0">
              <a:buNone/>
            </a:pPr>
            <a:r>
              <a:rPr lang="en-US" sz="1000" b="1" dirty="0">
                <a:solidFill>
                  <a:srgbClr val="DDE8E5"/>
                </a:solidFill>
                <a:latin typeface="Aptos" pitchFamily="34" charset="0"/>
                <a:ea typeface="Aptos" pitchFamily="34" charset="-122"/>
                <a:cs typeface="Aptos" pitchFamily="34" charset="-120"/>
              </a:rPr>
              <a:t>CORE RULE</a:t>
            </a:r>
            <a:endParaRPr lang="en-US" sz="1000" dirty="0"/>
          </a:p>
        </p:txBody>
      </p:sp>
      <p:sp>
        <p:nvSpPr>
          <p:cNvPr id="31" name="Text 29"/>
          <p:cNvSpPr txBox="1"/>
          <p:nvPr/>
        </p:nvSpPr>
        <p:spPr>
          <a:xfrm>
            <a:off x="1874520" y="3675888"/>
            <a:ext cx="3913632" cy="283464"/>
          </a:xfrm>
          <a:prstGeom prst="rect">
            <a:avLst/>
          </a:prstGeom>
          <a:noFill/>
          <a:ln/>
        </p:spPr>
        <p:txBody>
          <a:bodyPr wrap="square" lIns="0" tIns="0" rIns="0" bIns="0" rtlCol="0" anchor="ctr">
            <a:normAutofit/>
          </a:bodyPr>
          <a:lstStyle/>
          <a:p>
            <a:pPr algn="l" indent="0" marL="0">
              <a:buNone/>
            </a:pPr>
            <a:r>
              <a:rPr lang="en-US" sz="1800" dirty="0">
                <a:solidFill>
                  <a:srgbClr val="FFFFFF"/>
                </a:solidFill>
                <a:latin typeface="Georgia" pitchFamily="34" charset="0"/>
                <a:ea typeface="Georgia" pitchFamily="34" charset="-122"/>
                <a:cs typeface="Georgia" pitchFamily="34" charset="-120"/>
              </a:rPr>
              <a:t>Silence never counts as consent.</a:t>
            </a:r>
            <a:endParaRPr lang="en-US" sz="1800" dirty="0"/>
          </a:p>
        </p:txBody>
      </p:sp>
      <p:sp>
        <p:nvSpPr>
          <p:cNvPr id="32" name="Text 30"/>
          <p:cNvSpPr txBox="1"/>
          <p:nvPr/>
        </p:nvSpPr>
        <p:spPr>
          <a:xfrm>
            <a:off x="5769864" y="3685032"/>
            <a:ext cx="5440680" cy="274320"/>
          </a:xfrm>
          <a:prstGeom prst="rect">
            <a:avLst/>
          </a:prstGeom>
          <a:noFill/>
          <a:ln/>
        </p:spPr>
        <p:txBody>
          <a:bodyPr wrap="square" lIns="0" tIns="0" rIns="0" bIns="0" rtlCol="0" anchor="ctr">
            <a:normAutofit/>
          </a:bodyPr>
          <a:lstStyle/>
          <a:p>
            <a:pPr algn="r" indent="0" marL="0">
              <a:buNone/>
            </a:pPr>
            <a:r>
              <a:rPr lang="en-US" sz="1400" dirty="0">
                <a:solidFill>
                  <a:srgbClr val="FFFFFF"/>
                </a:solidFill>
                <a:latin typeface="Aptos" pitchFamily="34" charset="0"/>
                <a:ea typeface="Aptos" pitchFamily="34" charset="-122"/>
                <a:cs typeface="Aptos" pitchFamily="34" charset="-120"/>
              </a:rPr>
              <a:t>Feedback = observation + delivery impact + requested next step</a:t>
            </a:r>
            <a:endParaRPr lang="en-US" sz="1400" dirty="0"/>
          </a:p>
        </p:txBody>
      </p:sp>
      <p:sp>
        <p:nvSpPr>
          <p:cNvPr id="33" name="Shape 31"/>
          <p:cNvSpPr/>
          <p:nvPr/>
        </p:nvSpPr>
        <p:spPr>
          <a:xfrm>
            <a:off x="658368" y="4590288"/>
            <a:ext cx="2395728" cy="1170432"/>
          </a:xfrm>
          <a:prstGeom prst="roundRect">
            <a:avLst/>
          </a:prstGeom>
          <a:solidFill>
            <a:srgbClr val="FFFEFA"/>
          </a:solidFill>
          <a:ln w="12700">
            <a:solidFill>
              <a:srgbClr val="D8D6CF"/>
            </a:solidFill>
            <a:prstDash val="solid"/>
          </a:ln>
        </p:spPr>
      </p:sp>
      <p:sp>
        <p:nvSpPr>
          <p:cNvPr id="34" name="Shape 32"/>
          <p:cNvSpPr/>
          <p:nvPr/>
        </p:nvSpPr>
        <p:spPr>
          <a:xfrm>
            <a:off x="658368" y="4590288"/>
            <a:ext cx="91440" cy="1170432"/>
          </a:xfrm>
          <a:prstGeom prst="rect">
            <a:avLst/>
          </a:prstGeom>
          <a:solidFill>
            <a:srgbClr val="426B68"/>
          </a:solidFill>
          <a:ln w="12700">
            <a:solidFill>
              <a:srgbClr val="426B68"/>
            </a:solidFill>
            <a:prstDash val="solid"/>
          </a:ln>
        </p:spPr>
      </p:sp>
      <p:sp>
        <p:nvSpPr>
          <p:cNvPr id="35" name="Text 33"/>
          <p:cNvSpPr txBox="1"/>
          <p:nvPr/>
        </p:nvSpPr>
        <p:spPr>
          <a:xfrm>
            <a:off x="905256" y="4828032"/>
            <a:ext cx="1920240" cy="201168"/>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RACI</a:t>
            </a:r>
            <a:endParaRPr lang="en-US" sz="1000" dirty="0"/>
          </a:p>
        </p:txBody>
      </p:sp>
      <p:sp>
        <p:nvSpPr>
          <p:cNvPr id="36" name="Text 34"/>
          <p:cNvSpPr txBox="1"/>
          <p:nvPr/>
        </p:nvSpPr>
        <p:spPr>
          <a:xfrm>
            <a:off x="905256" y="5202936"/>
            <a:ext cx="1920240" cy="228600"/>
          </a:xfrm>
          <a:prstGeom prst="rect">
            <a:avLst/>
          </a:prstGeom>
          <a:noFill/>
          <a:ln/>
        </p:spPr>
        <p:txBody>
          <a:bodyPr wrap="square" lIns="0" tIns="0" rIns="0" bIns="0" rtlCol="0" anchor="ctr">
            <a:normAutofit/>
          </a:bodyPr>
          <a:lstStyle/>
          <a:p>
            <a:pPr algn="l" indent="0" marL="0">
              <a:buNone/>
            </a:pPr>
            <a:r>
              <a:rPr lang="en-US" sz="1350" b="1" dirty="0">
                <a:solidFill>
                  <a:srgbClr val="25292B"/>
                </a:solidFill>
                <a:latin typeface="Aptos" pitchFamily="34" charset="0"/>
                <a:ea typeface="Aptos" pitchFamily="34" charset="-122"/>
                <a:cs typeface="Aptos" pitchFamily="34" charset="-120"/>
              </a:rPr>
              <a:t>clear decision rights</a:t>
            </a:r>
            <a:endParaRPr lang="en-US" sz="1350" dirty="0"/>
          </a:p>
        </p:txBody>
      </p:sp>
      <p:sp>
        <p:nvSpPr>
          <p:cNvPr id="37" name="Shape 35"/>
          <p:cNvSpPr/>
          <p:nvPr/>
        </p:nvSpPr>
        <p:spPr>
          <a:xfrm>
            <a:off x="3419856" y="4590288"/>
            <a:ext cx="2395728" cy="1170432"/>
          </a:xfrm>
          <a:prstGeom prst="roundRect">
            <a:avLst/>
          </a:prstGeom>
          <a:solidFill>
            <a:srgbClr val="FFFEFA"/>
          </a:solidFill>
          <a:ln w="12700">
            <a:solidFill>
              <a:srgbClr val="D8D6CF"/>
            </a:solidFill>
            <a:prstDash val="solid"/>
          </a:ln>
        </p:spPr>
      </p:sp>
      <p:sp>
        <p:nvSpPr>
          <p:cNvPr id="38" name="Shape 36"/>
          <p:cNvSpPr/>
          <p:nvPr/>
        </p:nvSpPr>
        <p:spPr>
          <a:xfrm>
            <a:off x="3419856" y="4590288"/>
            <a:ext cx="91440" cy="1170432"/>
          </a:xfrm>
          <a:prstGeom prst="rect">
            <a:avLst/>
          </a:prstGeom>
          <a:solidFill>
            <a:srgbClr val="5D7480"/>
          </a:solidFill>
          <a:ln w="12700">
            <a:solidFill>
              <a:srgbClr val="5D7480"/>
            </a:solidFill>
            <a:prstDash val="solid"/>
          </a:ln>
        </p:spPr>
      </p:sp>
      <p:sp>
        <p:nvSpPr>
          <p:cNvPr id="39" name="Text 37"/>
          <p:cNvSpPr txBox="1"/>
          <p:nvPr/>
        </p:nvSpPr>
        <p:spPr>
          <a:xfrm>
            <a:off x="3666744" y="4828032"/>
            <a:ext cx="1920240" cy="201168"/>
          </a:xfrm>
          <a:prstGeom prst="rect">
            <a:avLst/>
          </a:prstGeom>
          <a:noFill/>
          <a:ln/>
        </p:spPr>
        <p:txBody>
          <a:bodyPr wrap="square" lIns="0" tIns="0" rIns="0" bIns="0" rtlCol="0" anchor="ctr">
            <a:normAutofit/>
          </a:bodyPr>
          <a:lstStyle/>
          <a:p>
            <a:pPr algn="l" indent="0" marL="0">
              <a:buNone/>
            </a:pPr>
            <a:r>
              <a:rPr lang="en-US" sz="1000" b="1" dirty="0">
                <a:solidFill>
                  <a:srgbClr val="5D7480"/>
                </a:solidFill>
                <a:latin typeface="Aptos" pitchFamily="34" charset="0"/>
                <a:ea typeface="Aptos" pitchFamily="34" charset="-122"/>
                <a:cs typeface="Aptos" pitchFamily="34" charset="-120"/>
              </a:rPr>
              <a:t>ROTATION</a:t>
            </a:r>
            <a:endParaRPr lang="en-US" sz="1000" dirty="0"/>
          </a:p>
        </p:txBody>
      </p:sp>
      <p:sp>
        <p:nvSpPr>
          <p:cNvPr id="40" name="Text 38"/>
          <p:cNvSpPr txBox="1"/>
          <p:nvPr/>
        </p:nvSpPr>
        <p:spPr>
          <a:xfrm>
            <a:off x="3666744" y="5202936"/>
            <a:ext cx="1920240" cy="228600"/>
          </a:xfrm>
          <a:prstGeom prst="rect">
            <a:avLst/>
          </a:prstGeom>
          <a:noFill/>
          <a:ln/>
        </p:spPr>
        <p:txBody>
          <a:bodyPr wrap="square" lIns="0" tIns="0" rIns="0" bIns="0" rtlCol="0" anchor="ctr">
            <a:normAutofit/>
          </a:bodyPr>
          <a:lstStyle/>
          <a:p>
            <a:pPr algn="l" indent="0" marL="0">
              <a:buNone/>
            </a:pPr>
            <a:r>
              <a:rPr lang="en-US" sz="1350" b="1" dirty="0">
                <a:solidFill>
                  <a:srgbClr val="25292B"/>
                </a:solidFill>
                <a:latin typeface="Aptos" pitchFamily="34" charset="0"/>
                <a:ea typeface="Aptos" pitchFamily="34" charset="-122"/>
                <a:cs typeface="Aptos" pitchFamily="34" charset="-120"/>
              </a:rPr>
              <a:t>fair meeting burden</a:t>
            </a:r>
            <a:endParaRPr lang="en-US" sz="1350" dirty="0"/>
          </a:p>
        </p:txBody>
      </p:sp>
      <p:sp>
        <p:nvSpPr>
          <p:cNvPr id="41" name="Shape 39"/>
          <p:cNvSpPr/>
          <p:nvPr/>
        </p:nvSpPr>
        <p:spPr>
          <a:xfrm>
            <a:off x="6181344" y="4590288"/>
            <a:ext cx="2395728" cy="1170432"/>
          </a:xfrm>
          <a:prstGeom prst="roundRect">
            <a:avLst/>
          </a:prstGeom>
          <a:solidFill>
            <a:srgbClr val="FFFEFA"/>
          </a:solidFill>
          <a:ln w="12700">
            <a:solidFill>
              <a:srgbClr val="D8D6CF"/>
            </a:solidFill>
            <a:prstDash val="solid"/>
          </a:ln>
        </p:spPr>
      </p:sp>
      <p:sp>
        <p:nvSpPr>
          <p:cNvPr id="42" name="Shape 40"/>
          <p:cNvSpPr/>
          <p:nvPr/>
        </p:nvSpPr>
        <p:spPr>
          <a:xfrm>
            <a:off x="6181344" y="4590288"/>
            <a:ext cx="91440" cy="1170432"/>
          </a:xfrm>
          <a:prstGeom prst="rect">
            <a:avLst/>
          </a:prstGeom>
          <a:solidFill>
            <a:srgbClr val="A3824F"/>
          </a:solidFill>
          <a:ln w="12700">
            <a:solidFill>
              <a:srgbClr val="A3824F"/>
            </a:solidFill>
            <a:prstDash val="solid"/>
          </a:ln>
        </p:spPr>
      </p:sp>
      <p:sp>
        <p:nvSpPr>
          <p:cNvPr id="43" name="Text 41"/>
          <p:cNvSpPr txBox="1"/>
          <p:nvPr/>
        </p:nvSpPr>
        <p:spPr>
          <a:xfrm>
            <a:off x="6428232" y="4828032"/>
            <a:ext cx="1920240" cy="201168"/>
          </a:xfrm>
          <a:prstGeom prst="rect">
            <a:avLst/>
          </a:prstGeom>
          <a:noFill/>
          <a:ln/>
        </p:spPr>
        <p:txBody>
          <a:bodyPr wrap="square" lIns="0" tIns="0" rIns="0" bIns="0" rtlCol="0" anchor="ctr">
            <a:normAutofit/>
          </a:bodyPr>
          <a:lstStyle/>
          <a:p>
            <a:pPr algn="l" indent="0" marL="0">
              <a:buNone/>
            </a:pPr>
            <a:r>
              <a:rPr lang="en-US" sz="1000" b="1" dirty="0">
                <a:solidFill>
                  <a:srgbClr val="A3824F"/>
                </a:solidFill>
                <a:latin typeface="Aptos" pitchFamily="34" charset="0"/>
                <a:ea typeface="Aptos" pitchFamily="34" charset="-122"/>
                <a:cs typeface="Aptos" pitchFamily="34" charset="-120"/>
              </a:rPr>
              <a:t>BACKUPS</a:t>
            </a:r>
            <a:endParaRPr lang="en-US" sz="1000" dirty="0"/>
          </a:p>
        </p:txBody>
      </p:sp>
      <p:sp>
        <p:nvSpPr>
          <p:cNvPr id="44" name="Text 42"/>
          <p:cNvSpPr txBox="1"/>
          <p:nvPr/>
        </p:nvSpPr>
        <p:spPr>
          <a:xfrm>
            <a:off x="6428232" y="5202936"/>
            <a:ext cx="1920240" cy="228600"/>
          </a:xfrm>
          <a:prstGeom prst="rect">
            <a:avLst/>
          </a:prstGeom>
          <a:noFill/>
          <a:ln/>
        </p:spPr>
        <p:txBody>
          <a:bodyPr wrap="square" lIns="0" tIns="0" rIns="0" bIns="0" rtlCol="0" anchor="ctr">
            <a:normAutofit/>
          </a:bodyPr>
          <a:lstStyle/>
          <a:p>
            <a:pPr algn="l" indent="0" marL="0">
              <a:buNone/>
            </a:pPr>
            <a:r>
              <a:rPr lang="en-US" sz="1350" b="1" dirty="0">
                <a:solidFill>
                  <a:srgbClr val="25292B"/>
                </a:solidFill>
                <a:latin typeface="Aptos" pitchFamily="34" charset="0"/>
                <a:ea typeface="Aptos" pitchFamily="34" charset="-122"/>
                <a:cs typeface="Aptos" pitchFamily="34" charset="-120"/>
              </a:rPr>
              <a:t>specialist pairing</a:t>
            </a:r>
            <a:endParaRPr lang="en-US" sz="1350" dirty="0"/>
          </a:p>
        </p:txBody>
      </p:sp>
      <p:sp>
        <p:nvSpPr>
          <p:cNvPr id="45" name="Shape 43"/>
          <p:cNvSpPr/>
          <p:nvPr/>
        </p:nvSpPr>
        <p:spPr>
          <a:xfrm>
            <a:off x="8942832" y="4590288"/>
            <a:ext cx="2395728" cy="1170432"/>
          </a:xfrm>
          <a:prstGeom prst="roundRect">
            <a:avLst/>
          </a:prstGeom>
          <a:solidFill>
            <a:srgbClr val="FFFEFA"/>
          </a:solidFill>
          <a:ln w="12700">
            <a:solidFill>
              <a:srgbClr val="D8D6CF"/>
            </a:solidFill>
            <a:prstDash val="solid"/>
          </a:ln>
        </p:spPr>
      </p:sp>
      <p:sp>
        <p:nvSpPr>
          <p:cNvPr id="46" name="Shape 44"/>
          <p:cNvSpPr/>
          <p:nvPr/>
        </p:nvSpPr>
        <p:spPr>
          <a:xfrm>
            <a:off x="8942832" y="4590288"/>
            <a:ext cx="91440" cy="1170432"/>
          </a:xfrm>
          <a:prstGeom prst="rect">
            <a:avLst/>
          </a:prstGeom>
          <a:solidFill>
            <a:srgbClr val="9A5C49"/>
          </a:solidFill>
          <a:ln w="12700">
            <a:solidFill>
              <a:srgbClr val="9A5C49"/>
            </a:solidFill>
            <a:prstDash val="solid"/>
          </a:ln>
        </p:spPr>
      </p:sp>
      <p:sp>
        <p:nvSpPr>
          <p:cNvPr id="47" name="Text 45"/>
          <p:cNvSpPr txBox="1"/>
          <p:nvPr/>
        </p:nvSpPr>
        <p:spPr>
          <a:xfrm>
            <a:off x="9189720" y="4828032"/>
            <a:ext cx="1920240" cy="201168"/>
          </a:xfrm>
          <a:prstGeom prst="rect">
            <a:avLst/>
          </a:prstGeom>
          <a:noFill/>
          <a:ln/>
        </p:spPr>
        <p:txBody>
          <a:bodyPr wrap="square" lIns="0" tIns="0" rIns="0" bIns="0" rtlCol="0" anchor="ctr">
            <a:normAutofit/>
          </a:bodyPr>
          <a:lstStyle/>
          <a:p>
            <a:pPr algn="l" indent="0" marL="0">
              <a:buNone/>
            </a:pPr>
            <a:r>
              <a:rPr lang="en-US" sz="1000" b="1" dirty="0">
                <a:solidFill>
                  <a:srgbClr val="9A5C49"/>
                </a:solidFill>
                <a:latin typeface="Aptos" pitchFamily="34" charset="0"/>
                <a:ea typeface="Aptos" pitchFamily="34" charset="-122"/>
                <a:cs typeface="Aptos" pitchFamily="34" charset="-120"/>
              </a:rPr>
              <a:t>CHALLENGE ROLE</a:t>
            </a:r>
            <a:endParaRPr lang="en-US" sz="1000" dirty="0"/>
          </a:p>
        </p:txBody>
      </p:sp>
      <p:sp>
        <p:nvSpPr>
          <p:cNvPr id="48" name="Text 46"/>
          <p:cNvSpPr txBox="1"/>
          <p:nvPr/>
        </p:nvSpPr>
        <p:spPr>
          <a:xfrm>
            <a:off x="9189720" y="5202936"/>
            <a:ext cx="1920240" cy="228600"/>
          </a:xfrm>
          <a:prstGeom prst="rect">
            <a:avLst/>
          </a:prstGeom>
          <a:noFill/>
          <a:ln/>
        </p:spPr>
        <p:txBody>
          <a:bodyPr wrap="square" lIns="0" tIns="0" rIns="0" bIns="0" rtlCol="0" anchor="ctr">
            <a:normAutofit/>
          </a:bodyPr>
          <a:lstStyle/>
          <a:p>
            <a:pPr algn="l" indent="0" marL="0">
              <a:buNone/>
            </a:pPr>
            <a:r>
              <a:rPr lang="en-US" sz="1350" b="1" dirty="0">
                <a:solidFill>
                  <a:srgbClr val="25292B"/>
                </a:solidFill>
                <a:latin typeface="Aptos" pitchFamily="34" charset="0"/>
                <a:ea typeface="Aptos" pitchFamily="34" charset="-122"/>
                <a:cs typeface="Aptos" pitchFamily="34" charset="-120"/>
              </a:rPr>
              <a:t>independent review</a:t>
            </a:r>
            <a:endParaRPr lang="en-US" sz="1350" dirty="0"/>
          </a:p>
        </p:txBody>
      </p:sp>
      <p:sp>
        <p:nvSpPr>
          <p:cNvPr id="49" name="Text 47"/>
          <p:cNvSpPr txBox="1"/>
          <p:nvPr/>
        </p:nvSpPr>
        <p:spPr>
          <a:xfrm>
            <a:off x="676656" y="6044184"/>
            <a:ext cx="10241280" cy="219456"/>
          </a:xfrm>
          <a:prstGeom prst="rect">
            <a:avLst/>
          </a:prstGeom>
          <a:noFill/>
          <a:ln/>
        </p:spPr>
        <p:txBody>
          <a:bodyPr wrap="square" lIns="0" tIns="0" rIns="0" bIns="0" rtlCol="0" anchor="ctr">
            <a:normAutofit/>
          </a:bodyPr>
          <a:lstStyle/>
          <a:p>
            <a:pPr algn="l" indent="0" marL="0">
              <a:buNone/>
            </a:pPr>
            <a:r>
              <a:rPr lang="en-US" sz="1150" i="1" dirty="0">
                <a:solidFill>
                  <a:srgbClr val="62696B"/>
                </a:solidFill>
                <a:latin typeface="Aptos" pitchFamily="34" charset="0"/>
                <a:ea typeface="Aptos" pitchFamily="34" charset="-122"/>
                <a:cs typeface="Aptos" pitchFamily="34" charset="-120"/>
              </a:rPr>
              <a:t>Conflict unresolved after 48 hours → Scrum Master mediates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94360" y="320040"/>
            <a:ext cx="411480" cy="22860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07</a:t>
            </a:r>
            <a:endParaRPr lang="en-US" sz="1000" dirty="0"/>
          </a:p>
        </p:txBody>
      </p:sp>
      <p:sp>
        <p:nvSpPr>
          <p:cNvPr id="3" name="Text 1"/>
          <p:cNvSpPr txBox="1"/>
          <p:nvPr/>
        </p:nvSpPr>
        <p:spPr>
          <a:xfrm>
            <a:off x="594360" y="621792"/>
            <a:ext cx="9052560" cy="530352"/>
          </a:xfrm>
          <a:prstGeom prst="rect">
            <a:avLst/>
          </a:prstGeom>
          <a:noFill/>
          <a:ln/>
        </p:spPr>
        <p:txBody>
          <a:bodyPr wrap="square" lIns="0" tIns="0" rIns="0" bIns="0" rtlCol="0" anchor="ctr">
            <a:normAutofit/>
          </a:bodyPr>
          <a:lstStyle/>
          <a:p>
            <a:pPr algn="l" indent="0" marL="0">
              <a:buNone/>
            </a:pPr>
            <a:r>
              <a:rPr lang="en-US" sz="2500" dirty="0">
                <a:solidFill>
                  <a:srgbClr val="25292B"/>
                </a:solidFill>
                <a:latin typeface="Georgia" pitchFamily="34" charset="0"/>
                <a:ea typeface="Georgia" pitchFamily="34" charset="-122"/>
                <a:cs typeface="Georgia" pitchFamily="34" charset="-120"/>
              </a:rPr>
              <a:t>Solutions: Leadership and Psychological Safety</a:t>
            </a:r>
            <a:endParaRPr lang="en-US" sz="2500" dirty="0"/>
          </a:p>
        </p:txBody>
      </p:sp>
      <p:sp>
        <p:nvSpPr>
          <p:cNvPr id="4" name="Text 2"/>
          <p:cNvSpPr txBox="1"/>
          <p:nvPr/>
        </p:nvSpPr>
        <p:spPr>
          <a:xfrm>
            <a:off x="9601200" y="384048"/>
            <a:ext cx="1965960" cy="228600"/>
          </a:xfrm>
          <a:prstGeom prst="rect">
            <a:avLst/>
          </a:prstGeom>
          <a:noFill/>
          <a:ln/>
        </p:spPr>
        <p:txBody>
          <a:bodyPr wrap="square" lIns="0" tIns="0" rIns="0" bIns="0" rtlCol="0" anchor="ctr">
            <a:normAutofit/>
          </a:bodyPr>
          <a:lstStyle/>
          <a:p>
            <a:pPr algn="r" indent="0" marL="0">
              <a:buNone/>
            </a:pPr>
            <a:r>
              <a:rPr lang="en-US" sz="1000" b="1" dirty="0">
                <a:solidFill>
                  <a:srgbClr val="62696B"/>
                </a:solidFill>
                <a:latin typeface="Aptos" pitchFamily="34" charset="0"/>
                <a:ea typeface="Aptos" pitchFamily="34" charset="-122"/>
                <a:cs typeface="Aptos" pitchFamily="34" charset="-120"/>
              </a:rPr>
              <a:t>LUCA  ·  1:00</a:t>
            </a:r>
            <a:endParaRPr lang="en-US" sz="1000" dirty="0"/>
          </a:p>
        </p:txBody>
      </p:sp>
      <p:sp>
        <p:nvSpPr>
          <p:cNvPr id="5" name="Shape 3"/>
          <p:cNvSpPr/>
          <p:nvPr/>
        </p:nvSpPr>
        <p:spPr>
          <a:xfrm>
            <a:off x="594360" y="1243584"/>
            <a:ext cx="658368" cy="50292"/>
          </a:xfrm>
          <a:prstGeom prst="rect">
            <a:avLst/>
          </a:prstGeom>
          <a:solidFill>
            <a:srgbClr val="426B68"/>
          </a:solidFill>
          <a:ln w="12700">
            <a:solidFill>
              <a:srgbClr val="426B68"/>
            </a:solidFill>
            <a:prstDash val="solid"/>
          </a:ln>
        </p:spPr>
      </p:sp>
      <p:sp>
        <p:nvSpPr>
          <p:cNvPr id="6" name="Shape 4"/>
          <p:cNvSpPr/>
          <p:nvPr/>
        </p:nvSpPr>
        <p:spPr>
          <a:xfrm>
            <a:off x="594360" y="6510528"/>
            <a:ext cx="11000232" cy="0"/>
          </a:xfrm>
          <a:prstGeom prst="line">
            <a:avLst/>
          </a:prstGeom>
          <a:noFill/>
          <a:ln w="10160">
            <a:solidFill>
              <a:srgbClr val="D8D6CF"/>
            </a:solidFill>
            <a:prstDash val="solid"/>
          </a:ln>
        </p:spPr>
      </p:sp>
      <p:sp>
        <p:nvSpPr>
          <p:cNvPr id="7" name="Text 5"/>
          <p:cNvSpPr txBox="1"/>
          <p:nvPr/>
        </p:nvSpPr>
        <p:spPr>
          <a:xfrm>
            <a:off x="594360" y="6574536"/>
            <a:ext cx="9784080" cy="164592"/>
          </a:xfrm>
          <a:prstGeom prst="rect">
            <a:avLst/>
          </a:prstGeom>
          <a:noFill/>
          <a:ln/>
        </p:spPr>
        <p:txBody>
          <a:bodyPr wrap="square" lIns="0" tIns="0" rIns="0" bIns="0" rtlCol="0" anchor="ctr">
            <a:normAutofit/>
          </a:bodyPr>
          <a:lstStyle/>
          <a:p>
            <a:pPr algn="l" indent="0" marL="0">
              <a:buNone/>
            </a:pPr>
            <a:r>
              <a:rPr lang="en-US" sz="850" dirty="0">
                <a:solidFill>
                  <a:srgbClr val="62696B"/>
                </a:solidFill>
                <a:latin typeface="Aptos" pitchFamily="34" charset="0"/>
                <a:ea typeface="Aptos" pitchFamily="34" charset="-122"/>
                <a:cs typeface="Aptos" pitchFamily="34" charset="-120"/>
              </a:rPr>
              <a:t>Sources: Aritz &amp; Walker (2014); Edmondson (1999); Abdullah (2026c–d)</a:t>
            </a:r>
            <a:endParaRPr lang="en-US" sz="850" dirty="0"/>
          </a:p>
        </p:txBody>
      </p:sp>
      <p:sp>
        <p:nvSpPr>
          <p:cNvPr id="8" name="Text 6"/>
          <p:cNvSpPr txBox="1"/>
          <p:nvPr/>
        </p:nvSpPr>
        <p:spPr>
          <a:xfrm>
            <a:off x="11201400" y="6547104"/>
            <a:ext cx="365760" cy="164592"/>
          </a:xfrm>
          <a:prstGeom prst="rect">
            <a:avLst/>
          </a:prstGeom>
          <a:noFill/>
          <a:ln/>
        </p:spPr>
        <p:txBody>
          <a:bodyPr wrap="square" lIns="0" tIns="0" rIns="0" bIns="0" rtlCol="0" anchor="ctr">
            <a:normAutofit/>
          </a:bodyPr>
          <a:lstStyle/>
          <a:p>
            <a:pPr algn="r" indent="0" marL="0">
              <a:buNone/>
            </a:pPr>
            <a:r>
              <a:rPr lang="en-US" sz="900" dirty="0">
                <a:solidFill>
                  <a:srgbClr val="62696B"/>
                </a:solidFill>
                <a:latin typeface="Aptos" pitchFamily="34" charset="0"/>
                <a:ea typeface="Aptos" pitchFamily="34" charset="-122"/>
                <a:cs typeface="Aptos" pitchFamily="34" charset="-120"/>
              </a:rPr>
              <a:t>7</a:t>
            </a:r>
            <a:endParaRPr lang="en-US" sz="900" dirty="0"/>
          </a:p>
        </p:txBody>
      </p:sp>
      <p:sp>
        <p:nvSpPr>
          <p:cNvPr id="9" name="Shape 7"/>
          <p:cNvSpPr/>
          <p:nvPr/>
        </p:nvSpPr>
        <p:spPr>
          <a:xfrm>
            <a:off x="658368" y="1572768"/>
            <a:ext cx="2743200" cy="1847088"/>
          </a:xfrm>
          <a:prstGeom prst="roundRect">
            <a:avLst/>
          </a:prstGeom>
          <a:solidFill>
            <a:srgbClr val="DDE8E5"/>
          </a:solidFill>
          <a:ln w="12700">
            <a:solidFill>
              <a:srgbClr val="DDE8E5"/>
            </a:solidFill>
            <a:prstDash val="solid"/>
          </a:ln>
        </p:spPr>
      </p:sp>
      <p:sp>
        <p:nvSpPr>
          <p:cNvPr id="10" name="Text 8"/>
          <p:cNvSpPr txBox="1"/>
          <p:nvPr/>
        </p:nvSpPr>
        <p:spPr>
          <a:xfrm>
            <a:off x="859536" y="1801368"/>
            <a:ext cx="384048" cy="182880"/>
          </a:xfrm>
          <a:prstGeom prst="rect">
            <a:avLst/>
          </a:prstGeom>
          <a:noFill/>
          <a:ln/>
        </p:spPr>
        <p:txBody>
          <a:bodyPr wrap="square" lIns="0" tIns="0" rIns="0" bIns="0" rtlCol="0" anchor="ctr">
            <a:normAutofit/>
          </a:bodyPr>
          <a:lstStyle/>
          <a:p>
            <a:pPr algn="l" indent="0" marL="0">
              <a:buNone/>
            </a:pPr>
            <a:r>
              <a:rPr lang="en-US" sz="950" b="1" dirty="0">
                <a:solidFill>
                  <a:srgbClr val="294947"/>
                </a:solidFill>
                <a:latin typeface="Aptos" pitchFamily="34" charset="0"/>
                <a:ea typeface="Aptos" pitchFamily="34" charset="-122"/>
                <a:cs typeface="Aptos" pitchFamily="34" charset="-120"/>
              </a:rPr>
              <a:t>01</a:t>
            </a:r>
            <a:endParaRPr lang="en-US" sz="950" dirty="0"/>
          </a:p>
        </p:txBody>
      </p:sp>
      <p:sp>
        <p:nvSpPr>
          <p:cNvPr id="11" name="Text 9"/>
          <p:cNvSpPr txBox="1"/>
          <p:nvPr/>
        </p:nvSpPr>
        <p:spPr>
          <a:xfrm>
            <a:off x="859536" y="2093976"/>
            <a:ext cx="2286000" cy="228600"/>
          </a:xfrm>
          <a:prstGeom prst="rect">
            <a:avLst/>
          </a:prstGeom>
          <a:noFill/>
          <a:ln/>
        </p:spPr>
        <p:txBody>
          <a:bodyPr wrap="square" lIns="0" tIns="0" rIns="0" bIns="0" rtlCol="0" anchor="ctr">
            <a:normAutofit/>
          </a:bodyPr>
          <a:lstStyle/>
          <a:p>
            <a:pPr algn="l" indent="0" marL="0">
              <a:buNone/>
            </a:pPr>
            <a:r>
              <a:rPr lang="en-US" sz="1200" b="1" dirty="0">
                <a:solidFill>
                  <a:srgbClr val="294947"/>
                </a:solidFill>
                <a:latin typeface="Aptos" pitchFamily="34" charset="0"/>
                <a:ea typeface="Aptos" pitchFamily="34" charset="-122"/>
                <a:cs typeface="Aptos" pitchFamily="34" charset="-120"/>
              </a:rPr>
              <a:t>DIRECTIVE PO</a:t>
            </a:r>
            <a:endParaRPr lang="en-US" sz="1200" dirty="0"/>
          </a:p>
        </p:txBody>
      </p:sp>
      <p:sp>
        <p:nvSpPr>
          <p:cNvPr id="12" name="Text 10"/>
          <p:cNvSpPr txBox="1"/>
          <p:nvPr/>
        </p:nvSpPr>
        <p:spPr>
          <a:xfrm>
            <a:off x="859536" y="2496312"/>
            <a:ext cx="2286000" cy="676656"/>
          </a:xfrm>
          <a:prstGeom prst="rect">
            <a:avLst/>
          </a:prstGeom>
          <a:noFill/>
          <a:ln/>
        </p:spPr>
        <p:txBody>
          <a:bodyPr wrap="square" lIns="0" tIns="0" rIns="0" bIns="0" rtlCol="0" anchor="t">
            <a:normAutofit/>
          </a:bodyPr>
          <a:lstStyle/>
          <a:p>
            <a:pPr algn="l" indent="0" marL="0">
              <a:buNone/>
            </a:pPr>
            <a:r>
              <a:rPr lang="en-US" sz="1400" b="1" dirty="0">
                <a:solidFill>
                  <a:srgbClr val="25292B"/>
                </a:solidFill>
                <a:latin typeface="Aptos" pitchFamily="34" charset="0"/>
                <a:ea typeface="Aptos" pitchFamily="34" charset="-122"/>
                <a:cs typeface="Aptos" pitchFamily="34" charset="-120"/>
              </a:rPr>
              <a:t>Backlog order</a:t>
            </a:r>
            <a:endParaRPr lang="en-US" sz="1400" dirty="0"/>
          </a:p>
          <a:p>
            <a:pPr algn="l" indent="0" marL="0">
              <a:buNone/>
            </a:pPr>
            <a:r>
              <a:rPr lang="en-US" sz="1400" b="1" dirty="0">
                <a:solidFill>
                  <a:srgbClr val="25292B"/>
                </a:solidFill>
                <a:latin typeface="Aptos" pitchFamily="34" charset="0"/>
                <a:ea typeface="Aptos" pitchFamily="34" charset="-122"/>
                <a:cs typeface="Aptos" pitchFamily="34" charset="-120"/>
              </a:rPr>
              <a:t>Release scope</a:t>
            </a:r>
            <a:endParaRPr lang="en-US" sz="1400" dirty="0"/>
          </a:p>
          <a:p>
            <a:pPr algn="l" indent="0" marL="0">
              <a:buNone/>
            </a:pPr>
            <a:r>
              <a:rPr lang="en-US" sz="1400" b="1" dirty="0">
                <a:solidFill>
                  <a:srgbClr val="25292B"/>
                </a:solidFill>
                <a:latin typeface="Aptos" pitchFamily="34" charset="0"/>
                <a:ea typeface="Aptos" pitchFamily="34" charset="-122"/>
                <a:cs typeface="Aptos" pitchFamily="34" charset="-120"/>
              </a:rPr>
              <a:t>Urgent compliance</a:t>
            </a:r>
            <a:endParaRPr lang="en-US" sz="1400" dirty="0"/>
          </a:p>
        </p:txBody>
      </p:sp>
      <p:sp>
        <p:nvSpPr>
          <p:cNvPr id="13" name="Shape 11"/>
          <p:cNvSpPr/>
          <p:nvPr/>
        </p:nvSpPr>
        <p:spPr>
          <a:xfrm>
            <a:off x="3657600" y="1572768"/>
            <a:ext cx="2743200" cy="1847088"/>
          </a:xfrm>
          <a:prstGeom prst="roundRect">
            <a:avLst/>
          </a:prstGeom>
          <a:solidFill>
            <a:srgbClr val="DFE7EA"/>
          </a:solidFill>
          <a:ln w="12700">
            <a:solidFill>
              <a:srgbClr val="DFE7EA"/>
            </a:solidFill>
            <a:prstDash val="solid"/>
          </a:ln>
        </p:spPr>
      </p:sp>
      <p:sp>
        <p:nvSpPr>
          <p:cNvPr id="14" name="Text 12"/>
          <p:cNvSpPr txBox="1"/>
          <p:nvPr/>
        </p:nvSpPr>
        <p:spPr>
          <a:xfrm>
            <a:off x="3858768" y="1801368"/>
            <a:ext cx="384048" cy="182880"/>
          </a:xfrm>
          <a:prstGeom prst="rect">
            <a:avLst/>
          </a:prstGeom>
          <a:noFill/>
          <a:ln/>
        </p:spPr>
        <p:txBody>
          <a:bodyPr wrap="square" lIns="0" tIns="0" rIns="0" bIns="0" rtlCol="0" anchor="ctr">
            <a:normAutofit/>
          </a:bodyPr>
          <a:lstStyle/>
          <a:p>
            <a:pPr algn="l" indent="0" marL="0">
              <a:buNone/>
            </a:pPr>
            <a:r>
              <a:rPr lang="en-US" sz="950" b="1" dirty="0">
                <a:solidFill>
                  <a:srgbClr val="5D7480"/>
                </a:solidFill>
                <a:latin typeface="Aptos" pitchFamily="34" charset="0"/>
                <a:ea typeface="Aptos" pitchFamily="34" charset="-122"/>
                <a:cs typeface="Aptos" pitchFamily="34" charset="-120"/>
              </a:rPr>
              <a:t>02</a:t>
            </a:r>
            <a:endParaRPr lang="en-US" sz="950" dirty="0"/>
          </a:p>
        </p:txBody>
      </p:sp>
      <p:sp>
        <p:nvSpPr>
          <p:cNvPr id="15" name="Text 13"/>
          <p:cNvSpPr txBox="1"/>
          <p:nvPr/>
        </p:nvSpPr>
        <p:spPr>
          <a:xfrm>
            <a:off x="3858768" y="2093976"/>
            <a:ext cx="2286000" cy="228600"/>
          </a:xfrm>
          <a:prstGeom prst="rect">
            <a:avLst/>
          </a:prstGeom>
          <a:noFill/>
          <a:ln/>
        </p:spPr>
        <p:txBody>
          <a:bodyPr wrap="square" lIns="0" tIns="0" rIns="0" bIns="0" rtlCol="0" anchor="ctr">
            <a:normAutofit/>
          </a:bodyPr>
          <a:lstStyle/>
          <a:p>
            <a:pPr algn="l" indent="0" marL="0">
              <a:buNone/>
            </a:pPr>
            <a:r>
              <a:rPr lang="en-US" sz="1200" b="1" dirty="0">
                <a:solidFill>
                  <a:srgbClr val="5D7480"/>
                </a:solidFill>
                <a:latin typeface="Aptos" pitchFamily="34" charset="0"/>
                <a:ea typeface="Aptos" pitchFamily="34" charset="-122"/>
                <a:cs typeface="Aptos" pitchFamily="34" charset="-120"/>
              </a:rPr>
              <a:t>COOPERATIVE SM</a:t>
            </a:r>
            <a:endParaRPr lang="en-US" sz="1200" dirty="0"/>
          </a:p>
        </p:txBody>
      </p:sp>
      <p:sp>
        <p:nvSpPr>
          <p:cNvPr id="16" name="Text 14"/>
          <p:cNvSpPr txBox="1"/>
          <p:nvPr/>
        </p:nvSpPr>
        <p:spPr>
          <a:xfrm>
            <a:off x="3858768" y="2496312"/>
            <a:ext cx="2286000" cy="676656"/>
          </a:xfrm>
          <a:prstGeom prst="rect">
            <a:avLst/>
          </a:prstGeom>
          <a:noFill/>
          <a:ln/>
        </p:spPr>
        <p:txBody>
          <a:bodyPr wrap="square" lIns="0" tIns="0" rIns="0" bIns="0" rtlCol="0" anchor="t">
            <a:normAutofit/>
          </a:bodyPr>
          <a:lstStyle/>
          <a:p>
            <a:pPr algn="l" indent="0" marL="0">
              <a:buNone/>
            </a:pPr>
            <a:r>
              <a:rPr lang="en-US" sz="1400" b="1" dirty="0">
                <a:solidFill>
                  <a:srgbClr val="25292B"/>
                </a:solidFill>
                <a:latin typeface="Aptos" pitchFamily="34" charset="0"/>
                <a:ea typeface="Aptos" pitchFamily="34" charset="-122"/>
                <a:cs typeface="Aptos" pitchFamily="34" charset="-120"/>
              </a:rPr>
              <a:t>Planning</a:t>
            </a:r>
            <a:endParaRPr lang="en-US" sz="1400" dirty="0"/>
          </a:p>
          <a:p>
            <a:pPr algn="l" indent="0" marL="0">
              <a:buNone/>
            </a:pPr>
            <a:r>
              <a:rPr lang="en-US" sz="1400" b="1" dirty="0">
                <a:solidFill>
                  <a:srgbClr val="25292B"/>
                </a:solidFill>
                <a:latin typeface="Aptos" pitchFamily="34" charset="0"/>
                <a:ea typeface="Aptos" pitchFamily="34" charset="-122"/>
                <a:cs typeface="Aptos" pitchFamily="34" charset="-120"/>
              </a:rPr>
              <a:t>Retrospectives</a:t>
            </a:r>
            <a:endParaRPr lang="en-US" sz="1400" dirty="0"/>
          </a:p>
          <a:p>
            <a:pPr algn="l" indent="0" marL="0">
              <a:buNone/>
            </a:pPr>
            <a:r>
              <a:rPr lang="en-US" sz="1400" b="1" dirty="0">
                <a:solidFill>
                  <a:srgbClr val="25292B"/>
                </a:solidFill>
                <a:latin typeface="Aptos" pitchFamily="34" charset="0"/>
                <a:ea typeface="Aptos" pitchFamily="34" charset="-122"/>
                <a:cs typeface="Aptos" pitchFamily="34" charset="-120"/>
              </a:rPr>
              <a:t>Input from every site</a:t>
            </a:r>
            <a:endParaRPr lang="en-US" sz="1400" dirty="0"/>
          </a:p>
        </p:txBody>
      </p:sp>
      <p:sp>
        <p:nvSpPr>
          <p:cNvPr id="17" name="Shape 15"/>
          <p:cNvSpPr/>
          <p:nvPr/>
        </p:nvSpPr>
        <p:spPr>
          <a:xfrm>
            <a:off x="6656832" y="1572768"/>
            <a:ext cx="2743200" cy="1847088"/>
          </a:xfrm>
          <a:prstGeom prst="roundRect">
            <a:avLst/>
          </a:prstGeom>
          <a:solidFill>
            <a:srgbClr val="ECE4D5"/>
          </a:solidFill>
          <a:ln w="12700">
            <a:solidFill>
              <a:srgbClr val="ECE4D5"/>
            </a:solidFill>
            <a:prstDash val="solid"/>
          </a:ln>
        </p:spPr>
      </p:sp>
      <p:sp>
        <p:nvSpPr>
          <p:cNvPr id="18" name="Text 16"/>
          <p:cNvSpPr txBox="1"/>
          <p:nvPr/>
        </p:nvSpPr>
        <p:spPr>
          <a:xfrm>
            <a:off x="6858000" y="1801368"/>
            <a:ext cx="384048" cy="182880"/>
          </a:xfrm>
          <a:prstGeom prst="rect">
            <a:avLst/>
          </a:prstGeom>
          <a:noFill/>
          <a:ln/>
        </p:spPr>
        <p:txBody>
          <a:bodyPr wrap="square" lIns="0" tIns="0" rIns="0" bIns="0" rtlCol="0" anchor="ctr">
            <a:normAutofit/>
          </a:bodyPr>
          <a:lstStyle/>
          <a:p>
            <a:pPr algn="l" indent="0" marL="0">
              <a:buNone/>
            </a:pPr>
            <a:r>
              <a:rPr lang="en-US" sz="950" b="1" dirty="0">
                <a:solidFill>
                  <a:srgbClr val="A3824F"/>
                </a:solidFill>
                <a:latin typeface="Aptos" pitchFamily="34" charset="0"/>
                <a:ea typeface="Aptos" pitchFamily="34" charset="-122"/>
                <a:cs typeface="Aptos" pitchFamily="34" charset="-120"/>
              </a:rPr>
              <a:t>03</a:t>
            </a:r>
            <a:endParaRPr lang="en-US" sz="950" dirty="0"/>
          </a:p>
        </p:txBody>
      </p:sp>
      <p:sp>
        <p:nvSpPr>
          <p:cNvPr id="19" name="Text 17"/>
          <p:cNvSpPr txBox="1"/>
          <p:nvPr/>
        </p:nvSpPr>
        <p:spPr>
          <a:xfrm>
            <a:off x="6858000" y="2093976"/>
            <a:ext cx="2286000" cy="228600"/>
          </a:xfrm>
          <a:prstGeom prst="rect">
            <a:avLst/>
          </a:prstGeom>
          <a:noFill/>
          <a:ln/>
        </p:spPr>
        <p:txBody>
          <a:bodyPr wrap="square" lIns="0" tIns="0" rIns="0" bIns="0" rtlCol="0" anchor="ctr">
            <a:normAutofit/>
          </a:bodyPr>
          <a:lstStyle/>
          <a:p>
            <a:pPr algn="l" indent="0" marL="0">
              <a:buNone/>
            </a:pPr>
            <a:r>
              <a:rPr lang="en-US" sz="1200" b="1" dirty="0">
                <a:solidFill>
                  <a:srgbClr val="A3824F"/>
                </a:solidFill>
                <a:latin typeface="Aptos" pitchFamily="34" charset="0"/>
                <a:ea typeface="Aptos" pitchFamily="34" charset="-122"/>
                <a:cs typeface="Aptos" pitchFamily="34" charset="-120"/>
              </a:rPr>
              <a:t>TRANSFORMATIONAL</a:t>
            </a:r>
            <a:endParaRPr lang="en-US" sz="1200" dirty="0"/>
          </a:p>
        </p:txBody>
      </p:sp>
      <p:sp>
        <p:nvSpPr>
          <p:cNvPr id="20" name="Text 18"/>
          <p:cNvSpPr txBox="1"/>
          <p:nvPr/>
        </p:nvSpPr>
        <p:spPr>
          <a:xfrm>
            <a:off x="6858000" y="2496312"/>
            <a:ext cx="2286000" cy="676656"/>
          </a:xfrm>
          <a:prstGeom prst="rect">
            <a:avLst/>
          </a:prstGeom>
          <a:noFill/>
          <a:ln/>
        </p:spPr>
        <p:txBody>
          <a:bodyPr wrap="square" lIns="0" tIns="0" rIns="0" bIns="0" rtlCol="0" anchor="t">
            <a:normAutofit/>
          </a:bodyPr>
          <a:lstStyle/>
          <a:p>
            <a:pPr algn="l" indent="0" marL="0">
              <a:buNone/>
            </a:pPr>
            <a:r>
              <a:rPr lang="en-US" sz="1400" b="1" dirty="0">
                <a:solidFill>
                  <a:srgbClr val="25292B"/>
                </a:solidFill>
                <a:latin typeface="Aptos" pitchFamily="34" charset="0"/>
                <a:ea typeface="Aptos" pitchFamily="34" charset="-122"/>
                <a:cs typeface="Aptos" pitchFamily="34" charset="-120"/>
              </a:rPr>
              <a:t>Shared purpose</a:t>
            </a:r>
            <a:endParaRPr lang="en-US" sz="1400" dirty="0"/>
          </a:p>
          <a:p>
            <a:pPr algn="l" indent="0" marL="0">
              <a:buNone/>
            </a:pPr>
            <a:r>
              <a:rPr lang="en-US" sz="1400" b="1" dirty="0">
                <a:solidFill>
                  <a:srgbClr val="25292B"/>
                </a:solidFill>
                <a:latin typeface="Aptos" pitchFamily="34" charset="0"/>
                <a:ea typeface="Aptos" pitchFamily="34" charset="-122"/>
                <a:cs typeface="Aptos" pitchFamily="34" charset="-120"/>
              </a:rPr>
              <a:t>Individual development</a:t>
            </a:r>
            <a:endParaRPr lang="en-US" sz="1400" dirty="0"/>
          </a:p>
          <a:p>
            <a:pPr algn="l" indent="0" marL="0">
              <a:buNone/>
            </a:pPr>
            <a:r>
              <a:rPr lang="en-US" sz="1400" b="1" dirty="0">
                <a:solidFill>
                  <a:srgbClr val="25292B"/>
                </a:solidFill>
                <a:latin typeface="Aptos" pitchFamily="34" charset="0"/>
                <a:ea typeface="Aptos" pitchFamily="34" charset="-122"/>
                <a:cs typeface="Aptos" pitchFamily="34" charset="-120"/>
              </a:rPr>
              <a:t>Responsible global product</a:t>
            </a:r>
            <a:endParaRPr lang="en-US" sz="1400" dirty="0"/>
          </a:p>
        </p:txBody>
      </p:sp>
      <p:sp>
        <p:nvSpPr>
          <p:cNvPr id="21" name="Shape 19"/>
          <p:cNvSpPr/>
          <p:nvPr/>
        </p:nvSpPr>
        <p:spPr>
          <a:xfrm>
            <a:off x="9656064" y="1572768"/>
            <a:ext cx="1865376" cy="1847088"/>
          </a:xfrm>
          <a:prstGeom prst="roundRect">
            <a:avLst/>
          </a:prstGeom>
          <a:solidFill>
            <a:srgbClr val="9A5C49"/>
          </a:solidFill>
          <a:ln w="12700">
            <a:solidFill>
              <a:srgbClr val="9A5C49"/>
            </a:solidFill>
            <a:prstDash val="solid"/>
          </a:ln>
        </p:spPr>
      </p:sp>
      <p:sp>
        <p:nvSpPr>
          <p:cNvPr id="22" name="Text 20"/>
          <p:cNvSpPr txBox="1"/>
          <p:nvPr/>
        </p:nvSpPr>
        <p:spPr>
          <a:xfrm>
            <a:off x="9866376" y="1801368"/>
            <a:ext cx="1444752" cy="182880"/>
          </a:xfrm>
          <a:prstGeom prst="rect">
            <a:avLst/>
          </a:prstGeom>
          <a:noFill/>
          <a:ln/>
        </p:spPr>
        <p:txBody>
          <a:bodyPr wrap="square" lIns="0" tIns="0" rIns="0" bIns="0" rtlCol="0" anchor="ctr">
            <a:normAutofit/>
          </a:bodyPr>
          <a:lstStyle/>
          <a:p>
            <a:pPr algn="l" indent="0" marL="0">
              <a:buNone/>
            </a:pPr>
            <a:r>
              <a:rPr lang="en-US" sz="950" b="1" dirty="0">
                <a:solidFill>
                  <a:srgbClr val="EEDFD8"/>
                </a:solidFill>
                <a:latin typeface="Aptos" pitchFamily="34" charset="0"/>
                <a:ea typeface="Aptos" pitchFamily="34" charset="-122"/>
                <a:cs typeface="Aptos" pitchFamily="34" charset="-120"/>
              </a:rPr>
              <a:t>RESULT</a:t>
            </a:r>
            <a:endParaRPr lang="en-US" sz="950" dirty="0"/>
          </a:p>
        </p:txBody>
      </p:sp>
      <p:sp>
        <p:nvSpPr>
          <p:cNvPr id="23" name="Text 21"/>
          <p:cNvSpPr txBox="1"/>
          <p:nvPr/>
        </p:nvSpPr>
        <p:spPr>
          <a:xfrm>
            <a:off x="9866376" y="2112264"/>
            <a:ext cx="1444752" cy="274320"/>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Georgia" pitchFamily="34" charset="0"/>
                <a:ea typeface="Georgia" pitchFamily="34" charset="-122"/>
                <a:cs typeface="Georgia" pitchFamily="34" charset="-120"/>
              </a:rPr>
              <a:t>Speed</a:t>
            </a:r>
            <a:endParaRPr lang="en-US" sz="1900" dirty="0"/>
          </a:p>
        </p:txBody>
      </p:sp>
      <p:sp>
        <p:nvSpPr>
          <p:cNvPr id="24" name="Text 22"/>
          <p:cNvSpPr txBox="1"/>
          <p:nvPr/>
        </p:nvSpPr>
        <p:spPr>
          <a:xfrm>
            <a:off x="9866376" y="2450592"/>
            <a:ext cx="1444752" cy="219456"/>
          </a:xfrm>
          <a:prstGeom prst="rect">
            <a:avLst/>
          </a:prstGeom>
          <a:noFill/>
          <a:ln/>
        </p:spPr>
        <p:txBody>
          <a:bodyPr wrap="square" lIns="0" tIns="0" rIns="0" bIns="0" rtlCol="0" anchor="ctr">
            <a:normAutofit/>
          </a:bodyPr>
          <a:lstStyle/>
          <a:p>
            <a:pPr algn="l" indent="0" marL="0">
              <a:buNone/>
            </a:pPr>
            <a:r>
              <a:rPr lang="en-US" sz="1700" b="1" dirty="0">
                <a:solidFill>
                  <a:srgbClr val="EEDFD8"/>
                </a:solidFill>
                <a:latin typeface="Aptos" pitchFamily="34" charset="0"/>
                <a:ea typeface="Aptos" pitchFamily="34" charset="-122"/>
                <a:cs typeface="Aptos" pitchFamily="34" charset="-120"/>
              </a:rPr>
              <a:t>+</a:t>
            </a:r>
            <a:endParaRPr lang="en-US" sz="1700" dirty="0"/>
          </a:p>
        </p:txBody>
      </p:sp>
      <p:sp>
        <p:nvSpPr>
          <p:cNvPr id="25" name="Text 23"/>
          <p:cNvSpPr txBox="1"/>
          <p:nvPr/>
        </p:nvSpPr>
        <p:spPr>
          <a:xfrm>
            <a:off x="9866376" y="2752344"/>
            <a:ext cx="1444752" cy="274320"/>
          </a:xfrm>
          <a:prstGeom prst="rect">
            <a:avLst/>
          </a:prstGeom>
          <a:noFill/>
          <a:ln/>
        </p:spPr>
        <p:txBody>
          <a:bodyPr wrap="square" lIns="0" tIns="0" rIns="0" bIns="0" rtlCol="0" anchor="ctr">
            <a:normAutofit/>
          </a:bodyPr>
          <a:lstStyle/>
          <a:p>
            <a:pPr algn="l" indent="0" marL="0">
              <a:buNone/>
            </a:pPr>
            <a:r>
              <a:rPr lang="en-US" sz="1700" dirty="0">
                <a:solidFill>
                  <a:srgbClr val="FFFFFF"/>
                </a:solidFill>
                <a:latin typeface="Georgia" pitchFamily="34" charset="0"/>
                <a:ea typeface="Georgia" pitchFamily="34" charset="-122"/>
                <a:cs typeface="Georgia" pitchFamily="34" charset="-120"/>
              </a:rPr>
              <a:t>Participation</a:t>
            </a:r>
            <a:endParaRPr lang="en-US" sz="1700" dirty="0"/>
          </a:p>
        </p:txBody>
      </p:sp>
      <p:sp>
        <p:nvSpPr>
          <p:cNvPr id="26" name="Shape 24"/>
          <p:cNvSpPr/>
          <p:nvPr/>
        </p:nvSpPr>
        <p:spPr>
          <a:xfrm>
            <a:off x="658368" y="3794760"/>
            <a:ext cx="10863072" cy="1115568"/>
          </a:xfrm>
          <a:prstGeom prst="roundRect">
            <a:avLst/>
          </a:prstGeom>
          <a:solidFill>
            <a:srgbClr val="294947"/>
          </a:solidFill>
          <a:ln w="12700">
            <a:solidFill>
              <a:srgbClr val="294947"/>
            </a:solidFill>
            <a:prstDash val="solid"/>
          </a:ln>
        </p:spPr>
      </p:sp>
      <p:sp>
        <p:nvSpPr>
          <p:cNvPr id="27" name="Text 25"/>
          <p:cNvSpPr txBox="1"/>
          <p:nvPr/>
        </p:nvSpPr>
        <p:spPr>
          <a:xfrm>
            <a:off x="905256" y="4050792"/>
            <a:ext cx="2395728" cy="201168"/>
          </a:xfrm>
          <a:prstGeom prst="rect">
            <a:avLst/>
          </a:prstGeom>
          <a:noFill/>
          <a:ln/>
        </p:spPr>
        <p:txBody>
          <a:bodyPr wrap="square" lIns="0" tIns="0" rIns="0" bIns="0" rtlCol="0" anchor="ctr">
            <a:normAutofit/>
          </a:bodyPr>
          <a:lstStyle/>
          <a:p>
            <a:pPr algn="l" indent="0" marL="0">
              <a:buNone/>
            </a:pPr>
            <a:r>
              <a:rPr lang="en-US" sz="1050" b="1" dirty="0">
                <a:solidFill>
                  <a:srgbClr val="DDE8E5"/>
                </a:solidFill>
                <a:latin typeface="Aptos" pitchFamily="34" charset="0"/>
                <a:ea typeface="Aptos" pitchFamily="34" charset="-122"/>
                <a:cs typeface="Aptos" pitchFamily="34" charset="-120"/>
              </a:rPr>
              <a:t>PSYCHOLOGICAL SAFETY</a:t>
            </a:r>
            <a:endParaRPr lang="en-US" sz="1050" dirty="0"/>
          </a:p>
        </p:txBody>
      </p:sp>
      <p:sp>
        <p:nvSpPr>
          <p:cNvPr id="28" name="Text 26"/>
          <p:cNvSpPr txBox="1"/>
          <p:nvPr/>
        </p:nvSpPr>
        <p:spPr>
          <a:xfrm>
            <a:off x="2798064" y="4005072"/>
            <a:ext cx="8083296" cy="292608"/>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Georgia" pitchFamily="34" charset="0"/>
                <a:ea typeface="Georgia" pitchFamily="34" charset="-122"/>
                <a:cs typeface="Georgia" pitchFamily="34" charset="-120"/>
              </a:rPr>
              <a:t>Challenge ideas and report blockers without humiliation.</a:t>
            </a:r>
            <a:endParaRPr lang="en-US" sz="1900" dirty="0"/>
          </a:p>
        </p:txBody>
      </p:sp>
      <p:sp>
        <p:nvSpPr>
          <p:cNvPr id="29" name="Text 27"/>
          <p:cNvSpPr txBox="1"/>
          <p:nvPr/>
        </p:nvSpPr>
        <p:spPr>
          <a:xfrm>
            <a:off x="2798064" y="4389120"/>
            <a:ext cx="7991856" cy="210312"/>
          </a:xfrm>
          <a:prstGeom prst="rect">
            <a:avLst/>
          </a:prstGeom>
          <a:noFill/>
          <a:ln/>
        </p:spPr>
        <p:txBody>
          <a:bodyPr wrap="square" lIns="0" tIns="0" rIns="0" bIns="0" rtlCol="0" anchor="ctr">
            <a:normAutofit/>
          </a:bodyPr>
          <a:lstStyle/>
          <a:p>
            <a:pPr algn="l" indent="0" marL="0">
              <a:buNone/>
            </a:pPr>
            <a:r>
              <a:rPr lang="en-US" sz="1150" dirty="0">
                <a:solidFill>
                  <a:srgbClr val="DDE8E5"/>
                </a:solidFill>
                <a:latin typeface="Aptos" pitchFamily="34" charset="0"/>
                <a:ea typeface="Aptos" pitchFamily="34" charset="-122"/>
                <a:cs typeface="Aptos" pitchFamily="34" charset="-120"/>
              </a:rPr>
              <a:t>Safety does not lower standards; predictable reactions make interpersonal risk possible.</a:t>
            </a:r>
            <a:endParaRPr lang="en-US" sz="1150" dirty="0"/>
          </a:p>
        </p:txBody>
      </p:sp>
      <p:sp>
        <p:nvSpPr>
          <p:cNvPr id="30" name="Shape 28"/>
          <p:cNvSpPr/>
          <p:nvPr/>
        </p:nvSpPr>
        <p:spPr>
          <a:xfrm>
            <a:off x="658368" y="5266944"/>
            <a:ext cx="5239512" cy="658368"/>
          </a:xfrm>
          <a:prstGeom prst="roundRect">
            <a:avLst/>
          </a:prstGeom>
          <a:solidFill>
            <a:srgbClr val="FFFEFA"/>
          </a:solidFill>
          <a:ln w="12700">
            <a:solidFill>
              <a:srgbClr val="D8D6CF"/>
            </a:solidFill>
            <a:prstDash val="solid"/>
          </a:ln>
        </p:spPr>
      </p:sp>
      <p:sp>
        <p:nvSpPr>
          <p:cNvPr id="31" name="Text 29"/>
          <p:cNvSpPr txBox="1"/>
          <p:nvPr/>
        </p:nvSpPr>
        <p:spPr>
          <a:xfrm>
            <a:off x="896112" y="5477256"/>
            <a:ext cx="1051560" cy="192024"/>
          </a:xfrm>
          <a:prstGeom prst="rect">
            <a:avLst/>
          </a:prstGeom>
          <a:noFill/>
          <a:ln/>
        </p:spPr>
        <p:txBody>
          <a:bodyPr wrap="square" lIns="0" tIns="0" rIns="0" bIns="0" rtlCol="0" anchor="ctr">
            <a:normAutofit/>
          </a:bodyPr>
          <a:lstStyle/>
          <a:p>
            <a:pPr algn="l" indent="0" marL="0">
              <a:buNone/>
            </a:pPr>
            <a:r>
              <a:rPr lang="en-US" sz="1000" b="1" dirty="0">
                <a:solidFill>
                  <a:srgbClr val="5D7480"/>
                </a:solidFill>
                <a:latin typeface="Aptos" pitchFamily="34" charset="0"/>
                <a:ea typeface="Aptos" pitchFamily="34" charset="-122"/>
                <a:cs typeface="Aptos" pitchFamily="34" charset="-120"/>
              </a:rPr>
              <a:t>DOCUMENTS</a:t>
            </a:r>
            <a:endParaRPr lang="en-US" sz="1000" dirty="0"/>
          </a:p>
        </p:txBody>
      </p:sp>
      <p:sp>
        <p:nvSpPr>
          <p:cNvPr id="32" name="Text 30"/>
          <p:cNvSpPr txBox="1"/>
          <p:nvPr/>
        </p:nvSpPr>
        <p:spPr>
          <a:xfrm>
            <a:off x="2002536" y="5440680"/>
            <a:ext cx="3456432" cy="228600"/>
          </a:xfrm>
          <a:prstGeom prst="rect">
            <a:avLst/>
          </a:prstGeom>
          <a:noFill/>
          <a:ln/>
        </p:spPr>
        <p:txBody>
          <a:bodyPr wrap="square" lIns="0" tIns="0" rIns="0" bIns="0" rtlCol="0" anchor="ctr">
            <a:normAutofit/>
          </a:bodyPr>
          <a:lstStyle/>
          <a:p>
            <a:pPr algn="l" indent="0" marL="0">
              <a:buNone/>
            </a:pPr>
            <a:r>
              <a:rPr lang="en-US" sz="1300" dirty="0">
                <a:solidFill>
                  <a:srgbClr val="25292B"/>
                </a:solidFill>
                <a:latin typeface="Aptos" pitchFamily="34" charset="0"/>
                <a:ea typeface="Aptos" pitchFamily="34" charset="-122"/>
                <a:cs typeface="Aptos" pitchFamily="34" charset="-120"/>
              </a:rPr>
              <a:t>coordination · decisions · reviews</a:t>
            </a:r>
            <a:endParaRPr lang="en-US" sz="1300" dirty="0"/>
          </a:p>
        </p:txBody>
      </p:sp>
      <p:sp>
        <p:nvSpPr>
          <p:cNvPr id="33" name="Shape 31"/>
          <p:cNvSpPr/>
          <p:nvPr/>
        </p:nvSpPr>
        <p:spPr>
          <a:xfrm>
            <a:off x="6272784" y="5266944"/>
            <a:ext cx="5248656" cy="658368"/>
          </a:xfrm>
          <a:prstGeom prst="roundRect">
            <a:avLst/>
          </a:prstGeom>
          <a:solidFill>
            <a:srgbClr val="FFFEFA"/>
          </a:solidFill>
          <a:ln w="12700">
            <a:solidFill>
              <a:srgbClr val="D8D6CF"/>
            </a:solidFill>
            <a:prstDash val="solid"/>
          </a:ln>
        </p:spPr>
      </p:sp>
      <p:sp>
        <p:nvSpPr>
          <p:cNvPr id="34" name="Text 32"/>
          <p:cNvSpPr txBox="1"/>
          <p:nvPr/>
        </p:nvSpPr>
        <p:spPr>
          <a:xfrm>
            <a:off x="6510528" y="5477256"/>
            <a:ext cx="676656" cy="192024"/>
          </a:xfrm>
          <a:prstGeom prst="rect">
            <a:avLst/>
          </a:prstGeom>
          <a:noFill/>
          <a:ln/>
        </p:spPr>
        <p:txBody>
          <a:bodyPr wrap="square" lIns="0" tIns="0" rIns="0" bIns="0" rtlCol="0" anchor="ctr">
            <a:normAutofit/>
          </a:bodyPr>
          <a:lstStyle/>
          <a:p>
            <a:pPr algn="l" indent="0" marL="0">
              <a:buNone/>
            </a:pPr>
            <a:r>
              <a:rPr lang="en-US" sz="1000" b="1" dirty="0">
                <a:solidFill>
                  <a:srgbClr val="9A5C49"/>
                </a:solidFill>
                <a:latin typeface="Aptos" pitchFamily="34" charset="0"/>
                <a:ea typeface="Aptos" pitchFamily="34" charset="-122"/>
                <a:cs typeface="Aptos" pitchFamily="34" charset="-120"/>
              </a:rPr>
              <a:t>VIDEO</a:t>
            </a:r>
            <a:endParaRPr lang="en-US" sz="1000" dirty="0"/>
          </a:p>
        </p:txBody>
      </p:sp>
      <p:sp>
        <p:nvSpPr>
          <p:cNvPr id="35" name="Text 33"/>
          <p:cNvSpPr txBox="1"/>
          <p:nvPr/>
        </p:nvSpPr>
        <p:spPr>
          <a:xfrm>
            <a:off x="7260336" y="5440680"/>
            <a:ext cx="3840480" cy="228600"/>
          </a:xfrm>
          <a:prstGeom prst="rect">
            <a:avLst/>
          </a:prstGeom>
          <a:noFill/>
          <a:ln/>
        </p:spPr>
        <p:txBody>
          <a:bodyPr wrap="square" lIns="0" tIns="0" rIns="0" bIns="0" rtlCol="0" anchor="ctr">
            <a:normAutofit/>
          </a:bodyPr>
          <a:lstStyle/>
          <a:p>
            <a:pPr algn="l" indent="0" marL="0">
              <a:buNone/>
            </a:pPr>
            <a:r>
              <a:rPr lang="en-US" sz="1300" dirty="0">
                <a:solidFill>
                  <a:srgbClr val="25292B"/>
                </a:solidFill>
                <a:latin typeface="Aptos" pitchFamily="34" charset="0"/>
                <a:ea typeface="Aptos" pitchFamily="34" charset="-122"/>
                <a:cs typeface="Aptos" pitchFamily="34" charset="-120"/>
              </a:rPr>
              <a:t>conflict repair · relationships · pair calls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94360" y="320040"/>
            <a:ext cx="411480" cy="22860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08</a:t>
            </a:r>
            <a:endParaRPr lang="en-US" sz="1000" dirty="0"/>
          </a:p>
        </p:txBody>
      </p:sp>
      <p:sp>
        <p:nvSpPr>
          <p:cNvPr id="3" name="Text 1"/>
          <p:cNvSpPr txBox="1"/>
          <p:nvPr/>
        </p:nvSpPr>
        <p:spPr>
          <a:xfrm>
            <a:off x="594360" y="621792"/>
            <a:ext cx="9052560" cy="530352"/>
          </a:xfrm>
          <a:prstGeom prst="rect">
            <a:avLst/>
          </a:prstGeom>
          <a:noFill/>
          <a:ln/>
        </p:spPr>
        <p:txBody>
          <a:bodyPr wrap="square" lIns="0" tIns="0" rIns="0" bIns="0" rtlCol="0" anchor="ctr">
            <a:normAutofit/>
          </a:bodyPr>
          <a:lstStyle/>
          <a:p>
            <a:pPr algn="l" indent="0" marL="0">
              <a:buNone/>
            </a:pPr>
            <a:r>
              <a:rPr lang="en-US" sz="2500" dirty="0">
                <a:solidFill>
                  <a:srgbClr val="25292B"/>
                </a:solidFill>
                <a:latin typeface="Georgia" pitchFamily="34" charset="0"/>
                <a:ea typeface="Georgia" pitchFamily="34" charset="-122"/>
                <a:cs typeface="Georgia" pitchFamily="34" charset="-120"/>
              </a:rPr>
              <a:t>Outcome and Evaluation</a:t>
            </a:r>
            <a:endParaRPr lang="en-US" sz="2500" dirty="0"/>
          </a:p>
        </p:txBody>
      </p:sp>
      <p:sp>
        <p:nvSpPr>
          <p:cNvPr id="4" name="Text 2"/>
          <p:cNvSpPr txBox="1"/>
          <p:nvPr/>
        </p:nvSpPr>
        <p:spPr>
          <a:xfrm>
            <a:off x="9601200" y="384048"/>
            <a:ext cx="1965960" cy="228600"/>
          </a:xfrm>
          <a:prstGeom prst="rect">
            <a:avLst/>
          </a:prstGeom>
          <a:noFill/>
          <a:ln/>
        </p:spPr>
        <p:txBody>
          <a:bodyPr wrap="square" lIns="0" tIns="0" rIns="0" bIns="0" rtlCol="0" anchor="ctr">
            <a:normAutofit/>
          </a:bodyPr>
          <a:lstStyle/>
          <a:p>
            <a:pPr algn="r" indent="0" marL="0">
              <a:buNone/>
            </a:pPr>
            <a:r>
              <a:rPr lang="en-US" sz="1000" b="1" dirty="0">
                <a:solidFill>
                  <a:srgbClr val="62696B"/>
                </a:solidFill>
                <a:latin typeface="Aptos" pitchFamily="34" charset="0"/>
                <a:ea typeface="Aptos" pitchFamily="34" charset="-122"/>
                <a:cs typeface="Aptos" pitchFamily="34" charset="-120"/>
              </a:rPr>
              <a:t>ANTON  ·  0:55</a:t>
            </a:r>
            <a:endParaRPr lang="en-US" sz="1000" dirty="0"/>
          </a:p>
        </p:txBody>
      </p:sp>
      <p:sp>
        <p:nvSpPr>
          <p:cNvPr id="5" name="Shape 3"/>
          <p:cNvSpPr/>
          <p:nvPr/>
        </p:nvSpPr>
        <p:spPr>
          <a:xfrm>
            <a:off x="594360" y="1243584"/>
            <a:ext cx="658368" cy="50292"/>
          </a:xfrm>
          <a:prstGeom prst="rect">
            <a:avLst/>
          </a:prstGeom>
          <a:solidFill>
            <a:srgbClr val="426B68"/>
          </a:solidFill>
          <a:ln w="12700">
            <a:solidFill>
              <a:srgbClr val="426B68"/>
            </a:solidFill>
            <a:prstDash val="solid"/>
          </a:ln>
        </p:spPr>
      </p:sp>
      <p:sp>
        <p:nvSpPr>
          <p:cNvPr id="6" name="Shape 4"/>
          <p:cNvSpPr/>
          <p:nvPr/>
        </p:nvSpPr>
        <p:spPr>
          <a:xfrm>
            <a:off x="594360" y="6510528"/>
            <a:ext cx="11000232" cy="0"/>
          </a:xfrm>
          <a:prstGeom prst="line">
            <a:avLst/>
          </a:prstGeom>
          <a:noFill/>
          <a:ln w="10160">
            <a:solidFill>
              <a:srgbClr val="D8D6CF"/>
            </a:solidFill>
            <a:prstDash val="solid"/>
          </a:ln>
        </p:spPr>
      </p:sp>
      <p:sp>
        <p:nvSpPr>
          <p:cNvPr id="7" name="Text 5"/>
          <p:cNvSpPr txBox="1"/>
          <p:nvPr/>
        </p:nvSpPr>
        <p:spPr>
          <a:xfrm>
            <a:off x="594360" y="6574536"/>
            <a:ext cx="9784080" cy="164592"/>
          </a:xfrm>
          <a:prstGeom prst="rect">
            <a:avLst/>
          </a:prstGeom>
          <a:noFill/>
          <a:ln/>
        </p:spPr>
        <p:txBody>
          <a:bodyPr wrap="square" lIns="0" tIns="0" rIns="0" bIns="0" rtlCol="0" anchor="ctr">
            <a:normAutofit/>
          </a:bodyPr>
          <a:lstStyle/>
          <a:p>
            <a:pPr algn="l" indent="0" marL="0">
              <a:buNone/>
            </a:pPr>
            <a:r>
              <a:rPr lang="en-US" sz="850" dirty="0">
                <a:solidFill>
                  <a:srgbClr val="62696B"/>
                </a:solidFill>
                <a:latin typeface="Aptos" pitchFamily="34" charset="0"/>
                <a:ea typeface="Aptos" pitchFamily="34" charset="-122"/>
                <a:cs typeface="Aptos" pitchFamily="34" charset="-120"/>
              </a:rPr>
              <a:t>Source: G4 case data and proposed Sprint 5 evaluation plan</a:t>
            </a:r>
            <a:endParaRPr lang="en-US" sz="850" dirty="0"/>
          </a:p>
        </p:txBody>
      </p:sp>
      <p:sp>
        <p:nvSpPr>
          <p:cNvPr id="8" name="Text 6"/>
          <p:cNvSpPr txBox="1"/>
          <p:nvPr/>
        </p:nvSpPr>
        <p:spPr>
          <a:xfrm>
            <a:off x="11201400" y="6547104"/>
            <a:ext cx="365760" cy="164592"/>
          </a:xfrm>
          <a:prstGeom prst="rect">
            <a:avLst/>
          </a:prstGeom>
          <a:noFill/>
          <a:ln/>
        </p:spPr>
        <p:txBody>
          <a:bodyPr wrap="square" lIns="0" tIns="0" rIns="0" bIns="0" rtlCol="0" anchor="ctr">
            <a:normAutofit/>
          </a:bodyPr>
          <a:lstStyle/>
          <a:p>
            <a:pPr algn="r" indent="0" marL="0">
              <a:buNone/>
            </a:pPr>
            <a:r>
              <a:rPr lang="en-US" sz="900" dirty="0">
                <a:solidFill>
                  <a:srgbClr val="62696B"/>
                </a:solidFill>
                <a:latin typeface="Aptos" pitchFamily="34" charset="0"/>
                <a:ea typeface="Aptos" pitchFamily="34" charset="-122"/>
                <a:cs typeface="Aptos" pitchFamily="34" charset="-120"/>
              </a:rPr>
              <a:t>8</a:t>
            </a:r>
            <a:endParaRPr lang="en-US" sz="900" dirty="0"/>
          </a:p>
        </p:txBody>
      </p:sp>
      <p:sp>
        <p:nvSpPr>
          <p:cNvPr id="9" name="Shape 7"/>
          <p:cNvSpPr/>
          <p:nvPr/>
        </p:nvSpPr>
        <p:spPr>
          <a:xfrm>
            <a:off x="658368" y="1554480"/>
            <a:ext cx="3136392" cy="1874520"/>
          </a:xfrm>
          <a:prstGeom prst="roundRect">
            <a:avLst/>
          </a:prstGeom>
          <a:solidFill>
            <a:srgbClr val="EEDFD8"/>
          </a:solidFill>
          <a:ln w="12700">
            <a:solidFill>
              <a:srgbClr val="EEDFD8"/>
            </a:solidFill>
            <a:prstDash val="solid"/>
          </a:ln>
        </p:spPr>
      </p:sp>
      <p:sp>
        <p:nvSpPr>
          <p:cNvPr id="10" name="Text 8"/>
          <p:cNvSpPr txBox="1"/>
          <p:nvPr/>
        </p:nvSpPr>
        <p:spPr>
          <a:xfrm>
            <a:off x="896112" y="1810512"/>
            <a:ext cx="1005840" cy="182880"/>
          </a:xfrm>
          <a:prstGeom prst="rect">
            <a:avLst/>
          </a:prstGeom>
          <a:noFill/>
          <a:ln/>
        </p:spPr>
        <p:txBody>
          <a:bodyPr wrap="square" lIns="0" tIns="0" rIns="0" bIns="0" rtlCol="0" anchor="ctr">
            <a:normAutofit/>
          </a:bodyPr>
          <a:lstStyle/>
          <a:p>
            <a:pPr algn="l" indent="0" marL="0">
              <a:buNone/>
            </a:pPr>
            <a:r>
              <a:rPr lang="en-US" sz="1000" b="1" dirty="0">
                <a:solidFill>
                  <a:srgbClr val="9A5C49"/>
                </a:solidFill>
                <a:latin typeface="Aptos" pitchFamily="34" charset="0"/>
                <a:ea typeface="Aptos" pitchFamily="34" charset="-122"/>
                <a:cs typeface="Aptos" pitchFamily="34" charset="-120"/>
              </a:rPr>
              <a:t>OBSERVED</a:t>
            </a:r>
            <a:endParaRPr lang="en-US" sz="1000" dirty="0"/>
          </a:p>
        </p:txBody>
      </p:sp>
      <p:sp>
        <p:nvSpPr>
          <p:cNvPr id="11" name="Text 9"/>
          <p:cNvSpPr txBox="1"/>
          <p:nvPr/>
        </p:nvSpPr>
        <p:spPr>
          <a:xfrm>
            <a:off x="896112" y="2139696"/>
            <a:ext cx="2542032" cy="402336"/>
          </a:xfrm>
          <a:prstGeom prst="rect">
            <a:avLst/>
          </a:prstGeom>
          <a:noFill/>
          <a:ln/>
        </p:spPr>
        <p:txBody>
          <a:bodyPr wrap="square" lIns="0" tIns="0" rIns="0" bIns="0" rtlCol="0" anchor="ctr">
            <a:normAutofit/>
          </a:bodyPr>
          <a:lstStyle/>
          <a:p>
            <a:pPr algn="l" indent="0" marL="0">
              <a:buNone/>
            </a:pPr>
            <a:r>
              <a:rPr lang="en-US" sz="2500" dirty="0">
                <a:solidFill>
                  <a:srgbClr val="9A5C49"/>
                </a:solidFill>
                <a:latin typeface="Georgia" pitchFamily="34" charset="0"/>
                <a:ea typeface="Georgia" pitchFamily="34" charset="-122"/>
                <a:cs typeface="Georgia" pitchFamily="34" charset="-120"/>
              </a:rPr>
              <a:t>M1 delayed</a:t>
            </a:r>
            <a:endParaRPr lang="en-US" sz="2500" dirty="0"/>
          </a:p>
        </p:txBody>
      </p:sp>
      <p:sp>
        <p:nvSpPr>
          <p:cNvPr id="12" name="Text 10"/>
          <p:cNvSpPr txBox="1"/>
          <p:nvPr/>
        </p:nvSpPr>
        <p:spPr>
          <a:xfrm>
            <a:off x="896112" y="2633472"/>
            <a:ext cx="2542032" cy="530352"/>
          </a:xfrm>
          <a:prstGeom prst="rect">
            <a:avLst/>
          </a:prstGeom>
          <a:noFill/>
          <a:ln/>
        </p:spPr>
        <p:txBody>
          <a:bodyPr wrap="square" lIns="0" tIns="0" rIns="0" bIns="0" rtlCol="0" anchor="t">
            <a:normAutofit/>
          </a:bodyPr>
          <a:lstStyle/>
          <a:p>
            <a:pPr algn="l" indent="0" marL="0">
              <a:buNone/>
            </a:pPr>
            <a:r>
              <a:rPr lang="en-US" sz="1250" dirty="0">
                <a:solidFill>
                  <a:srgbClr val="25292B"/>
                </a:solidFill>
                <a:latin typeface="Aptos" pitchFamily="34" charset="0"/>
                <a:ea typeface="Aptos" pitchFamily="34" charset="-122"/>
                <a:cs typeface="Aptos" pitchFamily="34" charset="-120"/>
              </a:rPr>
              <a:t>Unresolved wearable dependency</a:t>
            </a:r>
            <a:endParaRPr lang="en-US" sz="1250" dirty="0"/>
          </a:p>
          <a:p>
            <a:pPr algn="l" indent="0" marL="0">
              <a:buNone/>
            </a:pPr>
            <a:r>
              <a:rPr lang="en-US" sz="1250" dirty="0">
                <a:solidFill>
                  <a:srgbClr val="25292B"/>
                </a:solidFill>
                <a:latin typeface="Aptos" pitchFamily="34" charset="0"/>
                <a:ea typeface="Aptos" pitchFamily="34" charset="-122"/>
                <a:cs typeface="Aptos" pitchFamily="34" charset="-120"/>
              </a:rPr>
              <a:t>Corrective decision in Sprint 2 retrospective</a:t>
            </a:r>
            <a:endParaRPr lang="en-US" sz="1250" dirty="0"/>
          </a:p>
        </p:txBody>
      </p:sp>
      <p:sp>
        <p:nvSpPr>
          <p:cNvPr id="13" name="Text 11"/>
          <p:cNvSpPr txBox="1"/>
          <p:nvPr/>
        </p:nvSpPr>
        <p:spPr>
          <a:xfrm>
            <a:off x="3950208" y="2240280"/>
            <a:ext cx="384048" cy="384048"/>
          </a:xfrm>
          <a:prstGeom prst="rect">
            <a:avLst/>
          </a:prstGeom>
          <a:noFill/>
          <a:ln/>
        </p:spPr>
        <p:txBody>
          <a:bodyPr wrap="square" lIns="0" tIns="0" rIns="0" bIns="0" rtlCol="0" anchor="ctr">
            <a:normAutofit/>
          </a:bodyPr>
          <a:lstStyle/>
          <a:p>
            <a:pPr algn="ctr" indent="0" marL="0">
              <a:buNone/>
            </a:pPr>
            <a:r>
              <a:rPr lang="en-US" sz="2800" dirty="0">
                <a:solidFill>
                  <a:srgbClr val="62696B"/>
                </a:solidFill>
                <a:latin typeface="Georgia" pitchFamily="34" charset="0"/>
                <a:ea typeface="Georgia" pitchFamily="34" charset="-122"/>
                <a:cs typeface="Georgia" pitchFamily="34" charset="-120"/>
              </a:rPr>
              <a:t>›</a:t>
            </a:r>
            <a:endParaRPr lang="en-US" sz="2800" dirty="0"/>
          </a:p>
        </p:txBody>
      </p:sp>
      <p:sp>
        <p:nvSpPr>
          <p:cNvPr id="14" name="Shape 12"/>
          <p:cNvSpPr/>
          <p:nvPr/>
        </p:nvSpPr>
        <p:spPr>
          <a:xfrm>
            <a:off x="4480560" y="1554480"/>
            <a:ext cx="3136392" cy="1874520"/>
          </a:xfrm>
          <a:prstGeom prst="roundRect">
            <a:avLst/>
          </a:prstGeom>
          <a:solidFill>
            <a:srgbClr val="DDE8E5"/>
          </a:solidFill>
          <a:ln w="12700">
            <a:solidFill>
              <a:srgbClr val="DDE8E5"/>
            </a:solidFill>
            <a:prstDash val="solid"/>
          </a:ln>
        </p:spPr>
      </p:sp>
      <p:sp>
        <p:nvSpPr>
          <p:cNvPr id="15" name="Text 13"/>
          <p:cNvSpPr txBox="1"/>
          <p:nvPr/>
        </p:nvSpPr>
        <p:spPr>
          <a:xfrm>
            <a:off x="4718304" y="1810512"/>
            <a:ext cx="1691640" cy="182880"/>
          </a:xfrm>
          <a:prstGeom prst="rect">
            <a:avLst/>
          </a:prstGeom>
          <a:noFill/>
          <a:ln/>
        </p:spPr>
        <p:txBody>
          <a:bodyPr wrap="square" lIns="0" tIns="0" rIns="0" bIns="0" rtlCol="0" anchor="ctr">
            <a:normAutofit/>
          </a:bodyPr>
          <a:lstStyle/>
          <a:p>
            <a:pPr algn="l" indent="0" marL="0">
              <a:buNone/>
            </a:pPr>
            <a:r>
              <a:rPr lang="en-US" sz="1000" b="1" dirty="0">
                <a:solidFill>
                  <a:srgbClr val="294947"/>
                </a:solidFill>
                <a:latin typeface="Aptos" pitchFamily="34" charset="0"/>
                <a:ea typeface="Aptos" pitchFamily="34" charset="-122"/>
                <a:cs typeface="Aptos" pitchFamily="34" charset="-120"/>
              </a:rPr>
              <a:t>FORECAST · SPRINT 5</a:t>
            </a:r>
            <a:endParaRPr lang="en-US" sz="1000" dirty="0"/>
          </a:p>
        </p:txBody>
      </p:sp>
      <p:sp>
        <p:nvSpPr>
          <p:cNvPr id="16" name="Text 14"/>
          <p:cNvSpPr txBox="1"/>
          <p:nvPr/>
        </p:nvSpPr>
        <p:spPr>
          <a:xfrm>
            <a:off x="4718304" y="2139696"/>
            <a:ext cx="2542032" cy="402336"/>
          </a:xfrm>
          <a:prstGeom prst="rect">
            <a:avLst/>
          </a:prstGeom>
          <a:noFill/>
          <a:ln/>
        </p:spPr>
        <p:txBody>
          <a:bodyPr wrap="square" lIns="0" tIns="0" rIns="0" bIns="0" rtlCol="0" anchor="ctr">
            <a:normAutofit/>
          </a:bodyPr>
          <a:lstStyle/>
          <a:p>
            <a:pPr algn="l" indent="0" marL="0">
              <a:buNone/>
            </a:pPr>
            <a:r>
              <a:rPr lang="en-US" sz="2300" dirty="0">
                <a:solidFill>
                  <a:srgbClr val="294947"/>
                </a:solidFill>
                <a:latin typeface="Georgia" pitchFamily="34" charset="0"/>
                <a:ea typeface="Georgia" pitchFamily="34" charset="-122"/>
                <a:cs typeface="Georgia" pitchFamily="34" charset="-120"/>
              </a:rPr>
              <a:t>Earlier signals</a:t>
            </a:r>
            <a:endParaRPr lang="en-US" sz="2300" dirty="0"/>
          </a:p>
        </p:txBody>
      </p:sp>
      <p:sp>
        <p:nvSpPr>
          <p:cNvPr id="17" name="Text 15"/>
          <p:cNvSpPr txBox="1"/>
          <p:nvPr/>
        </p:nvSpPr>
        <p:spPr>
          <a:xfrm>
            <a:off x="4718304" y="2606040"/>
            <a:ext cx="2542032" cy="621792"/>
          </a:xfrm>
          <a:prstGeom prst="rect">
            <a:avLst/>
          </a:prstGeom>
          <a:noFill/>
          <a:ln/>
        </p:spPr>
        <p:txBody>
          <a:bodyPr wrap="square" lIns="0" tIns="0" rIns="0" bIns="0" rtlCol="0" anchor="t">
            <a:normAutofit/>
          </a:bodyPr>
          <a:lstStyle/>
          <a:p>
            <a:pPr algn="l" indent="0" marL="0">
              <a:buNone/>
            </a:pPr>
            <a:r>
              <a:rPr lang="en-US" sz="1300" dirty="0">
                <a:solidFill>
                  <a:srgbClr val="25292B"/>
                </a:solidFill>
                <a:latin typeface="Aptos" pitchFamily="34" charset="0"/>
                <a:ea typeface="Aptos" pitchFamily="34" charset="-122"/>
                <a:cs typeface="Aptos" pitchFamily="34" charset="-120"/>
              </a:rPr>
              <a:t>Clearer ownership</a:t>
            </a:r>
            <a:endParaRPr lang="en-US" sz="1300" dirty="0"/>
          </a:p>
          <a:p>
            <a:pPr algn="l" indent="0" marL="0">
              <a:buNone/>
            </a:pPr>
            <a:r>
              <a:rPr lang="en-US" sz="1300" dirty="0">
                <a:solidFill>
                  <a:srgbClr val="25292B"/>
                </a:solidFill>
                <a:latin typeface="Aptos" pitchFamily="34" charset="0"/>
                <a:ea typeface="Aptos" pitchFamily="34" charset="-122"/>
                <a:cs typeface="Aptos" pitchFamily="34" charset="-120"/>
              </a:rPr>
              <a:t>Earlier risk reporting</a:t>
            </a:r>
            <a:endParaRPr lang="en-US" sz="1300" dirty="0"/>
          </a:p>
          <a:p>
            <a:pPr algn="l" indent="0" marL="0">
              <a:buNone/>
            </a:pPr>
            <a:r>
              <a:rPr lang="en-US" sz="1300" dirty="0">
                <a:solidFill>
                  <a:srgbClr val="25292B"/>
                </a:solidFill>
                <a:latin typeface="Aptos" pitchFamily="34" charset="0"/>
                <a:ea typeface="Aptos" pitchFamily="34" charset="-122"/>
                <a:cs typeface="Aptos" pitchFamily="34" charset="-120"/>
              </a:rPr>
              <a:t>Fewer reopened decisions</a:t>
            </a:r>
            <a:endParaRPr lang="en-US" sz="1300" dirty="0"/>
          </a:p>
        </p:txBody>
      </p:sp>
      <p:sp>
        <p:nvSpPr>
          <p:cNvPr id="18" name="Text 16"/>
          <p:cNvSpPr txBox="1"/>
          <p:nvPr/>
        </p:nvSpPr>
        <p:spPr>
          <a:xfrm>
            <a:off x="7772400" y="2240280"/>
            <a:ext cx="384048" cy="384048"/>
          </a:xfrm>
          <a:prstGeom prst="rect">
            <a:avLst/>
          </a:prstGeom>
          <a:noFill/>
          <a:ln/>
        </p:spPr>
        <p:txBody>
          <a:bodyPr wrap="square" lIns="0" tIns="0" rIns="0" bIns="0" rtlCol="0" anchor="ctr">
            <a:normAutofit/>
          </a:bodyPr>
          <a:lstStyle/>
          <a:p>
            <a:pPr algn="ctr" indent="0" marL="0">
              <a:buNone/>
            </a:pPr>
            <a:r>
              <a:rPr lang="en-US" sz="2800" dirty="0">
                <a:solidFill>
                  <a:srgbClr val="62696B"/>
                </a:solidFill>
                <a:latin typeface="Georgia" pitchFamily="34" charset="0"/>
                <a:ea typeface="Georgia" pitchFamily="34" charset="-122"/>
                <a:cs typeface="Georgia" pitchFamily="34" charset="-120"/>
              </a:rPr>
              <a:t>›</a:t>
            </a:r>
            <a:endParaRPr lang="en-US" sz="2800" dirty="0"/>
          </a:p>
        </p:txBody>
      </p:sp>
      <p:sp>
        <p:nvSpPr>
          <p:cNvPr id="19" name="Shape 17"/>
          <p:cNvSpPr/>
          <p:nvPr/>
        </p:nvSpPr>
        <p:spPr>
          <a:xfrm>
            <a:off x="8302752" y="1554480"/>
            <a:ext cx="3218688" cy="1874520"/>
          </a:xfrm>
          <a:prstGeom prst="roundRect">
            <a:avLst/>
          </a:prstGeom>
          <a:solidFill>
            <a:srgbClr val="294947"/>
          </a:solidFill>
          <a:ln w="12700">
            <a:solidFill>
              <a:srgbClr val="294947"/>
            </a:solidFill>
            <a:prstDash val="solid"/>
          </a:ln>
        </p:spPr>
      </p:sp>
      <p:sp>
        <p:nvSpPr>
          <p:cNvPr id="20" name="Text 18"/>
          <p:cNvSpPr txBox="1"/>
          <p:nvPr/>
        </p:nvSpPr>
        <p:spPr>
          <a:xfrm>
            <a:off x="8540496" y="1810512"/>
            <a:ext cx="1920240" cy="182880"/>
          </a:xfrm>
          <a:prstGeom prst="rect">
            <a:avLst/>
          </a:prstGeom>
          <a:noFill/>
          <a:ln/>
        </p:spPr>
        <p:txBody>
          <a:bodyPr wrap="square" lIns="0" tIns="0" rIns="0" bIns="0" rtlCol="0" anchor="ctr">
            <a:normAutofit/>
          </a:bodyPr>
          <a:lstStyle/>
          <a:p>
            <a:pPr algn="l" indent="0" marL="0">
              <a:buNone/>
            </a:pPr>
            <a:r>
              <a:rPr lang="en-US" sz="1000" b="1" dirty="0">
                <a:solidFill>
                  <a:srgbClr val="DDE8E5"/>
                </a:solidFill>
                <a:latin typeface="Aptos" pitchFamily="34" charset="0"/>
                <a:ea typeface="Aptos" pitchFamily="34" charset="-122"/>
                <a:cs typeface="Aptos" pitchFamily="34" charset="-120"/>
              </a:rPr>
              <a:t>EXPECTED · SPRINT 11</a:t>
            </a:r>
            <a:endParaRPr lang="en-US" sz="1000" dirty="0"/>
          </a:p>
        </p:txBody>
      </p:sp>
      <p:sp>
        <p:nvSpPr>
          <p:cNvPr id="21" name="Text 19"/>
          <p:cNvSpPr txBox="1"/>
          <p:nvPr/>
        </p:nvSpPr>
        <p:spPr>
          <a:xfrm>
            <a:off x="8540496" y="2139696"/>
            <a:ext cx="2624328" cy="402336"/>
          </a:xfrm>
          <a:prstGeom prst="rect">
            <a:avLst/>
          </a:prstGeom>
          <a:noFill/>
          <a:ln/>
        </p:spPr>
        <p:txBody>
          <a:bodyPr wrap="square" lIns="0" tIns="0" rIns="0" bIns="0" rtlCol="0" anchor="ctr">
            <a:normAutofit/>
          </a:bodyPr>
          <a:lstStyle/>
          <a:p>
            <a:pPr algn="l" indent="0" marL="0">
              <a:buNone/>
            </a:pPr>
            <a:r>
              <a:rPr lang="en-US" sz="2300" dirty="0">
                <a:solidFill>
                  <a:srgbClr val="FFFFFF"/>
                </a:solidFill>
                <a:latin typeface="Georgia" pitchFamily="34" charset="0"/>
                <a:ea typeface="Georgia" pitchFamily="34" charset="-122"/>
                <a:cs typeface="Georgia" pitchFamily="34" charset="-120"/>
              </a:rPr>
              <a:t>Stable release</a:t>
            </a:r>
            <a:endParaRPr lang="en-US" sz="2300" dirty="0"/>
          </a:p>
        </p:txBody>
      </p:sp>
      <p:sp>
        <p:nvSpPr>
          <p:cNvPr id="22" name="Text 20"/>
          <p:cNvSpPr txBox="1"/>
          <p:nvPr/>
        </p:nvSpPr>
        <p:spPr>
          <a:xfrm>
            <a:off x="8540496" y="2633472"/>
            <a:ext cx="2624328" cy="530352"/>
          </a:xfrm>
          <a:prstGeom prst="rect">
            <a:avLst/>
          </a:prstGeom>
          <a:noFill/>
          <a:ln/>
        </p:spPr>
        <p:txBody>
          <a:bodyPr wrap="square" lIns="0" tIns="0" rIns="0" bIns="0" rtlCol="0" anchor="t">
            <a:normAutofit/>
          </a:bodyPr>
          <a:lstStyle/>
          <a:p>
            <a:pPr algn="l" indent="0" marL="0">
              <a:buNone/>
            </a:pPr>
            <a:r>
              <a:rPr lang="en-US" sz="1250" dirty="0">
                <a:solidFill>
                  <a:srgbClr val="DDE8E5"/>
                </a:solidFill>
                <a:latin typeface="Aptos" pitchFamily="34" charset="0"/>
                <a:ea typeface="Aptos" pitchFamily="34" charset="-122"/>
                <a:cs typeface="Aptos" pitchFamily="34" charset="-120"/>
              </a:rPr>
              <a:t>Smaller scope</a:t>
            </a:r>
            <a:endParaRPr lang="en-US" sz="1250" dirty="0"/>
          </a:p>
          <a:p>
            <a:pPr algn="l" indent="0" marL="0">
              <a:buNone/>
            </a:pPr>
            <a:r>
              <a:rPr lang="en-US" sz="1250" dirty="0">
                <a:solidFill>
                  <a:srgbClr val="DDE8E5"/>
                </a:solidFill>
                <a:latin typeface="Aptos" pitchFamily="34" charset="0"/>
                <a:ea typeface="Aptos" pitchFamily="34" charset="-122"/>
                <a:cs typeface="Aptos" pitchFamily="34" charset="-120"/>
              </a:rPr>
              <a:t>Wearable quality and privacy protected</a:t>
            </a:r>
            <a:endParaRPr lang="en-US" sz="1250" dirty="0"/>
          </a:p>
        </p:txBody>
      </p:sp>
      <p:sp>
        <p:nvSpPr>
          <p:cNvPr id="23" name="Text 21"/>
          <p:cNvSpPr txBox="1"/>
          <p:nvPr/>
        </p:nvSpPr>
        <p:spPr>
          <a:xfrm>
            <a:off x="658368" y="3895344"/>
            <a:ext cx="1920240" cy="18288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SPRINT 5 INDICATORS</a:t>
            </a:r>
            <a:endParaRPr lang="en-US" sz="1000" dirty="0"/>
          </a:p>
        </p:txBody>
      </p:sp>
      <p:sp>
        <p:nvSpPr>
          <p:cNvPr id="24" name="Shape 22"/>
          <p:cNvSpPr/>
          <p:nvPr/>
        </p:nvSpPr>
        <p:spPr>
          <a:xfrm>
            <a:off x="658368" y="4242816"/>
            <a:ext cx="2514600" cy="1005840"/>
          </a:xfrm>
          <a:prstGeom prst="roundRect">
            <a:avLst/>
          </a:prstGeom>
          <a:solidFill>
            <a:srgbClr val="DDE8E5"/>
          </a:solidFill>
          <a:ln w="12700">
            <a:solidFill>
              <a:srgbClr val="DDE8E5"/>
            </a:solidFill>
            <a:prstDash val="solid"/>
          </a:ln>
        </p:spPr>
      </p:sp>
      <p:sp>
        <p:nvSpPr>
          <p:cNvPr id="25" name="Text 23"/>
          <p:cNvSpPr txBox="1"/>
          <p:nvPr/>
        </p:nvSpPr>
        <p:spPr>
          <a:xfrm>
            <a:off x="822960" y="4352544"/>
            <a:ext cx="2185416" cy="347472"/>
          </a:xfrm>
          <a:prstGeom prst="rect">
            <a:avLst/>
          </a:prstGeom>
          <a:noFill/>
          <a:ln/>
        </p:spPr>
        <p:txBody>
          <a:bodyPr wrap="square" lIns="0" tIns="0" rIns="0" bIns="0" rtlCol="0" anchor="ctr">
            <a:normAutofit/>
          </a:bodyPr>
          <a:lstStyle/>
          <a:p>
            <a:pPr algn="l" indent="0" marL="0">
              <a:buNone/>
            </a:pPr>
            <a:r>
              <a:rPr lang="en-US" sz="2100" b="1" dirty="0">
                <a:solidFill>
                  <a:srgbClr val="294947"/>
                </a:solidFill>
                <a:latin typeface="Georgia" pitchFamily="34" charset="0"/>
                <a:ea typeface="Georgia" pitchFamily="34" charset="-122"/>
                <a:cs typeface="Georgia" pitchFamily="34" charset="-120"/>
              </a:rPr>
              <a:t>≥ 90%</a:t>
            </a:r>
            <a:endParaRPr lang="en-US" sz="2100" dirty="0"/>
          </a:p>
        </p:txBody>
      </p:sp>
      <p:sp>
        <p:nvSpPr>
          <p:cNvPr id="26" name="Text 24"/>
          <p:cNvSpPr txBox="1"/>
          <p:nvPr/>
        </p:nvSpPr>
        <p:spPr>
          <a:xfrm>
            <a:off x="822960" y="4718304"/>
            <a:ext cx="2185416" cy="356616"/>
          </a:xfrm>
          <a:prstGeom prst="rect">
            <a:avLst/>
          </a:prstGeom>
          <a:noFill/>
          <a:ln/>
        </p:spPr>
        <p:txBody>
          <a:bodyPr wrap="square" lIns="0" tIns="0" rIns="0" bIns="0" rtlCol="0" anchor="t">
            <a:normAutofit/>
          </a:bodyPr>
          <a:lstStyle/>
          <a:p>
            <a:pPr algn="l" indent="0" marL="0">
              <a:buNone/>
            </a:pPr>
            <a:r>
              <a:rPr lang="en-US" sz="1100" dirty="0">
                <a:solidFill>
                  <a:srgbClr val="25292B"/>
                </a:solidFill>
                <a:latin typeface="Aptos" pitchFamily="34" charset="0"/>
                <a:ea typeface="Aptos" pitchFamily="34" charset="-122"/>
                <a:cs typeface="Aptos" pitchFamily="34" charset="-120"/>
              </a:rPr>
              <a:t>Major decisions include input from all four sites</a:t>
            </a:r>
            <a:endParaRPr lang="en-US" sz="1100" dirty="0"/>
          </a:p>
        </p:txBody>
      </p:sp>
      <p:sp>
        <p:nvSpPr>
          <p:cNvPr id="27" name="Shape 25"/>
          <p:cNvSpPr/>
          <p:nvPr/>
        </p:nvSpPr>
        <p:spPr>
          <a:xfrm>
            <a:off x="3337560" y="4242816"/>
            <a:ext cx="2514600" cy="1005840"/>
          </a:xfrm>
          <a:prstGeom prst="roundRect">
            <a:avLst/>
          </a:prstGeom>
          <a:solidFill>
            <a:srgbClr val="DFE7EA"/>
          </a:solidFill>
          <a:ln w="12700">
            <a:solidFill>
              <a:srgbClr val="DFE7EA"/>
            </a:solidFill>
            <a:prstDash val="solid"/>
          </a:ln>
        </p:spPr>
      </p:sp>
      <p:sp>
        <p:nvSpPr>
          <p:cNvPr id="28" name="Text 26"/>
          <p:cNvSpPr txBox="1"/>
          <p:nvPr/>
        </p:nvSpPr>
        <p:spPr>
          <a:xfrm>
            <a:off x="3502152" y="4352544"/>
            <a:ext cx="2185416" cy="347472"/>
          </a:xfrm>
          <a:prstGeom prst="rect">
            <a:avLst/>
          </a:prstGeom>
          <a:noFill/>
          <a:ln/>
        </p:spPr>
        <p:txBody>
          <a:bodyPr wrap="square" lIns="0" tIns="0" rIns="0" bIns="0" rtlCol="0" anchor="ctr">
            <a:normAutofit/>
          </a:bodyPr>
          <a:lstStyle/>
          <a:p>
            <a:pPr algn="l" indent="0" marL="0">
              <a:buNone/>
            </a:pPr>
            <a:r>
              <a:rPr lang="en-US" sz="2100" b="1" dirty="0">
                <a:solidFill>
                  <a:srgbClr val="5D7480"/>
                </a:solidFill>
                <a:latin typeface="Georgia" pitchFamily="34" charset="0"/>
                <a:ea typeface="Georgia" pitchFamily="34" charset="-122"/>
                <a:cs typeface="Georgia" pitchFamily="34" charset="-120"/>
              </a:rPr>
              <a:t>&lt; 10%</a:t>
            </a:r>
            <a:endParaRPr lang="en-US" sz="2100" dirty="0"/>
          </a:p>
        </p:txBody>
      </p:sp>
      <p:sp>
        <p:nvSpPr>
          <p:cNvPr id="29" name="Text 27"/>
          <p:cNvSpPr txBox="1"/>
          <p:nvPr/>
        </p:nvSpPr>
        <p:spPr>
          <a:xfrm>
            <a:off x="3502152" y="4718304"/>
            <a:ext cx="2185416" cy="356616"/>
          </a:xfrm>
          <a:prstGeom prst="rect">
            <a:avLst/>
          </a:prstGeom>
          <a:noFill/>
          <a:ln/>
        </p:spPr>
        <p:txBody>
          <a:bodyPr wrap="square" lIns="0" tIns="0" rIns="0" bIns="0" rtlCol="0" anchor="t">
            <a:normAutofit/>
          </a:bodyPr>
          <a:lstStyle/>
          <a:p>
            <a:pPr algn="l" indent="0" marL="0">
              <a:buNone/>
            </a:pPr>
            <a:r>
              <a:rPr lang="en-US" sz="1100" dirty="0">
                <a:solidFill>
                  <a:srgbClr val="25292B"/>
                </a:solidFill>
                <a:latin typeface="Aptos" pitchFamily="34" charset="0"/>
                <a:ea typeface="Aptos" pitchFamily="34" charset="-122"/>
                <a:cs typeface="Aptos" pitchFamily="34" charset="-120"/>
              </a:rPr>
              <a:t>Decisions reopened because context was missing</a:t>
            </a:r>
            <a:endParaRPr lang="en-US" sz="1100" dirty="0"/>
          </a:p>
        </p:txBody>
      </p:sp>
      <p:sp>
        <p:nvSpPr>
          <p:cNvPr id="30" name="Shape 28"/>
          <p:cNvSpPr/>
          <p:nvPr/>
        </p:nvSpPr>
        <p:spPr>
          <a:xfrm>
            <a:off x="6016752" y="4242816"/>
            <a:ext cx="2514600" cy="1005840"/>
          </a:xfrm>
          <a:prstGeom prst="roundRect">
            <a:avLst/>
          </a:prstGeom>
          <a:solidFill>
            <a:srgbClr val="ECE4D5"/>
          </a:solidFill>
          <a:ln w="12700">
            <a:solidFill>
              <a:srgbClr val="ECE4D5"/>
            </a:solidFill>
            <a:prstDash val="solid"/>
          </a:ln>
        </p:spPr>
      </p:sp>
      <p:sp>
        <p:nvSpPr>
          <p:cNvPr id="31" name="Text 29"/>
          <p:cNvSpPr txBox="1"/>
          <p:nvPr/>
        </p:nvSpPr>
        <p:spPr>
          <a:xfrm>
            <a:off x="6181344" y="4352544"/>
            <a:ext cx="2185416" cy="347472"/>
          </a:xfrm>
          <a:prstGeom prst="rect">
            <a:avLst/>
          </a:prstGeom>
          <a:noFill/>
          <a:ln/>
        </p:spPr>
        <p:txBody>
          <a:bodyPr wrap="square" lIns="0" tIns="0" rIns="0" bIns="0" rtlCol="0" anchor="ctr">
            <a:normAutofit/>
          </a:bodyPr>
          <a:lstStyle/>
          <a:p>
            <a:pPr algn="l" indent="0" marL="0">
              <a:buNone/>
            </a:pPr>
            <a:r>
              <a:rPr lang="en-US" sz="2100" b="1" dirty="0">
                <a:solidFill>
                  <a:srgbClr val="A3824F"/>
                </a:solidFill>
                <a:latin typeface="Georgia" pitchFamily="34" charset="0"/>
                <a:ea typeface="Georgia" pitchFamily="34" charset="-122"/>
                <a:cs typeface="Georgia" pitchFamily="34" charset="-120"/>
              </a:rPr>
              <a:t>100%</a:t>
            </a:r>
            <a:endParaRPr lang="en-US" sz="2100" dirty="0"/>
          </a:p>
        </p:txBody>
      </p:sp>
      <p:sp>
        <p:nvSpPr>
          <p:cNvPr id="32" name="Text 30"/>
          <p:cNvSpPr txBox="1"/>
          <p:nvPr/>
        </p:nvSpPr>
        <p:spPr>
          <a:xfrm>
            <a:off x="6181344" y="4718304"/>
            <a:ext cx="2185416" cy="356616"/>
          </a:xfrm>
          <a:prstGeom prst="rect">
            <a:avLst/>
          </a:prstGeom>
          <a:noFill/>
          <a:ln/>
        </p:spPr>
        <p:txBody>
          <a:bodyPr wrap="square" lIns="0" tIns="0" rIns="0" bIns="0" rtlCol="0" anchor="t">
            <a:normAutofit/>
          </a:bodyPr>
          <a:lstStyle/>
          <a:p>
            <a:pPr algn="l" indent="0" marL="0">
              <a:buNone/>
            </a:pPr>
            <a:r>
              <a:rPr lang="en-US" sz="1100" dirty="0">
                <a:solidFill>
                  <a:srgbClr val="25292B"/>
                </a:solidFill>
                <a:latin typeface="Aptos" pitchFamily="34" charset="0"/>
                <a:ea typeface="Aptos" pitchFamily="34" charset="-122"/>
                <a:cs typeface="Aptos" pitchFamily="34" charset="-120"/>
              </a:rPr>
              <a:t>Known critical risks recorded before implementation</a:t>
            </a:r>
            <a:endParaRPr lang="en-US" sz="1100" dirty="0"/>
          </a:p>
        </p:txBody>
      </p:sp>
      <p:sp>
        <p:nvSpPr>
          <p:cNvPr id="33" name="Shape 31"/>
          <p:cNvSpPr/>
          <p:nvPr/>
        </p:nvSpPr>
        <p:spPr>
          <a:xfrm>
            <a:off x="8695944" y="4242816"/>
            <a:ext cx="2825496" cy="1005840"/>
          </a:xfrm>
          <a:prstGeom prst="roundRect">
            <a:avLst/>
          </a:prstGeom>
          <a:solidFill>
            <a:srgbClr val="EEDFD8"/>
          </a:solidFill>
          <a:ln w="12700">
            <a:solidFill>
              <a:srgbClr val="EEDFD8"/>
            </a:solidFill>
            <a:prstDash val="solid"/>
          </a:ln>
        </p:spPr>
      </p:sp>
      <p:sp>
        <p:nvSpPr>
          <p:cNvPr id="34" name="Text 32"/>
          <p:cNvSpPr txBox="1"/>
          <p:nvPr/>
        </p:nvSpPr>
        <p:spPr>
          <a:xfrm>
            <a:off x="8860536" y="4352544"/>
            <a:ext cx="2496312" cy="347472"/>
          </a:xfrm>
          <a:prstGeom prst="rect">
            <a:avLst/>
          </a:prstGeom>
          <a:noFill/>
          <a:ln/>
        </p:spPr>
        <p:txBody>
          <a:bodyPr wrap="square" lIns="0" tIns="0" rIns="0" bIns="0" rtlCol="0" anchor="ctr">
            <a:normAutofit/>
          </a:bodyPr>
          <a:lstStyle/>
          <a:p>
            <a:pPr algn="l" indent="0" marL="0">
              <a:buNone/>
            </a:pPr>
            <a:r>
              <a:rPr lang="en-US" sz="2100" b="1" dirty="0">
                <a:solidFill>
                  <a:srgbClr val="9A5C49"/>
                </a:solidFill>
                <a:latin typeface="Georgia" pitchFamily="34" charset="0"/>
                <a:ea typeface="Georgia" pitchFamily="34" charset="-122"/>
                <a:cs typeface="Georgia" pitchFamily="34" charset="-120"/>
              </a:rPr>
              <a:t>+ 0.5</a:t>
            </a:r>
            <a:endParaRPr lang="en-US" sz="2100" dirty="0"/>
          </a:p>
        </p:txBody>
      </p:sp>
      <p:sp>
        <p:nvSpPr>
          <p:cNvPr id="35" name="Text 33"/>
          <p:cNvSpPr txBox="1"/>
          <p:nvPr/>
        </p:nvSpPr>
        <p:spPr>
          <a:xfrm>
            <a:off x="8860536" y="4718304"/>
            <a:ext cx="2496312" cy="356616"/>
          </a:xfrm>
          <a:prstGeom prst="rect">
            <a:avLst/>
          </a:prstGeom>
          <a:noFill/>
          <a:ln/>
        </p:spPr>
        <p:txBody>
          <a:bodyPr wrap="square" lIns="0" tIns="0" rIns="0" bIns="0" rtlCol="0" anchor="t">
            <a:normAutofit/>
          </a:bodyPr>
          <a:lstStyle/>
          <a:p>
            <a:pPr algn="l" indent="0" marL="0">
              <a:buNone/>
            </a:pPr>
            <a:r>
              <a:rPr lang="en-US" sz="1100" dirty="0">
                <a:solidFill>
                  <a:srgbClr val="25292B"/>
                </a:solidFill>
                <a:latin typeface="Aptos" pitchFamily="34" charset="0"/>
                <a:ea typeface="Aptos" pitchFamily="34" charset="-122"/>
                <a:cs typeface="Aptos" pitchFamily="34" charset="-120"/>
              </a:rPr>
              <a:t>Increase in psychological-safety pulse</a:t>
            </a:r>
            <a:endParaRPr lang="en-US" sz="1100" dirty="0"/>
          </a:p>
        </p:txBody>
      </p:sp>
      <p:sp>
        <p:nvSpPr>
          <p:cNvPr id="36" name="Text 34"/>
          <p:cNvSpPr txBox="1"/>
          <p:nvPr/>
        </p:nvSpPr>
        <p:spPr>
          <a:xfrm>
            <a:off x="676656" y="5650992"/>
            <a:ext cx="10698480" cy="274320"/>
          </a:xfrm>
          <a:prstGeom prst="rect">
            <a:avLst/>
          </a:prstGeom>
          <a:noFill/>
          <a:ln/>
        </p:spPr>
        <p:txBody>
          <a:bodyPr wrap="square" lIns="0" tIns="0" rIns="0" bIns="0" rtlCol="0" anchor="ctr">
            <a:normAutofit/>
          </a:bodyPr>
          <a:lstStyle/>
          <a:p>
            <a:pPr algn="ctr" indent="0" marL="0">
              <a:buNone/>
            </a:pPr>
            <a:r>
              <a:rPr lang="en-US" sz="1200" i="1" dirty="0">
                <a:solidFill>
                  <a:srgbClr val="62696B"/>
                </a:solidFill>
                <a:latin typeface="Aptos" pitchFamily="34" charset="0"/>
                <a:ea typeface="Aptos" pitchFamily="34" charset="-122"/>
                <a:cs typeface="Aptos" pitchFamily="34" charset="-120"/>
              </a:rPr>
              <a:t>Improvement would support the intervention, but would not prove culture caused the original delay.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94360" y="320040"/>
            <a:ext cx="411480" cy="22860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09</a:t>
            </a:r>
            <a:endParaRPr lang="en-US" sz="1000" dirty="0"/>
          </a:p>
        </p:txBody>
      </p:sp>
      <p:sp>
        <p:nvSpPr>
          <p:cNvPr id="3" name="Text 1"/>
          <p:cNvSpPr txBox="1"/>
          <p:nvPr/>
        </p:nvSpPr>
        <p:spPr>
          <a:xfrm>
            <a:off x="594360" y="621792"/>
            <a:ext cx="9052560" cy="530352"/>
          </a:xfrm>
          <a:prstGeom prst="rect">
            <a:avLst/>
          </a:prstGeom>
          <a:noFill/>
          <a:ln/>
        </p:spPr>
        <p:txBody>
          <a:bodyPr wrap="square" lIns="0" tIns="0" rIns="0" bIns="0" rtlCol="0" anchor="ctr">
            <a:normAutofit/>
          </a:bodyPr>
          <a:lstStyle/>
          <a:p>
            <a:pPr algn="l" indent="0" marL="0">
              <a:buNone/>
            </a:pPr>
            <a:r>
              <a:rPr lang="en-US" sz="2500" dirty="0">
                <a:solidFill>
                  <a:srgbClr val="25292B"/>
                </a:solidFill>
                <a:latin typeface="Georgia" pitchFamily="34" charset="0"/>
                <a:ea typeface="Georgia" pitchFamily="34" charset="-122"/>
                <a:cs typeface="Georgia" pitchFamily="34" charset="-120"/>
              </a:rPr>
              <a:t>Lessons Learned and Reflection</a:t>
            </a:r>
            <a:endParaRPr lang="en-US" sz="2500" dirty="0"/>
          </a:p>
        </p:txBody>
      </p:sp>
      <p:sp>
        <p:nvSpPr>
          <p:cNvPr id="4" name="Text 2"/>
          <p:cNvSpPr txBox="1"/>
          <p:nvPr/>
        </p:nvSpPr>
        <p:spPr>
          <a:xfrm>
            <a:off x="9601200" y="384048"/>
            <a:ext cx="1965960" cy="228600"/>
          </a:xfrm>
          <a:prstGeom prst="rect">
            <a:avLst/>
          </a:prstGeom>
          <a:noFill/>
          <a:ln/>
        </p:spPr>
        <p:txBody>
          <a:bodyPr wrap="square" lIns="0" tIns="0" rIns="0" bIns="0" rtlCol="0" anchor="ctr">
            <a:normAutofit/>
          </a:bodyPr>
          <a:lstStyle/>
          <a:p>
            <a:pPr algn="r" indent="0" marL="0">
              <a:buNone/>
            </a:pPr>
            <a:r>
              <a:rPr lang="en-US" sz="1000" b="1" dirty="0">
                <a:solidFill>
                  <a:srgbClr val="62696B"/>
                </a:solidFill>
                <a:latin typeface="Aptos" pitchFamily="34" charset="0"/>
                <a:ea typeface="Aptos" pitchFamily="34" charset="-122"/>
                <a:cs typeface="Aptos" pitchFamily="34" charset="-120"/>
              </a:rPr>
              <a:t>JANEK  ·  1:00</a:t>
            </a:r>
            <a:endParaRPr lang="en-US" sz="1000" dirty="0"/>
          </a:p>
        </p:txBody>
      </p:sp>
      <p:sp>
        <p:nvSpPr>
          <p:cNvPr id="5" name="Shape 3"/>
          <p:cNvSpPr/>
          <p:nvPr/>
        </p:nvSpPr>
        <p:spPr>
          <a:xfrm>
            <a:off x="594360" y="1243584"/>
            <a:ext cx="658368" cy="50292"/>
          </a:xfrm>
          <a:prstGeom prst="rect">
            <a:avLst/>
          </a:prstGeom>
          <a:solidFill>
            <a:srgbClr val="426B68"/>
          </a:solidFill>
          <a:ln w="12700">
            <a:solidFill>
              <a:srgbClr val="426B68"/>
            </a:solidFill>
            <a:prstDash val="solid"/>
          </a:ln>
        </p:spPr>
      </p:sp>
      <p:sp>
        <p:nvSpPr>
          <p:cNvPr id="6" name="Shape 4"/>
          <p:cNvSpPr/>
          <p:nvPr/>
        </p:nvSpPr>
        <p:spPr>
          <a:xfrm>
            <a:off x="594360" y="6510528"/>
            <a:ext cx="11000232" cy="0"/>
          </a:xfrm>
          <a:prstGeom prst="line">
            <a:avLst/>
          </a:prstGeom>
          <a:noFill/>
          <a:ln w="10160">
            <a:solidFill>
              <a:srgbClr val="D8D6CF"/>
            </a:solidFill>
            <a:prstDash val="solid"/>
          </a:ln>
        </p:spPr>
      </p:sp>
      <p:sp>
        <p:nvSpPr>
          <p:cNvPr id="7" name="Text 5"/>
          <p:cNvSpPr txBox="1"/>
          <p:nvPr/>
        </p:nvSpPr>
        <p:spPr>
          <a:xfrm>
            <a:off x="594360" y="6574536"/>
            <a:ext cx="9784080" cy="164592"/>
          </a:xfrm>
          <a:prstGeom prst="rect">
            <a:avLst/>
          </a:prstGeom>
          <a:noFill/>
          <a:ln/>
        </p:spPr>
        <p:txBody>
          <a:bodyPr wrap="square" lIns="0" tIns="0" rIns="0" bIns="0" rtlCol="0" anchor="ctr">
            <a:normAutofit/>
          </a:bodyPr>
          <a:lstStyle/>
          <a:p>
            <a:pPr algn="l" indent="0" marL="0">
              <a:buNone/>
            </a:pPr>
            <a:r>
              <a:rPr lang="en-US" sz="850" dirty="0">
                <a:solidFill>
                  <a:srgbClr val="62696B"/>
                </a:solidFill>
                <a:latin typeface="Aptos" pitchFamily="34" charset="0"/>
                <a:ea typeface="Aptos" pitchFamily="34" charset="-122"/>
                <a:cs typeface="Aptos" pitchFamily="34" charset="-120"/>
              </a:rPr>
              <a:t>Source: G4 reflection; Stahl et al. (2010)</a:t>
            </a:r>
            <a:endParaRPr lang="en-US" sz="850" dirty="0"/>
          </a:p>
        </p:txBody>
      </p:sp>
      <p:sp>
        <p:nvSpPr>
          <p:cNvPr id="8" name="Text 6"/>
          <p:cNvSpPr txBox="1"/>
          <p:nvPr/>
        </p:nvSpPr>
        <p:spPr>
          <a:xfrm>
            <a:off x="11201400" y="6547104"/>
            <a:ext cx="365760" cy="164592"/>
          </a:xfrm>
          <a:prstGeom prst="rect">
            <a:avLst/>
          </a:prstGeom>
          <a:noFill/>
          <a:ln/>
        </p:spPr>
        <p:txBody>
          <a:bodyPr wrap="square" lIns="0" tIns="0" rIns="0" bIns="0" rtlCol="0" anchor="ctr">
            <a:normAutofit/>
          </a:bodyPr>
          <a:lstStyle/>
          <a:p>
            <a:pPr algn="r" indent="0" marL="0">
              <a:buNone/>
            </a:pPr>
            <a:r>
              <a:rPr lang="en-US" sz="900" dirty="0">
                <a:solidFill>
                  <a:srgbClr val="62696B"/>
                </a:solidFill>
                <a:latin typeface="Aptos" pitchFamily="34" charset="0"/>
                <a:ea typeface="Aptos" pitchFamily="34" charset="-122"/>
                <a:cs typeface="Aptos" pitchFamily="34" charset="-120"/>
              </a:rPr>
              <a:t>9</a:t>
            </a:r>
            <a:endParaRPr lang="en-US" sz="900" dirty="0"/>
          </a:p>
        </p:txBody>
      </p:sp>
      <p:sp>
        <p:nvSpPr>
          <p:cNvPr id="9" name="Text 7"/>
          <p:cNvSpPr txBox="1"/>
          <p:nvPr/>
        </p:nvSpPr>
        <p:spPr>
          <a:xfrm>
            <a:off x="704088" y="1691640"/>
            <a:ext cx="438912" cy="201168"/>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01</a:t>
            </a:r>
            <a:endParaRPr lang="en-US" sz="1000" dirty="0"/>
          </a:p>
        </p:txBody>
      </p:sp>
      <p:sp>
        <p:nvSpPr>
          <p:cNvPr id="10" name="Shape 8"/>
          <p:cNvSpPr/>
          <p:nvPr/>
        </p:nvSpPr>
        <p:spPr>
          <a:xfrm>
            <a:off x="1225296" y="1792224"/>
            <a:ext cx="566928" cy="0"/>
          </a:xfrm>
          <a:prstGeom prst="line">
            <a:avLst/>
          </a:prstGeom>
          <a:noFill/>
          <a:ln w="25400">
            <a:solidFill>
              <a:srgbClr val="426B68"/>
            </a:solidFill>
            <a:prstDash val="solid"/>
          </a:ln>
        </p:spPr>
      </p:sp>
      <p:sp>
        <p:nvSpPr>
          <p:cNvPr id="11" name="Text 9"/>
          <p:cNvSpPr txBox="1"/>
          <p:nvPr/>
        </p:nvSpPr>
        <p:spPr>
          <a:xfrm>
            <a:off x="1938528" y="1581912"/>
            <a:ext cx="2331720" cy="237744"/>
          </a:xfrm>
          <a:prstGeom prst="rect">
            <a:avLst/>
          </a:prstGeom>
          <a:noFill/>
          <a:ln/>
        </p:spPr>
        <p:txBody>
          <a:bodyPr wrap="square" lIns="0" tIns="0" rIns="0" bIns="0" rtlCol="0" anchor="ctr">
            <a:normAutofit/>
          </a:bodyPr>
          <a:lstStyle/>
          <a:p>
            <a:pPr algn="l" indent="0" marL="0">
              <a:buNone/>
            </a:pPr>
            <a:r>
              <a:rPr lang="en-US" sz="1100" b="1" dirty="0">
                <a:solidFill>
                  <a:srgbClr val="426B68"/>
                </a:solidFill>
                <a:latin typeface="Aptos" pitchFamily="34" charset="0"/>
                <a:ea typeface="Aptos" pitchFamily="34" charset="-122"/>
                <a:cs typeface="Aptos" pitchFamily="34" charset="-120"/>
              </a:rPr>
              <a:t>VERIFY MEANING</a:t>
            </a:r>
            <a:endParaRPr lang="en-US" sz="1100" dirty="0"/>
          </a:p>
        </p:txBody>
      </p:sp>
      <p:sp>
        <p:nvSpPr>
          <p:cNvPr id="12" name="Text 10"/>
          <p:cNvSpPr txBox="1"/>
          <p:nvPr/>
        </p:nvSpPr>
        <p:spPr>
          <a:xfrm>
            <a:off x="4334256" y="1563624"/>
            <a:ext cx="2889504" cy="320040"/>
          </a:xfrm>
          <a:prstGeom prst="rect">
            <a:avLst/>
          </a:prstGeom>
          <a:noFill/>
          <a:ln/>
        </p:spPr>
        <p:txBody>
          <a:bodyPr wrap="square" lIns="0" tIns="0" rIns="0" bIns="0" rtlCol="0" anchor="ctr">
            <a:normAutofit/>
          </a:bodyPr>
          <a:lstStyle/>
          <a:p>
            <a:pPr algn="l" indent="0" marL="0">
              <a:buNone/>
            </a:pPr>
            <a:r>
              <a:rPr lang="en-US" sz="1500" b="1" dirty="0">
                <a:solidFill>
                  <a:srgbClr val="25292B"/>
                </a:solidFill>
                <a:latin typeface="Aptos" pitchFamily="34" charset="0"/>
                <a:ea typeface="Aptos" pitchFamily="34" charset="-122"/>
                <a:cs typeface="Aptos" pitchFamily="34" charset="-120"/>
              </a:rPr>
              <a:t>Separate intention from effect.</a:t>
            </a:r>
            <a:endParaRPr lang="en-US" sz="1500" dirty="0"/>
          </a:p>
        </p:txBody>
      </p:sp>
      <p:sp>
        <p:nvSpPr>
          <p:cNvPr id="13" name="Text 11"/>
          <p:cNvSpPr txBox="1"/>
          <p:nvPr/>
        </p:nvSpPr>
        <p:spPr>
          <a:xfrm>
            <a:off x="704088" y="2642616"/>
            <a:ext cx="438912" cy="201168"/>
          </a:xfrm>
          <a:prstGeom prst="rect">
            <a:avLst/>
          </a:prstGeom>
          <a:noFill/>
          <a:ln/>
        </p:spPr>
        <p:txBody>
          <a:bodyPr wrap="square" lIns="0" tIns="0" rIns="0" bIns="0" rtlCol="0" anchor="ctr">
            <a:normAutofit/>
          </a:bodyPr>
          <a:lstStyle/>
          <a:p>
            <a:pPr algn="l" indent="0" marL="0">
              <a:buNone/>
            </a:pPr>
            <a:r>
              <a:rPr lang="en-US" sz="1000" b="1" dirty="0">
                <a:solidFill>
                  <a:srgbClr val="5D7480"/>
                </a:solidFill>
                <a:latin typeface="Aptos" pitchFamily="34" charset="0"/>
                <a:ea typeface="Aptos" pitchFamily="34" charset="-122"/>
                <a:cs typeface="Aptos" pitchFamily="34" charset="-120"/>
              </a:rPr>
              <a:t>02</a:t>
            </a:r>
            <a:endParaRPr lang="en-US" sz="1000" dirty="0"/>
          </a:p>
        </p:txBody>
      </p:sp>
      <p:sp>
        <p:nvSpPr>
          <p:cNvPr id="14" name="Shape 12"/>
          <p:cNvSpPr/>
          <p:nvPr/>
        </p:nvSpPr>
        <p:spPr>
          <a:xfrm>
            <a:off x="1225296" y="2743200"/>
            <a:ext cx="566928" cy="0"/>
          </a:xfrm>
          <a:prstGeom prst="line">
            <a:avLst/>
          </a:prstGeom>
          <a:noFill/>
          <a:ln w="25400">
            <a:solidFill>
              <a:srgbClr val="5D7480"/>
            </a:solidFill>
            <a:prstDash val="solid"/>
          </a:ln>
        </p:spPr>
      </p:sp>
      <p:sp>
        <p:nvSpPr>
          <p:cNvPr id="15" name="Text 13"/>
          <p:cNvSpPr txBox="1"/>
          <p:nvPr/>
        </p:nvSpPr>
        <p:spPr>
          <a:xfrm>
            <a:off x="1938528" y="2532888"/>
            <a:ext cx="2331720" cy="237744"/>
          </a:xfrm>
          <a:prstGeom prst="rect">
            <a:avLst/>
          </a:prstGeom>
          <a:noFill/>
          <a:ln/>
        </p:spPr>
        <p:txBody>
          <a:bodyPr wrap="square" lIns="0" tIns="0" rIns="0" bIns="0" rtlCol="0" anchor="ctr">
            <a:normAutofit/>
          </a:bodyPr>
          <a:lstStyle/>
          <a:p>
            <a:pPr algn="l" indent="0" marL="0">
              <a:buNone/>
            </a:pPr>
            <a:r>
              <a:rPr lang="en-US" sz="1100" b="1" dirty="0">
                <a:solidFill>
                  <a:srgbClr val="5D7480"/>
                </a:solidFill>
                <a:latin typeface="Aptos" pitchFamily="34" charset="0"/>
                <a:ea typeface="Aptos" pitchFamily="34" charset="-122"/>
                <a:cs typeface="Aptos" pitchFamily="34" charset="-120"/>
              </a:rPr>
              <a:t>STAFF FOR FIT</a:t>
            </a:r>
            <a:endParaRPr lang="en-US" sz="1100" dirty="0"/>
          </a:p>
        </p:txBody>
      </p:sp>
      <p:sp>
        <p:nvSpPr>
          <p:cNvPr id="16" name="Text 14"/>
          <p:cNvSpPr txBox="1"/>
          <p:nvPr/>
        </p:nvSpPr>
        <p:spPr>
          <a:xfrm>
            <a:off x="4334256" y="2514600"/>
            <a:ext cx="2889504" cy="320040"/>
          </a:xfrm>
          <a:prstGeom prst="rect">
            <a:avLst/>
          </a:prstGeom>
          <a:noFill/>
          <a:ln/>
        </p:spPr>
        <p:txBody>
          <a:bodyPr wrap="square" lIns="0" tIns="0" rIns="0" bIns="0" rtlCol="0" anchor="ctr">
            <a:normAutofit/>
          </a:bodyPr>
          <a:lstStyle/>
          <a:p>
            <a:pPr algn="l" indent="0" marL="0">
              <a:buNone/>
            </a:pPr>
            <a:r>
              <a:rPr lang="en-US" sz="1500" b="1" dirty="0">
                <a:solidFill>
                  <a:srgbClr val="25292B"/>
                </a:solidFill>
                <a:latin typeface="Aptos" pitchFamily="34" charset="0"/>
                <a:ea typeface="Aptos" pitchFamily="34" charset="-122"/>
                <a:cs typeface="Aptos" pitchFamily="34" charset="-120"/>
              </a:rPr>
              <a:t>Balance roles, backups and time zones.</a:t>
            </a:r>
            <a:endParaRPr lang="en-US" sz="1500" dirty="0"/>
          </a:p>
        </p:txBody>
      </p:sp>
      <p:sp>
        <p:nvSpPr>
          <p:cNvPr id="17" name="Text 15"/>
          <p:cNvSpPr txBox="1"/>
          <p:nvPr/>
        </p:nvSpPr>
        <p:spPr>
          <a:xfrm>
            <a:off x="704088" y="3593592"/>
            <a:ext cx="438912" cy="201168"/>
          </a:xfrm>
          <a:prstGeom prst="rect">
            <a:avLst/>
          </a:prstGeom>
          <a:noFill/>
          <a:ln/>
        </p:spPr>
        <p:txBody>
          <a:bodyPr wrap="square" lIns="0" tIns="0" rIns="0" bIns="0" rtlCol="0" anchor="ctr">
            <a:normAutofit/>
          </a:bodyPr>
          <a:lstStyle/>
          <a:p>
            <a:pPr algn="l" indent="0" marL="0">
              <a:buNone/>
            </a:pPr>
            <a:r>
              <a:rPr lang="en-US" sz="1000" b="1" dirty="0">
                <a:solidFill>
                  <a:srgbClr val="A3824F"/>
                </a:solidFill>
                <a:latin typeface="Aptos" pitchFamily="34" charset="0"/>
                <a:ea typeface="Aptos" pitchFamily="34" charset="-122"/>
                <a:cs typeface="Aptos" pitchFamily="34" charset="-120"/>
              </a:rPr>
              <a:t>03</a:t>
            </a:r>
            <a:endParaRPr lang="en-US" sz="1000" dirty="0"/>
          </a:p>
        </p:txBody>
      </p:sp>
      <p:sp>
        <p:nvSpPr>
          <p:cNvPr id="18" name="Shape 16"/>
          <p:cNvSpPr/>
          <p:nvPr/>
        </p:nvSpPr>
        <p:spPr>
          <a:xfrm>
            <a:off x="1225296" y="3694176"/>
            <a:ext cx="566928" cy="0"/>
          </a:xfrm>
          <a:prstGeom prst="line">
            <a:avLst/>
          </a:prstGeom>
          <a:noFill/>
          <a:ln w="25400">
            <a:solidFill>
              <a:srgbClr val="A3824F"/>
            </a:solidFill>
            <a:prstDash val="solid"/>
          </a:ln>
        </p:spPr>
      </p:sp>
      <p:sp>
        <p:nvSpPr>
          <p:cNvPr id="19" name="Text 17"/>
          <p:cNvSpPr txBox="1"/>
          <p:nvPr/>
        </p:nvSpPr>
        <p:spPr>
          <a:xfrm>
            <a:off x="1938528" y="3483864"/>
            <a:ext cx="2331720" cy="237744"/>
          </a:xfrm>
          <a:prstGeom prst="rect">
            <a:avLst/>
          </a:prstGeom>
          <a:noFill/>
          <a:ln/>
        </p:spPr>
        <p:txBody>
          <a:bodyPr wrap="square" lIns="0" tIns="0" rIns="0" bIns="0" rtlCol="0" anchor="ctr">
            <a:normAutofit/>
          </a:bodyPr>
          <a:lstStyle/>
          <a:p>
            <a:pPr algn="l" indent="0" marL="0">
              <a:buNone/>
            </a:pPr>
            <a:r>
              <a:rPr lang="en-US" sz="1100" b="1" dirty="0">
                <a:solidFill>
                  <a:srgbClr val="A3824F"/>
                </a:solidFill>
                <a:latin typeface="Aptos" pitchFamily="34" charset="0"/>
                <a:ea typeface="Aptos" pitchFamily="34" charset="-122"/>
                <a:cs typeface="Aptos" pitchFamily="34" charset="-120"/>
              </a:rPr>
              <a:t>DESIGN TRUST</a:t>
            </a:r>
            <a:endParaRPr lang="en-US" sz="1100" dirty="0"/>
          </a:p>
        </p:txBody>
      </p:sp>
      <p:sp>
        <p:nvSpPr>
          <p:cNvPr id="20" name="Text 18"/>
          <p:cNvSpPr txBox="1"/>
          <p:nvPr/>
        </p:nvSpPr>
        <p:spPr>
          <a:xfrm>
            <a:off x="4334256" y="3465576"/>
            <a:ext cx="2889504" cy="320040"/>
          </a:xfrm>
          <a:prstGeom prst="rect">
            <a:avLst/>
          </a:prstGeom>
          <a:noFill/>
          <a:ln/>
        </p:spPr>
        <p:txBody>
          <a:bodyPr wrap="square" lIns="0" tIns="0" rIns="0" bIns="0" rtlCol="0" anchor="ctr">
            <a:normAutofit/>
          </a:bodyPr>
          <a:lstStyle/>
          <a:p>
            <a:pPr algn="l" indent="0" marL="0">
              <a:buNone/>
            </a:pPr>
            <a:r>
              <a:rPr lang="en-US" sz="1500" b="1" dirty="0">
                <a:solidFill>
                  <a:srgbClr val="25292B"/>
                </a:solidFill>
                <a:latin typeface="Aptos" pitchFamily="34" charset="0"/>
                <a:ea typeface="Aptos" pitchFamily="34" charset="-122"/>
                <a:cs typeface="Aptos" pitchFamily="34" charset="-120"/>
              </a:rPr>
              <a:t>Tools coordinate work; people create trust.</a:t>
            </a:r>
            <a:endParaRPr lang="en-US" sz="1500" dirty="0"/>
          </a:p>
        </p:txBody>
      </p:sp>
      <p:sp>
        <p:nvSpPr>
          <p:cNvPr id="21" name="Text 19"/>
          <p:cNvSpPr txBox="1"/>
          <p:nvPr/>
        </p:nvSpPr>
        <p:spPr>
          <a:xfrm>
            <a:off x="704088" y="4544568"/>
            <a:ext cx="438912" cy="201168"/>
          </a:xfrm>
          <a:prstGeom prst="rect">
            <a:avLst/>
          </a:prstGeom>
          <a:noFill/>
          <a:ln/>
        </p:spPr>
        <p:txBody>
          <a:bodyPr wrap="square" lIns="0" tIns="0" rIns="0" bIns="0" rtlCol="0" anchor="ctr">
            <a:normAutofit/>
          </a:bodyPr>
          <a:lstStyle/>
          <a:p>
            <a:pPr algn="l" indent="0" marL="0">
              <a:buNone/>
            </a:pPr>
            <a:r>
              <a:rPr lang="en-US" sz="1000" b="1" dirty="0">
                <a:solidFill>
                  <a:srgbClr val="9A5C49"/>
                </a:solidFill>
                <a:latin typeface="Aptos" pitchFamily="34" charset="0"/>
                <a:ea typeface="Aptos" pitchFamily="34" charset="-122"/>
                <a:cs typeface="Aptos" pitchFamily="34" charset="-120"/>
              </a:rPr>
              <a:t>04</a:t>
            </a:r>
            <a:endParaRPr lang="en-US" sz="1000" dirty="0"/>
          </a:p>
        </p:txBody>
      </p:sp>
      <p:sp>
        <p:nvSpPr>
          <p:cNvPr id="22" name="Shape 20"/>
          <p:cNvSpPr/>
          <p:nvPr/>
        </p:nvSpPr>
        <p:spPr>
          <a:xfrm>
            <a:off x="1225296" y="4645152"/>
            <a:ext cx="566928" cy="0"/>
          </a:xfrm>
          <a:prstGeom prst="line">
            <a:avLst/>
          </a:prstGeom>
          <a:noFill/>
          <a:ln w="25400">
            <a:solidFill>
              <a:srgbClr val="9A5C49"/>
            </a:solidFill>
            <a:prstDash val="solid"/>
          </a:ln>
        </p:spPr>
      </p:sp>
      <p:sp>
        <p:nvSpPr>
          <p:cNvPr id="23" name="Text 21"/>
          <p:cNvSpPr txBox="1"/>
          <p:nvPr/>
        </p:nvSpPr>
        <p:spPr>
          <a:xfrm>
            <a:off x="1938528" y="4434840"/>
            <a:ext cx="2331720" cy="237744"/>
          </a:xfrm>
          <a:prstGeom prst="rect">
            <a:avLst/>
          </a:prstGeom>
          <a:noFill/>
          <a:ln/>
        </p:spPr>
        <p:txBody>
          <a:bodyPr wrap="square" lIns="0" tIns="0" rIns="0" bIns="0" rtlCol="0" anchor="ctr">
            <a:normAutofit/>
          </a:bodyPr>
          <a:lstStyle/>
          <a:p>
            <a:pPr algn="l" indent="0" marL="0">
              <a:buNone/>
            </a:pPr>
            <a:r>
              <a:rPr lang="en-US" sz="1100" b="1" dirty="0">
                <a:solidFill>
                  <a:srgbClr val="9A5C49"/>
                </a:solidFill>
                <a:latin typeface="Aptos" pitchFamily="34" charset="0"/>
                <a:ea typeface="Aptos" pitchFamily="34" charset="-122"/>
                <a:cs typeface="Aptos" pitchFamily="34" charset="-120"/>
              </a:rPr>
              <a:t>MAKE DIFFERENCE VISIBLE</a:t>
            </a:r>
            <a:endParaRPr lang="en-US" sz="1100" dirty="0"/>
          </a:p>
        </p:txBody>
      </p:sp>
      <p:sp>
        <p:nvSpPr>
          <p:cNvPr id="24" name="Text 22"/>
          <p:cNvSpPr txBox="1"/>
          <p:nvPr/>
        </p:nvSpPr>
        <p:spPr>
          <a:xfrm>
            <a:off x="4334256" y="4416552"/>
            <a:ext cx="2889504" cy="320040"/>
          </a:xfrm>
          <a:prstGeom prst="rect">
            <a:avLst/>
          </a:prstGeom>
          <a:noFill/>
          <a:ln/>
        </p:spPr>
        <p:txBody>
          <a:bodyPr wrap="square" lIns="0" tIns="0" rIns="0" bIns="0" rtlCol="0" anchor="ctr">
            <a:normAutofit/>
          </a:bodyPr>
          <a:lstStyle/>
          <a:p>
            <a:pPr algn="l" indent="0" marL="0">
              <a:buNone/>
            </a:pPr>
            <a:r>
              <a:rPr lang="en-US" sz="1500" b="1" dirty="0">
                <a:solidFill>
                  <a:srgbClr val="25292B"/>
                </a:solidFill>
                <a:latin typeface="Aptos" pitchFamily="34" charset="0"/>
                <a:ea typeface="Aptos" pitchFamily="34" charset="-122"/>
                <a:cs typeface="Aptos" pitchFamily="34" charset="-120"/>
              </a:rPr>
              <a:t>Diversity helps only when perspectives enter decisions.</a:t>
            </a:r>
            <a:endParaRPr lang="en-US" sz="1500" dirty="0"/>
          </a:p>
        </p:txBody>
      </p:sp>
      <p:sp>
        <p:nvSpPr>
          <p:cNvPr id="25" name="Shape 23"/>
          <p:cNvSpPr/>
          <p:nvPr/>
        </p:nvSpPr>
        <p:spPr>
          <a:xfrm>
            <a:off x="7744968" y="1581912"/>
            <a:ext cx="3776472" cy="3913632"/>
          </a:xfrm>
          <a:prstGeom prst="roundRect">
            <a:avLst/>
          </a:prstGeom>
          <a:solidFill>
            <a:srgbClr val="294947"/>
          </a:solidFill>
          <a:ln w="12700">
            <a:solidFill>
              <a:srgbClr val="294947"/>
            </a:solidFill>
            <a:prstDash val="solid"/>
          </a:ln>
        </p:spPr>
      </p:sp>
      <p:sp>
        <p:nvSpPr>
          <p:cNvPr id="26" name="Text 24"/>
          <p:cNvSpPr txBox="1"/>
          <p:nvPr/>
        </p:nvSpPr>
        <p:spPr>
          <a:xfrm>
            <a:off x="8028432" y="1874520"/>
            <a:ext cx="1828800" cy="182880"/>
          </a:xfrm>
          <a:prstGeom prst="rect">
            <a:avLst/>
          </a:prstGeom>
          <a:noFill/>
          <a:ln/>
        </p:spPr>
        <p:txBody>
          <a:bodyPr wrap="square" lIns="0" tIns="0" rIns="0" bIns="0" rtlCol="0" anchor="ctr">
            <a:normAutofit/>
          </a:bodyPr>
          <a:lstStyle/>
          <a:p>
            <a:pPr algn="l" indent="0" marL="0">
              <a:buNone/>
            </a:pPr>
            <a:r>
              <a:rPr lang="en-US" sz="1000" b="1" dirty="0">
                <a:solidFill>
                  <a:srgbClr val="DDE8E5"/>
                </a:solidFill>
                <a:latin typeface="Aptos" pitchFamily="34" charset="0"/>
                <a:ea typeface="Aptos" pitchFamily="34" charset="-122"/>
                <a:cs typeface="Aptos" pitchFamily="34" charset="-120"/>
              </a:rPr>
              <a:t>CRITICAL REFLECTION</a:t>
            </a:r>
            <a:endParaRPr lang="en-US" sz="1000" dirty="0"/>
          </a:p>
        </p:txBody>
      </p:sp>
      <p:sp>
        <p:nvSpPr>
          <p:cNvPr id="27" name="Text 25"/>
          <p:cNvSpPr txBox="1"/>
          <p:nvPr/>
        </p:nvSpPr>
        <p:spPr>
          <a:xfrm>
            <a:off x="8028432" y="2340864"/>
            <a:ext cx="3017520" cy="914400"/>
          </a:xfrm>
          <a:prstGeom prst="rect">
            <a:avLst/>
          </a:prstGeom>
          <a:noFill/>
          <a:ln/>
        </p:spPr>
        <p:txBody>
          <a:bodyPr wrap="square" lIns="0" tIns="0" rIns="0" bIns="0" rtlCol="0" anchor="ctr">
            <a:normAutofit/>
          </a:bodyPr>
          <a:lstStyle/>
          <a:p>
            <a:pPr algn="l" indent="0" marL="0">
              <a:buNone/>
            </a:pPr>
            <a:r>
              <a:rPr lang="en-US" sz="2800" dirty="0">
                <a:solidFill>
                  <a:srgbClr val="FFFFFF"/>
                </a:solidFill>
                <a:latin typeface="Georgia" pitchFamily="34" charset="0"/>
                <a:ea typeface="Georgia" pitchFamily="34" charset="-122"/>
                <a:cs typeface="Georgia" pitchFamily="34" charset="-120"/>
              </a:rPr>
              <a:t>Lenses,</a:t>
            </a:r>
            <a:endParaRPr lang="en-US" sz="2800" dirty="0"/>
          </a:p>
          <a:p>
            <a:pPr algn="l" indent="0" marL="0">
              <a:buNone/>
            </a:pPr>
            <a:r>
              <a:rPr lang="en-US" sz="2800" dirty="0">
                <a:solidFill>
                  <a:srgbClr val="FFFFFF"/>
                </a:solidFill>
                <a:latin typeface="Georgia" pitchFamily="34" charset="0"/>
                <a:ea typeface="Georgia" pitchFamily="34" charset="-122"/>
                <a:cs typeface="Georgia" pitchFamily="34" charset="-120"/>
              </a:rPr>
              <a:t>not labels.</a:t>
            </a:r>
            <a:endParaRPr lang="en-US" sz="2800" dirty="0"/>
          </a:p>
        </p:txBody>
      </p:sp>
      <p:sp>
        <p:nvSpPr>
          <p:cNvPr id="28" name="Shape 26"/>
          <p:cNvSpPr/>
          <p:nvPr/>
        </p:nvSpPr>
        <p:spPr>
          <a:xfrm>
            <a:off x="8028432" y="3566160"/>
            <a:ext cx="694944" cy="0"/>
          </a:xfrm>
          <a:prstGeom prst="line">
            <a:avLst/>
          </a:prstGeom>
          <a:noFill/>
          <a:ln w="25400">
            <a:solidFill>
              <a:srgbClr val="7F9B98"/>
            </a:solidFill>
            <a:prstDash val="solid"/>
          </a:ln>
        </p:spPr>
      </p:sp>
      <p:sp>
        <p:nvSpPr>
          <p:cNvPr id="29" name="Text 27"/>
          <p:cNvSpPr txBox="1"/>
          <p:nvPr/>
        </p:nvSpPr>
        <p:spPr>
          <a:xfrm>
            <a:off x="8028432" y="3858768"/>
            <a:ext cx="2971800" cy="512064"/>
          </a:xfrm>
          <a:prstGeom prst="rect">
            <a:avLst/>
          </a:prstGeom>
          <a:noFill/>
          <a:ln/>
        </p:spPr>
        <p:txBody>
          <a:bodyPr wrap="square" lIns="0" tIns="0" rIns="0" bIns="0" rtlCol="0" anchor="t">
            <a:normAutofit/>
          </a:bodyPr>
          <a:lstStyle/>
          <a:p>
            <a:pPr algn="l" indent="0" marL="0">
              <a:buNone/>
            </a:pPr>
            <a:r>
              <a:rPr lang="en-US" sz="1300" b="1" dirty="0">
                <a:solidFill>
                  <a:srgbClr val="DDE8E5"/>
                </a:solidFill>
                <a:latin typeface="Aptos" pitchFamily="34" charset="0"/>
                <a:ea typeface="Aptos" pitchFamily="34" charset="-122"/>
                <a:cs typeface="Aptos" pitchFamily="34" charset="-120"/>
              </a:rPr>
              <a:t>Test cultural models against behaviour and alternative explanations:</a:t>
            </a:r>
            <a:endParaRPr lang="en-US" sz="1300" dirty="0"/>
          </a:p>
        </p:txBody>
      </p:sp>
      <p:sp>
        <p:nvSpPr>
          <p:cNvPr id="30" name="Text 28"/>
          <p:cNvSpPr txBox="1"/>
          <p:nvPr/>
        </p:nvSpPr>
        <p:spPr>
          <a:xfrm>
            <a:off x="8028432" y="4526280"/>
            <a:ext cx="2971800" cy="658368"/>
          </a:xfrm>
          <a:prstGeom prst="rect">
            <a:avLst/>
          </a:prstGeom>
          <a:noFill/>
          <a:ln/>
        </p:spPr>
        <p:txBody>
          <a:bodyPr wrap="square" lIns="0" tIns="0" rIns="0" bIns="0" rtlCol="0" anchor="t">
            <a:normAutofit/>
          </a:bodyPr>
          <a:lstStyle/>
          <a:p>
            <a:pPr algn="l" indent="0" marL="0">
              <a:buNone/>
            </a:pPr>
            <a:r>
              <a:rPr lang="en-US" sz="1250" dirty="0">
                <a:solidFill>
                  <a:srgbClr val="FFFFFF"/>
                </a:solidFill>
                <a:latin typeface="Aptos" pitchFamily="34" charset="0"/>
                <a:ea typeface="Aptos" pitchFamily="34" charset="-122"/>
                <a:cs typeface="Aptos" pitchFamily="34" charset="-120"/>
              </a:rPr>
              <a:t>product complexity</a:t>
            </a:r>
            <a:endParaRPr lang="en-US" sz="1250" dirty="0"/>
          </a:p>
          <a:p>
            <a:pPr algn="l" indent="0" marL="0">
              <a:buNone/>
            </a:pPr>
            <a:r>
              <a:rPr lang="en-US" sz="1250" dirty="0">
                <a:solidFill>
                  <a:srgbClr val="FFFFFF"/>
                </a:solidFill>
                <a:latin typeface="Aptos" pitchFamily="34" charset="0"/>
                <a:ea typeface="Aptos" pitchFamily="34" charset="-122"/>
                <a:cs typeface="Aptos" pitchFamily="34" charset="-120"/>
              </a:rPr>
              <a:t>resource pressure</a:t>
            </a:r>
            <a:endParaRPr lang="en-US" sz="1250" dirty="0"/>
          </a:p>
          <a:p>
            <a:pPr algn="l" indent="0" marL="0">
              <a:buNone/>
            </a:pPr>
            <a:r>
              <a:rPr lang="en-US" sz="1250" dirty="0">
                <a:solidFill>
                  <a:srgbClr val="FFFFFF"/>
                </a:solidFill>
                <a:latin typeface="Aptos" pitchFamily="34" charset="0"/>
                <a:ea typeface="Aptos" pitchFamily="34" charset="-122"/>
                <a:cs typeface="Aptos" pitchFamily="34" charset="-120"/>
              </a:rPr>
              <a:t>growing familiarity</a:t>
            </a:r>
            <a:endParaRPr lang="en-US" sz="1250" dirty="0"/>
          </a:p>
        </p:txBody>
      </p:sp>
      <p:sp>
        <p:nvSpPr>
          <p:cNvPr id="31" name="Shape 29"/>
          <p:cNvSpPr/>
          <p:nvPr/>
        </p:nvSpPr>
        <p:spPr>
          <a:xfrm>
            <a:off x="658368" y="5687568"/>
            <a:ext cx="10863072" cy="502920"/>
          </a:xfrm>
          <a:prstGeom prst="roundRect">
            <a:avLst/>
          </a:prstGeom>
          <a:solidFill>
            <a:srgbClr val="EEDFD8"/>
          </a:solidFill>
          <a:ln w="12700">
            <a:solidFill>
              <a:srgbClr val="EEDFD8"/>
            </a:solidFill>
            <a:prstDash val="solid"/>
          </a:ln>
        </p:spPr>
      </p:sp>
      <p:sp>
        <p:nvSpPr>
          <p:cNvPr id="32" name="Text 30"/>
          <p:cNvSpPr txBox="1"/>
          <p:nvPr/>
        </p:nvSpPr>
        <p:spPr>
          <a:xfrm>
            <a:off x="896112" y="5797296"/>
            <a:ext cx="10369296" cy="237744"/>
          </a:xfrm>
          <a:prstGeom prst="rect">
            <a:avLst/>
          </a:prstGeom>
          <a:noFill/>
          <a:ln/>
        </p:spPr>
        <p:txBody>
          <a:bodyPr wrap="square" lIns="0" tIns="0" rIns="0" bIns="0" rtlCol="0" anchor="ctr">
            <a:normAutofit/>
          </a:bodyPr>
          <a:lstStyle/>
          <a:p>
            <a:pPr algn="ctr" indent="0" marL="0">
              <a:buNone/>
            </a:pPr>
            <a:r>
              <a:rPr lang="en-US" sz="1600" dirty="0">
                <a:solidFill>
                  <a:srgbClr val="9A5C49"/>
                </a:solidFill>
                <a:latin typeface="Georgia" pitchFamily="34" charset="0"/>
                <a:ea typeface="Georgia" pitchFamily="34" charset="-122"/>
                <a:cs typeface="Georgia" pitchFamily="34" charset="-120"/>
              </a:rPr>
              <a:t>Explicit collaboration rules turn cultural difference from a delivery risk into a source of better decisions.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94360" y="320040"/>
            <a:ext cx="411480" cy="22860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10</a:t>
            </a:r>
            <a:endParaRPr lang="en-US" sz="1000" dirty="0"/>
          </a:p>
        </p:txBody>
      </p:sp>
      <p:sp>
        <p:nvSpPr>
          <p:cNvPr id="3" name="Text 1"/>
          <p:cNvSpPr txBox="1"/>
          <p:nvPr/>
        </p:nvSpPr>
        <p:spPr>
          <a:xfrm>
            <a:off x="594360" y="621792"/>
            <a:ext cx="9052560" cy="530352"/>
          </a:xfrm>
          <a:prstGeom prst="rect">
            <a:avLst/>
          </a:prstGeom>
          <a:noFill/>
          <a:ln/>
        </p:spPr>
        <p:txBody>
          <a:bodyPr wrap="square" lIns="0" tIns="0" rIns="0" bIns="0" rtlCol="0" anchor="ctr">
            <a:normAutofit/>
          </a:bodyPr>
          <a:lstStyle/>
          <a:p>
            <a:pPr algn="l" indent="0" marL="0">
              <a:buNone/>
            </a:pPr>
            <a:r>
              <a:rPr lang="en-US" sz="2500" dirty="0">
                <a:solidFill>
                  <a:srgbClr val="25292B"/>
                </a:solidFill>
                <a:latin typeface="Georgia" pitchFamily="34" charset="0"/>
                <a:ea typeface="Georgia" pitchFamily="34" charset="-122"/>
                <a:cs typeface="Georgia" pitchFamily="34" charset="-120"/>
              </a:rPr>
              <a:t>References</a:t>
            </a:r>
            <a:endParaRPr lang="en-US" sz="2500" dirty="0"/>
          </a:p>
        </p:txBody>
      </p:sp>
      <p:sp>
        <p:nvSpPr>
          <p:cNvPr id="4" name="Shape 2"/>
          <p:cNvSpPr/>
          <p:nvPr/>
        </p:nvSpPr>
        <p:spPr>
          <a:xfrm>
            <a:off x="594360" y="1243584"/>
            <a:ext cx="658368" cy="50292"/>
          </a:xfrm>
          <a:prstGeom prst="rect">
            <a:avLst/>
          </a:prstGeom>
          <a:solidFill>
            <a:srgbClr val="426B68"/>
          </a:solidFill>
          <a:ln w="12700">
            <a:solidFill>
              <a:srgbClr val="426B68"/>
            </a:solidFill>
            <a:prstDash val="solid"/>
          </a:ln>
        </p:spPr>
      </p:sp>
      <p:sp>
        <p:nvSpPr>
          <p:cNvPr id="5" name="Shape 3"/>
          <p:cNvSpPr/>
          <p:nvPr/>
        </p:nvSpPr>
        <p:spPr>
          <a:xfrm>
            <a:off x="594360" y="6510528"/>
            <a:ext cx="11000232" cy="0"/>
          </a:xfrm>
          <a:prstGeom prst="line">
            <a:avLst/>
          </a:prstGeom>
          <a:noFill/>
          <a:ln w="10160">
            <a:solidFill>
              <a:srgbClr val="D8D6CF"/>
            </a:solidFill>
            <a:prstDash val="solid"/>
          </a:ln>
        </p:spPr>
      </p:sp>
      <p:sp>
        <p:nvSpPr>
          <p:cNvPr id="6" name="Text 4"/>
          <p:cNvSpPr txBox="1"/>
          <p:nvPr/>
        </p:nvSpPr>
        <p:spPr>
          <a:xfrm>
            <a:off x="594360" y="6574536"/>
            <a:ext cx="9784080" cy="164592"/>
          </a:xfrm>
          <a:prstGeom prst="rect">
            <a:avLst/>
          </a:prstGeom>
          <a:noFill/>
          <a:ln/>
        </p:spPr>
        <p:txBody>
          <a:bodyPr wrap="square" lIns="0" tIns="0" rIns="0" bIns="0" rtlCol="0" anchor="ctr">
            <a:normAutofit/>
          </a:bodyPr>
          <a:lstStyle/>
          <a:p>
            <a:pPr algn="l" indent="0" marL="0">
              <a:buNone/>
            </a:pPr>
            <a:r>
              <a:rPr lang="en-US" sz="850" dirty="0">
                <a:solidFill>
                  <a:srgbClr val="62696B"/>
                </a:solidFill>
                <a:latin typeface="Aptos" pitchFamily="34" charset="0"/>
                <a:ea typeface="Aptos" pitchFamily="34" charset="-122"/>
                <a:cs typeface="Aptos" pitchFamily="34" charset="-120"/>
              </a:rPr>
              <a:t>Full citations are available in Cultural-Report-G4.md</a:t>
            </a:r>
            <a:endParaRPr lang="en-US" sz="850" dirty="0"/>
          </a:p>
        </p:txBody>
      </p:sp>
      <p:sp>
        <p:nvSpPr>
          <p:cNvPr id="7" name="Text 5"/>
          <p:cNvSpPr txBox="1"/>
          <p:nvPr/>
        </p:nvSpPr>
        <p:spPr>
          <a:xfrm>
            <a:off x="11201400" y="6547104"/>
            <a:ext cx="365760" cy="164592"/>
          </a:xfrm>
          <a:prstGeom prst="rect">
            <a:avLst/>
          </a:prstGeom>
          <a:noFill/>
          <a:ln/>
        </p:spPr>
        <p:txBody>
          <a:bodyPr wrap="square" lIns="0" tIns="0" rIns="0" bIns="0" rtlCol="0" anchor="ctr">
            <a:normAutofit/>
          </a:bodyPr>
          <a:lstStyle/>
          <a:p>
            <a:pPr algn="r" indent="0" marL="0">
              <a:buNone/>
            </a:pPr>
            <a:r>
              <a:rPr lang="en-US" sz="900" dirty="0">
                <a:solidFill>
                  <a:srgbClr val="62696B"/>
                </a:solidFill>
                <a:latin typeface="Aptos" pitchFamily="34" charset="0"/>
                <a:ea typeface="Aptos" pitchFamily="34" charset="-122"/>
                <a:cs typeface="Aptos" pitchFamily="34" charset="-120"/>
              </a:rPr>
              <a:t>10</a:t>
            </a:r>
            <a:endParaRPr lang="en-US" sz="900" dirty="0"/>
          </a:p>
        </p:txBody>
      </p:sp>
      <p:sp>
        <p:nvSpPr>
          <p:cNvPr id="8" name="Text 6"/>
          <p:cNvSpPr txBox="1"/>
          <p:nvPr/>
        </p:nvSpPr>
        <p:spPr>
          <a:xfrm>
            <a:off x="658368" y="1591056"/>
            <a:ext cx="1828800" cy="182880"/>
          </a:xfrm>
          <a:prstGeom prst="rect">
            <a:avLst/>
          </a:prstGeom>
          <a:noFill/>
          <a:ln/>
        </p:spPr>
        <p:txBody>
          <a:bodyPr wrap="square" lIns="0" tIns="0" rIns="0" bIns="0" rtlCol="0" anchor="ctr">
            <a:normAutofit/>
          </a:bodyPr>
          <a:lstStyle/>
          <a:p>
            <a:pPr algn="l" indent="0" marL="0">
              <a:buNone/>
            </a:pPr>
            <a:r>
              <a:rPr lang="en-US" sz="1000" b="1" dirty="0">
                <a:solidFill>
                  <a:srgbClr val="426B68"/>
                </a:solidFill>
                <a:latin typeface="Aptos" pitchFamily="34" charset="0"/>
                <a:ea typeface="Aptos" pitchFamily="34" charset="-122"/>
                <a:cs typeface="Aptos" pitchFamily="34" charset="-120"/>
              </a:rPr>
              <a:t>ACADEMIC SOURCES</a:t>
            </a:r>
            <a:endParaRPr lang="en-US" sz="1000" dirty="0"/>
          </a:p>
        </p:txBody>
      </p:sp>
      <p:sp>
        <p:nvSpPr>
          <p:cNvPr id="9" name="Text 7"/>
          <p:cNvSpPr txBox="1"/>
          <p:nvPr/>
        </p:nvSpPr>
        <p:spPr>
          <a:xfrm>
            <a:off x="676656" y="1993392"/>
            <a:ext cx="347472" cy="182880"/>
          </a:xfrm>
          <a:prstGeom prst="rect">
            <a:avLst/>
          </a:prstGeom>
          <a:noFill/>
          <a:ln/>
        </p:spPr>
        <p:txBody>
          <a:bodyPr wrap="square" lIns="0" tIns="0" rIns="0" bIns="0" rtlCol="0" anchor="ctr">
            <a:normAutofit/>
          </a:bodyPr>
          <a:lstStyle/>
          <a:p>
            <a:pPr algn="l" indent="0" marL="0">
              <a:buNone/>
            </a:pPr>
            <a:r>
              <a:rPr lang="en-US" sz="950" b="1" dirty="0">
                <a:solidFill>
                  <a:srgbClr val="426B68"/>
                </a:solidFill>
                <a:latin typeface="Aptos" pitchFamily="34" charset="0"/>
                <a:ea typeface="Aptos" pitchFamily="34" charset="-122"/>
                <a:cs typeface="Aptos" pitchFamily="34" charset="-120"/>
              </a:rPr>
              <a:t>01</a:t>
            </a:r>
            <a:endParaRPr lang="en-US" sz="950" dirty="0"/>
          </a:p>
        </p:txBody>
      </p:sp>
      <p:sp>
        <p:nvSpPr>
          <p:cNvPr id="10" name="Text 8"/>
          <p:cNvSpPr txBox="1"/>
          <p:nvPr/>
        </p:nvSpPr>
        <p:spPr>
          <a:xfrm>
            <a:off x="1161288" y="1956816"/>
            <a:ext cx="4681728" cy="420624"/>
          </a:xfrm>
          <a:prstGeom prst="rect">
            <a:avLst/>
          </a:prstGeom>
          <a:noFill/>
          <a:ln/>
        </p:spPr>
        <p:txBody>
          <a:bodyPr wrap="square" lIns="0" tIns="0" rIns="0" bIns="0" rtlCol="0" anchor="t">
            <a:normAutofit/>
          </a:bodyPr>
          <a:lstStyle/>
          <a:p>
            <a:pPr algn="l" indent="0" marL="0">
              <a:buNone/>
            </a:pPr>
            <a:r>
              <a:rPr lang="en-US" sz="1250" dirty="0">
                <a:solidFill>
                  <a:srgbClr val="25292B"/>
                </a:solidFill>
                <a:latin typeface="Aptos" pitchFamily="34" charset="0"/>
                <a:ea typeface="Aptos" pitchFamily="34" charset="-122"/>
                <a:cs typeface="Aptos" pitchFamily="34" charset="-120"/>
              </a:rPr>
              <a:t>Abdullah, L. (2026). IKHT Lecture Notes 02, 04, 05 and 06.</a:t>
            </a:r>
            <a:endParaRPr lang="en-US" sz="1250" dirty="0"/>
          </a:p>
        </p:txBody>
      </p:sp>
      <p:sp>
        <p:nvSpPr>
          <p:cNvPr id="11" name="Text 9"/>
          <p:cNvSpPr txBox="1"/>
          <p:nvPr/>
        </p:nvSpPr>
        <p:spPr>
          <a:xfrm>
            <a:off x="676656" y="2688336"/>
            <a:ext cx="347472" cy="182880"/>
          </a:xfrm>
          <a:prstGeom prst="rect">
            <a:avLst/>
          </a:prstGeom>
          <a:noFill/>
          <a:ln/>
        </p:spPr>
        <p:txBody>
          <a:bodyPr wrap="square" lIns="0" tIns="0" rIns="0" bIns="0" rtlCol="0" anchor="ctr">
            <a:normAutofit/>
          </a:bodyPr>
          <a:lstStyle/>
          <a:p>
            <a:pPr algn="l" indent="0" marL="0">
              <a:buNone/>
            </a:pPr>
            <a:r>
              <a:rPr lang="en-US" sz="950" b="1" dirty="0">
                <a:solidFill>
                  <a:srgbClr val="426B68"/>
                </a:solidFill>
                <a:latin typeface="Aptos" pitchFamily="34" charset="0"/>
                <a:ea typeface="Aptos" pitchFamily="34" charset="-122"/>
                <a:cs typeface="Aptos" pitchFamily="34" charset="-120"/>
              </a:rPr>
              <a:t>02</a:t>
            </a:r>
            <a:endParaRPr lang="en-US" sz="950" dirty="0"/>
          </a:p>
        </p:txBody>
      </p:sp>
      <p:sp>
        <p:nvSpPr>
          <p:cNvPr id="12" name="Text 10"/>
          <p:cNvSpPr txBox="1"/>
          <p:nvPr/>
        </p:nvSpPr>
        <p:spPr>
          <a:xfrm>
            <a:off x="1161288" y="2651760"/>
            <a:ext cx="4681728" cy="420624"/>
          </a:xfrm>
          <a:prstGeom prst="rect">
            <a:avLst/>
          </a:prstGeom>
          <a:noFill/>
          <a:ln/>
        </p:spPr>
        <p:txBody>
          <a:bodyPr wrap="square" lIns="0" tIns="0" rIns="0" bIns="0" rtlCol="0" anchor="t">
            <a:normAutofit/>
          </a:bodyPr>
          <a:lstStyle/>
          <a:p>
            <a:pPr algn="l" indent="0" marL="0">
              <a:buNone/>
            </a:pPr>
            <a:r>
              <a:rPr lang="en-US" sz="1250" dirty="0">
                <a:solidFill>
                  <a:srgbClr val="25292B"/>
                </a:solidFill>
                <a:latin typeface="Aptos" pitchFamily="34" charset="0"/>
                <a:ea typeface="Aptos" pitchFamily="34" charset="-122"/>
                <a:cs typeface="Aptos" pitchFamily="34" charset="-120"/>
              </a:rPr>
              <a:t>Aritz, J., &amp; Walker, R. C. (2014). Leadership styles in multicultural groups.</a:t>
            </a:r>
            <a:endParaRPr lang="en-US" sz="1250" dirty="0"/>
          </a:p>
        </p:txBody>
      </p:sp>
      <p:sp>
        <p:nvSpPr>
          <p:cNvPr id="13" name="Text 11"/>
          <p:cNvSpPr txBox="1"/>
          <p:nvPr/>
        </p:nvSpPr>
        <p:spPr>
          <a:xfrm>
            <a:off x="676656" y="3383280"/>
            <a:ext cx="347472" cy="182880"/>
          </a:xfrm>
          <a:prstGeom prst="rect">
            <a:avLst/>
          </a:prstGeom>
          <a:noFill/>
          <a:ln/>
        </p:spPr>
        <p:txBody>
          <a:bodyPr wrap="square" lIns="0" tIns="0" rIns="0" bIns="0" rtlCol="0" anchor="ctr">
            <a:normAutofit/>
          </a:bodyPr>
          <a:lstStyle/>
          <a:p>
            <a:pPr algn="l" indent="0" marL="0">
              <a:buNone/>
            </a:pPr>
            <a:r>
              <a:rPr lang="en-US" sz="950" b="1" dirty="0">
                <a:solidFill>
                  <a:srgbClr val="426B68"/>
                </a:solidFill>
                <a:latin typeface="Aptos" pitchFamily="34" charset="0"/>
                <a:ea typeface="Aptos" pitchFamily="34" charset="-122"/>
                <a:cs typeface="Aptos" pitchFamily="34" charset="-120"/>
              </a:rPr>
              <a:t>03</a:t>
            </a:r>
            <a:endParaRPr lang="en-US" sz="950" dirty="0"/>
          </a:p>
        </p:txBody>
      </p:sp>
      <p:sp>
        <p:nvSpPr>
          <p:cNvPr id="14" name="Text 12"/>
          <p:cNvSpPr txBox="1"/>
          <p:nvPr/>
        </p:nvSpPr>
        <p:spPr>
          <a:xfrm>
            <a:off x="1161288" y="3346704"/>
            <a:ext cx="4681728" cy="420624"/>
          </a:xfrm>
          <a:prstGeom prst="rect">
            <a:avLst/>
          </a:prstGeom>
          <a:noFill/>
          <a:ln/>
        </p:spPr>
        <p:txBody>
          <a:bodyPr wrap="square" lIns="0" tIns="0" rIns="0" bIns="0" rtlCol="0" anchor="t">
            <a:normAutofit/>
          </a:bodyPr>
          <a:lstStyle/>
          <a:p>
            <a:pPr algn="l" indent="0" marL="0">
              <a:buNone/>
            </a:pPr>
            <a:r>
              <a:rPr lang="en-US" sz="1250" dirty="0">
                <a:solidFill>
                  <a:srgbClr val="25292B"/>
                </a:solidFill>
                <a:latin typeface="Aptos" pitchFamily="34" charset="0"/>
                <a:ea typeface="Aptos" pitchFamily="34" charset="-122"/>
                <a:cs typeface="Aptos" pitchFamily="34" charset="-120"/>
              </a:rPr>
              <a:t>Belbin, R. M. (2010). Team Roles at Work.</a:t>
            </a:r>
            <a:endParaRPr lang="en-US" sz="1250" dirty="0"/>
          </a:p>
        </p:txBody>
      </p:sp>
      <p:sp>
        <p:nvSpPr>
          <p:cNvPr id="15" name="Text 13"/>
          <p:cNvSpPr txBox="1"/>
          <p:nvPr/>
        </p:nvSpPr>
        <p:spPr>
          <a:xfrm>
            <a:off x="676656" y="4078224"/>
            <a:ext cx="347472" cy="182880"/>
          </a:xfrm>
          <a:prstGeom prst="rect">
            <a:avLst/>
          </a:prstGeom>
          <a:noFill/>
          <a:ln/>
        </p:spPr>
        <p:txBody>
          <a:bodyPr wrap="square" lIns="0" tIns="0" rIns="0" bIns="0" rtlCol="0" anchor="ctr">
            <a:normAutofit/>
          </a:bodyPr>
          <a:lstStyle/>
          <a:p>
            <a:pPr algn="l" indent="0" marL="0">
              <a:buNone/>
            </a:pPr>
            <a:r>
              <a:rPr lang="en-US" sz="950" b="1" dirty="0">
                <a:solidFill>
                  <a:srgbClr val="426B68"/>
                </a:solidFill>
                <a:latin typeface="Aptos" pitchFamily="34" charset="0"/>
                <a:ea typeface="Aptos" pitchFamily="34" charset="-122"/>
                <a:cs typeface="Aptos" pitchFamily="34" charset="-120"/>
              </a:rPr>
              <a:t>04</a:t>
            </a:r>
            <a:endParaRPr lang="en-US" sz="950" dirty="0"/>
          </a:p>
        </p:txBody>
      </p:sp>
      <p:sp>
        <p:nvSpPr>
          <p:cNvPr id="16" name="Text 14"/>
          <p:cNvSpPr txBox="1"/>
          <p:nvPr/>
        </p:nvSpPr>
        <p:spPr>
          <a:xfrm>
            <a:off x="1161288" y="4041648"/>
            <a:ext cx="4681728" cy="420624"/>
          </a:xfrm>
          <a:prstGeom prst="rect">
            <a:avLst/>
          </a:prstGeom>
          <a:noFill/>
          <a:ln/>
        </p:spPr>
        <p:txBody>
          <a:bodyPr wrap="square" lIns="0" tIns="0" rIns="0" bIns="0" rtlCol="0" anchor="t">
            <a:normAutofit/>
          </a:bodyPr>
          <a:lstStyle/>
          <a:p>
            <a:pPr algn="l" indent="0" marL="0">
              <a:buNone/>
            </a:pPr>
            <a:r>
              <a:rPr lang="en-US" sz="1250" dirty="0">
                <a:solidFill>
                  <a:srgbClr val="25292B"/>
                </a:solidFill>
                <a:latin typeface="Aptos" pitchFamily="34" charset="0"/>
                <a:ea typeface="Aptos" pitchFamily="34" charset="-122"/>
                <a:cs typeface="Aptos" pitchFamily="34" charset="-120"/>
              </a:rPr>
              <a:t>Edmondson, A. C. (1999). Psychological safety and learning behavior in work teams.</a:t>
            </a:r>
            <a:endParaRPr lang="en-US" sz="1250" dirty="0"/>
          </a:p>
        </p:txBody>
      </p:sp>
      <p:sp>
        <p:nvSpPr>
          <p:cNvPr id="17" name="Text 15"/>
          <p:cNvSpPr txBox="1"/>
          <p:nvPr/>
        </p:nvSpPr>
        <p:spPr>
          <a:xfrm>
            <a:off x="676656" y="4773168"/>
            <a:ext cx="347472" cy="182880"/>
          </a:xfrm>
          <a:prstGeom prst="rect">
            <a:avLst/>
          </a:prstGeom>
          <a:noFill/>
          <a:ln/>
        </p:spPr>
        <p:txBody>
          <a:bodyPr wrap="square" lIns="0" tIns="0" rIns="0" bIns="0" rtlCol="0" anchor="ctr">
            <a:normAutofit/>
          </a:bodyPr>
          <a:lstStyle/>
          <a:p>
            <a:pPr algn="l" indent="0" marL="0">
              <a:buNone/>
            </a:pPr>
            <a:r>
              <a:rPr lang="en-US" sz="950" b="1" dirty="0">
                <a:solidFill>
                  <a:srgbClr val="426B68"/>
                </a:solidFill>
                <a:latin typeface="Aptos" pitchFamily="34" charset="0"/>
                <a:ea typeface="Aptos" pitchFamily="34" charset="-122"/>
                <a:cs typeface="Aptos" pitchFamily="34" charset="-120"/>
              </a:rPr>
              <a:t>05</a:t>
            </a:r>
            <a:endParaRPr lang="en-US" sz="950" dirty="0"/>
          </a:p>
        </p:txBody>
      </p:sp>
      <p:sp>
        <p:nvSpPr>
          <p:cNvPr id="18" name="Text 16"/>
          <p:cNvSpPr txBox="1"/>
          <p:nvPr/>
        </p:nvSpPr>
        <p:spPr>
          <a:xfrm>
            <a:off x="1161288" y="4736592"/>
            <a:ext cx="4681728" cy="420624"/>
          </a:xfrm>
          <a:prstGeom prst="rect">
            <a:avLst/>
          </a:prstGeom>
          <a:noFill/>
          <a:ln/>
        </p:spPr>
        <p:txBody>
          <a:bodyPr wrap="square" lIns="0" tIns="0" rIns="0" bIns="0" rtlCol="0" anchor="t">
            <a:normAutofit/>
          </a:bodyPr>
          <a:lstStyle/>
          <a:p>
            <a:pPr algn="l" indent="0" marL="0">
              <a:buNone/>
            </a:pPr>
            <a:r>
              <a:rPr lang="en-US" sz="1250" dirty="0">
                <a:solidFill>
                  <a:srgbClr val="25292B"/>
                </a:solidFill>
                <a:latin typeface="Aptos" pitchFamily="34" charset="0"/>
                <a:ea typeface="Aptos" pitchFamily="34" charset="-122"/>
                <a:cs typeface="Aptos" pitchFamily="34" charset="-120"/>
              </a:rPr>
              <a:t>Hall, E. T. (1976). Beyond Culture.</a:t>
            </a:r>
            <a:endParaRPr lang="en-US" sz="1250" dirty="0"/>
          </a:p>
        </p:txBody>
      </p:sp>
      <p:sp>
        <p:nvSpPr>
          <p:cNvPr id="19" name="Text 17"/>
          <p:cNvSpPr txBox="1"/>
          <p:nvPr/>
        </p:nvSpPr>
        <p:spPr>
          <a:xfrm>
            <a:off x="6236208" y="1993392"/>
            <a:ext cx="347472" cy="182880"/>
          </a:xfrm>
          <a:prstGeom prst="rect">
            <a:avLst/>
          </a:prstGeom>
          <a:noFill/>
          <a:ln/>
        </p:spPr>
        <p:txBody>
          <a:bodyPr wrap="square" lIns="0" tIns="0" rIns="0" bIns="0" rtlCol="0" anchor="ctr">
            <a:normAutofit/>
          </a:bodyPr>
          <a:lstStyle/>
          <a:p>
            <a:pPr algn="l" indent="0" marL="0">
              <a:buNone/>
            </a:pPr>
            <a:r>
              <a:rPr lang="en-US" sz="950" b="1" dirty="0">
                <a:solidFill>
                  <a:srgbClr val="426B68"/>
                </a:solidFill>
                <a:latin typeface="Aptos" pitchFamily="34" charset="0"/>
                <a:ea typeface="Aptos" pitchFamily="34" charset="-122"/>
                <a:cs typeface="Aptos" pitchFamily="34" charset="-120"/>
              </a:rPr>
              <a:t>06</a:t>
            </a:r>
            <a:endParaRPr lang="en-US" sz="950" dirty="0"/>
          </a:p>
        </p:txBody>
      </p:sp>
      <p:sp>
        <p:nvSpPr>
          <p:cNvPr id="20" name="Text 18"/>
          <p:cNvSpPr txBox="1"/>
          <p:nvPr/>
        </p:nvSpPr>
        <p:spPr>
          <a:xfrm>
            <a:off x="6720840" y="1956816"/>
            <a:ext cx="4681728" cy="420624"/>
          </a:xfrm>
          <a:prstGeom prst="rect">
            <a:avLst/>
          </a:prstGeom>
          <a:noFill/>
          <a:ln/>
        </p:spPr>
        <p:txBody>
          <a:bodyPr wrap="square" lIns="0" tIns="0" rIns="0" bIns="0" rtlCol="0" anchor="t">
            <a:normAutofit/>
          </a:bodyPr>
          <a:lstStyle/>
          <a:p>
            <a:pPr algn="l" indent="0" marL="0">
              <a:buNone/>
            </a:pPr>
            <a:r>
              <a:rPr lang="en-US" sz="1250" dirty="0">
                <a:solidFill>
                  <a:srgbClr val="25292B"/>
                </a:solidFill>
                <a:latin typeface="Aptos" pitchFamily="34" charset="0"/>
                <a:ea typeface="Aptos" pitchFamily="34" charset="-122"/>
                <a:cs typeface="Aptos" pitchFamily="34" charset="-120"/>
              </a:rPr>
              <a:t>Hofstede, G., Hofstede, G. J., &amp; Minkov, M. (2010). Cultures and Organizations.</a:t>
            </a:r>
            <a:endParaRPr lang="en-US" sz="1250" dirty="0"/>
          </a:p>
        </p:txBody>
      </p:sp>
      <p:sp>
        <p:nvSpPr>
          <p:cNvPr id="21" name="Text 19"/>
          <p:cNvSpPr txBox="1"/>
          <p:nvPr/>
        </p:nvSpPr>
        <p:spPr>
          <a:xfrm>
            <a:off x="6236208" y="2688336"/>
            <a:ext cx="347472" cy="182880"/>
          </a:xfrm>
          <a:prstGeom prst="rect">
            <a:avLst/>
          </a:prstGeom>
          <a:noFill/>
          <a:ln/>
        </p:spPr>
        <p:txBody>
          <a:bodyPr wrap="square" lIns="0" tIns="0" rIns="0" bIns="0" rtlCol="0" anchor="ctr">
            <a:normAutofit/>
          </a:bodyPr>
          <a:lstStyle/>
          <a:p>
            <a:pPr algn="l" indent="0" marL="0">
              <a:buNone/>
            </a:pPr>
            <a:r>
              <a:rPr lang="en-US" sz="950" b="1" dirty="0">
                <a:solidFill>
                  <a:srgbClr val="426B68"/>
                </a:solidFill>
                <a:latin typeface="Aptos" pitchFamily="34" charset="0"/>
                <a:ea typeface="Aptos" pitchFamily="34" charset="-122"/>
                <a:cs typeface="Aptos" pitchFamily="34" charset="-120"/>
              </a:rPr>
              <a:t>07</a:t>
            </a:r>
            <a:endParaRPr lang="en-US" sz="950" dirty="0"/>
          </a:p>
        </p:txBody>
      </p:sp>
      <p:sp>
        <p:nvSpPr>
          <p:cNvPr id="22" name="Text 20"/>
          <p:cNvSpPr txBox="1"/>
          <p:nvPr/>
        </p:nvSpPr>
        <p:spPr>
          <a:xfrm>
            <a:off x="6720840" y="2651760"/>
            <a:ext cx="4681728" cy="420624"/>
          </a:xfrm>
          <a:prstGeom prst="rect">
            <a:avLst/>
          </a:prstGeom>
          <a:noFill/>
          <a:ln/>
        </p:spPr>
        <p:txBody>
          <a:bodyPr wrap="square" lIns="0" tIns="0" rIns="0" bIns="0" rtlCol="0" anchor="t">
            <a:normAutofit/>
          </a:bodyPr>
          <a:lstStyle/>
          <a:p>
            <a:pPr algn="l" indent="0" marL="0">
              <a:buNone/>
            </a:pPr>
            <a:r>
              <a:rPr lang="en-US" sz="1250" dirty="0">
                <a:solidFill>
                  <a:srgbClr val="25292B"/>
                </a:solidFill>
                <a:latin typeface="Aptos" pitchFamily="34" charset="0"/>
                <a:ea typeface="Aptos" pitchFamily="34" charset="-122"/>
                <a:cs typeface="Aptos" pitchFamily="34" charset="-120"/>
              </a:rPr>
              <a:t>Jehn, K. A., Northcraft, G. B., &amp; Neale, M. A. (1999). Diversity, conflict and performance.</a:t>
            </a:r>
            <a:endParaRPr lang="en-US" sz="1250" dirty="0"/>
          </a:p>
        </p:txBody>
      </p:sp>
      <p:sp>
        <p:nvSpPr>
          <p:cNvPr id="23" name="Text 21"/>
          <p:cNvSpPr txBox="1"/>
          <p:nvPr/>
        </p:nvSpPr>
        <p:spPr>
          <a:xfrm>
            <a:off x="6236208" y="3383280"/>
            <a:ext cx="347472" cy="182880"/>
          </a:xfrm>
          <a:prstGeom prst="rect">
            <a:avLst/>
          </a:prstGeom>
          <a:noFill/>
          <a:ln/>
        </p:spPr>
        <p:txBody>
          <a:bodyPr wrap="square" lIns="0" tIns="0" rIns="0" bIns="0" rtlCol="0" anchor="ctr">
            <a:normAutofit/>
          </a:bodyPr>
          <a:lstStyle/>
          <a:p>
            <a:pPr algn="l" indent="0" marL="0">
              <a:buNone/>
            </a:pPr>
            <a:r>
              <a:rPr lang="en-US" sz="950" b="1" dirty="0">
                <a:solidFill>
                  <a:srgbClr val="426B68"/>
                </a:solidFill>
                <a:latin typeface="Aptos" pitchFamily="34" charset="0"/>
                <a:ea typeface="Aptos" pitchFamily="34" charset="-122"/>
                <a:cs typeface="Aptos" pitchFamily="34" charset="-120"/>
              </a:rPr>
              <a:t>08</a:t>
            </a:r>
            <a:endParaRPr lang="en-US" sz="950" dirty="0"/>
          </a:p>
        </p:txBody>
      </p:sp>
      <p:sp>
        <p:nvSpPr>
          <p:cNvPr id="24" name="Text 22"/>
          <p:cNvSpPr txBox="1"/>
          <p:nvPr/>
        </p:nvSpPr>
        <p:spPr>
          <a:xfrm>
            <a:off x="6720840" y="3346704"/>
            <a:ext cx="4681728" cy="420624"/>
          </a:xfrm>
          <a:prstGeom prst="rect">
            <a:avLst/>
          </a:prstGeom>
          <a:noFill/>
          <a:ln/>
        </p:spPr>
        <p:txBody>
          <a:bodyPr wrap="square" lIns="0" tIns="0" rIns="0" bIns="0" rtlCol="0" anchor="t">
            <a:normAutofit/>
          </a:bodyPr>
          <a:lstStyle/>
          <a:p>
            <a:pPr algn="l" indent="0" marL="0">
              <a:buNone/>
            </a:pPr>
            <a:r>
              <a:rPr lang="en-US" sz="1250" dirty="0">
                <a:solidFill>
                  <a:srgbClr val="25292B"/>
                </a:solidFill>
                <a:latin typeface="Aptos" pitchFamily="34" charset="0"/>
                <a:ea typeface="Aptos" pitchFamily="34" charset="-122"/>
                <a:cs typeface="Aptos" pitchFamily="34" charset="-120"/>
              </a:rPr>
              <a:t>Minkov, M., &amp; Kaasa, A. (2021). A test of Hofstede's model of culture.</a:t>
            </a:r>
            <a:endParaRPr lang="en-US" sz="1250" dirty="0"/>
          </a:p>
        </p:txBody>
      </p:sp>
      <p:sp>
        <p:nvSpPr>
          <p:cNvPr id="25" name="Text 23"/>
          <p:cNvSpPr txBox="1"/>
          <p:nvPr/>
        </p:nvSpPr>
        <p:spPr>
          <a:xfrm>
            <a:off x="6236208" y="4078224"/>
            <a:ext cx="347472" cy="182880"/>
          </a:xfrm>
          <a:prstGeom prst="rect">
            <a:avLst/>
          </a:prstGeom>
          <a:noFill/>
          <a:ln/>
        </p:spPr>
        <p:txBody>
          <a:bodyPr wrap="square" lIns="0" tIns="0" rIns="0" bIns="0" rtlCol="0" anchor="ctr">
            <a:normAutofit/>
          </a:bodyPr>
          <a:lstStyle/>
          <a:p>
            <a:pPr algn="l" indent="0" marL="0">
              <a:buNone/>
            </a:pPr>
            <a:r>
              <a:rPr lang="en-US" sz="950" b="1" dirty="0">
                <a:solidFill>
                  <a:srgbClr val="426B68"/>
                </a:solidFill>
                <a:latin typeface="Aptos" pitchFamily="34" charset="0"/>
                <a:ea typeface="Aptos" pitchFamily="34" charset="-122"/>
                <a:cs typeface="Aptos" pitchFamily="34" charset="-120"/>
              </a:rPr>
              <a:t>09</a:t>
            </a:r>
            <a:endParaRPr lang="en-US" sz="950" dirty="0"/>
          </a:p>
        </p:txBody>
      </p:sp>
      <p:sp>
        <p:nvSpPr>
          <p:cNvPr id="26" name="Text 24"/>
          <p:cNvSpPr txBox="1"/>
          <p:nvPr/>
        </p:nvSpPr>
        <p:spPr>
          <a:xfrm>
            <a:off x="6720840" y="4041648"/>
            <a:ext cx="4681728" cy="420624"/>
          </a:xfrm>
          <a:prstGeom prst="rect">
            <a:avLst/>
          </a:prstGeom>
          <a:noFill/>
          <a:ln/>
        </p:spPr>
        <p:txBody>
          <a:bodyPr wrap="square" lIns="0" tIns="0" rIns="0" bIns="0" rtlCol="0" anchor="t">
            <a:normAutofit/>
          </a:bodyPr>
          <a:lstStyle/>
          <a:p>
            <a:pPr algn="l" indent="0" marL="0">
              <a:buNone/>
            </a:pPr>
            <a:r>
              <a:rPr lang="en-US" sz="1250" dirty="0">
                <a:solidFill>
                  <a:srgbClr val="25292B"/>
                </a:solidFill>
                <a:latin typeface="Aptos" pitchFamily="34" charset="0"/>
                <a:ea typeface="Aptos" pitchFamily="34" charset="-122"/>
                <a:cs typeface="Aptos" pitchFamily="34" charset="-120"/>
              </a:rPr>
              <a:t>Stahl, G. K., et al. (2010). Effects of cultural diversity in teams.</a:t>
            </a:r>
            <a:endParaRPr lang="en-US" sz="1250" dirty="0"/>
          </a:p>
        </p:txBody>
      </p:sp>
      <p:sp>
        <p:nvSpPr>
          <p:cNvPr id="27" name="Text 25"/>
          <p:cNvSpPr txBox="1"/>
          <p:nvPr/>
        </p:nvSpPr>
        <p:spPr>
          <a:xfrm>
            <a:off x="6236208" y="4773168"/>
            <a:ext cx="347472" cy="182880"/>
          </a:xfrm>
          <a:prstGeom prst="rect">
            <a:avLst/>
          </a:prstGeom>
          <a:noFill/>
          <a:ln/>
        </p:spPr>
        <p:txBody>
          <a:bodyPr wrap="square" lIns="0" tIns="0" rIns="0" bIns="0" rtlCol="0" anchor="ctr">
            <a:normAutofit/>
          </a:bodyPr>
          <a:lstStyle/>
          <a:p>
            <a:pPr algn="l" indent="0" marL="0">
              <a:buNone/>
            </a:pPr>
            <a:r>
              <a:rPr lang="en-US" sz="950" b="1" dirty="0">
                <a:solidFill>
                  <a:srgbClr val="426B68"/>
                </a:solidFill>
                <a:latin typeface="Aptos" pitchFamily="34" charset="0"/>
                <a:ea typeface="Aptos" pitchFamily="34" charset="-122"/>
                <a:cs typeface="Aptos" pitchFamily="34" charset="-120"/>
              </a:rPr>
              <a:t>10</a:t>
            </a:r>
            <a:endParaRPr lang="en-US" sz="950" dirty="0"/>
          </a:p>
        </p:txBody>
      </p:sp>
      <p:sp>
        <p:nvSpPr>
          <p:cNvPr id="28" name="Text 26"/>
          <p:cNvSpPr txBox="1"/>
          <p:nvPr/>
        </p:nvSpPr>
        <p:spPr>
          <a:xfrm>
            <a:off x="6720840" y="4736592"/>
            <a:ext cx="4681728" cy="420624"/>
          </a:xfrm>
          <a:prstGeom prst="rect">
            <a:avLst/>
          </a:prstGeom>
          <a:noFill/>
          <a:ln/>
        </p:spPr>
        <p:txBody>
          <a:bodyPr wrap="square" lIns="0" tIns="0" rIns="0" bIns="0" rtlCol="0" anchor="t">
            <a:normAutofit/>
          </a:bodyPr>
          <a:lstStyle/>
          <a:p>
            <a:pPr algn="l" indent="0" marL="0">
              <a:buNone/>
            </a:pPr>
            <a:r>
              <a:rPr lang="en-US" sz="1250" dirty="0">
                <a:solidFill>
                  <a:srgbClr val="25292B"/>
                </a:solidFill>
                <a:latin typeface="Aptos" pitchFamily="34" charset="0"/>
                <a:ea typeface="Aptos" pitchFamily="34" charset="-122"/>
                <a:cs typeface="Aptos" pitchFamily="34" charset="-120"/>
              </a:rPr>
              <a:t>Tuckman, B. W. (1965). Developmental sequence in small groups.</a:t>
            </a:r>
            <a:endParaRPr lang="en-US" sz="1250" dirty="0"/>
          </a:p>
        </p:txBody>
      </p:sp>
      <p:sp>
        <p:nvSpPr>
          <p:cNvPr id="29" name="Shape 27"/>
          <p:cNvSpPr/>
          <p:nvPr/>
        </p:nvSpPr>
        <p:spPr>
          <a:xfrm>
            <a:off x="658368" y="5650992"/>
            <a:ext cx="10863072" cy="512064"/>
          </a:xfrm>
          <a:prstGeom prst="roundRect">
            <a:avLst/>
          </a:prstGeom>
          <a:solidFill>
            <a:srgbClr val="FFFEFA"/>
          </a:solidFill>
          <a:ln w="12700">
            <a:solidFill>
              <a:srgbClr val="D8D6CF"/>
            </a:solidFill>
            <a:prstDash val="solid"/>
          </a:ln>
        </p:spPr>
      </p:sp>
      <p:sp>
        <p:nvSpPr>
          <p:cNvPr id="30" name="Text 28"/>
          <p:cNvSpPr txBox="1"/>
          <p:nvPr/>
        </p:nvSpPr>
        <p:spPr>
          <a:xfrm>
            <a:off x="896112" y="5815584"/>
            <a:ext cx="1243584" cy="164592"/>
          </a:xfrm>
          <a:prstGeom prst="rect">
            <a:avLst/>
          </a:prstGeom>
          <a:noFill/>
          <a:ln/>
        </p:spPr>
        <p:txBody>
          <a:bodyPr wrap="square" lIns="0" tIns="0" rIns="0" bIns="0" rtlCol="0" anchor="ctr">
            <a:normAutofit/>
          </a:bodyPr>
          <a:lstStyle/>
          <a:p>
            <a:pPr algn="l" indent="0" marL="0">
              <a:buNone/>
            </a:pPr>
            <a:r>
              <a:rPr lang="en-US" sz="950" b="1" dirty="0">
                <a:solidFill>
                  <a:srgbClr val="62696B"/>
                </a:solidFill>
                <a:latin typeface="Aptos" pitchFamily="34" charset="0"/>
                <a:ea typeface="Aptos" pitchFamily="34" charset="-122"/>
                <a:cs typeface="Aptos" pitchFamily="34" charset="-120"/>
              </a:rPr>
              <a:t>PHOTO SOURCES</a:t>
            </a:r>
            <a:endParaRPr lang="en-US" sz="950" dirty="0"/>
          </a:p>
        </p:txBody>
      </p:sp>
      <p:sp>
        <p:nvSpPr>
          <p:cNvPr id="31" name="Text 29"/>
          <p:cNvSpPr txBox="1"/>
          <p:nvPr/>
        </p:nvSpPr>
        <p:spPr>
          <a:xfrm>
            <a:off x="2221992" y="5779008"/>
            <a:ext cx="8833104" cy="219456"/>
          </a:xfrm>
          <a:prstGeom prst="rect">
            <a:avLst/>
          </a:prstGeom>
          <a:noFill/>
          <a:ln/>
        </p:spPr>
        <p:txBody>
          <a:bodyPr wrap="square" lIns="0" tIns="0" rIns="0" bIns="0" rtlCol="0" anchor="ctr">
            <a:normAutofit/>
          </a:bodyPr>
          <a:lstStyle/>
          <a:p>
            <a:pPr algn="l" indent="0" marL="0">
              <a:buNone/>
            </a:pPr>
            <a:r>
              <a:rPr lang="en-US" sz="1000" dirty="0">
                <a:solidFill>
                  <a:srgbClr val="62696B"/>
                </a:solidFill>
                <a:latin typeface="Aptos" pitchFamily="34" charset="0"/>
                <a:ea typeface="Aptos" pitchFamily="34" charset="-122"/>
                <a:cs typeface="Aptos" pitchFamily="34" charset="-120"/>
              </a:rPr>
              <a:t>Unsplash images: photo-1521737711867-e3b97375f902 and photo-1571019613454-1cb2f99b2d8b</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Provadis Hochschule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Scrum Team G4: Intercultural Collaboration Under Time Pressure</dc:title>
  <dc:subject>Analysis of an intercultural and diverse Scrum team</dc:subject>
  <dc:creator>Luca Doerner, Anton Reinicke, Janek Thor Becker</dc:creator>
  <cp:lastModifiedBy>Luca Doerner, Anton Reinicke, Janek Thor Becker</cp:lastModifiedBy>
  <cp:revision>1</cp:revision>
  <dcterms:created xsi:type="dcterms:W3CDTF">2026-08-21T09:05:28Z</dcterms:created>
  <dcterms:modified xsi:type="dcterms:W3CDTF">2026-08-21T09:05:28Z</dcterms:modified>
</cp:coreProperties>
</file>